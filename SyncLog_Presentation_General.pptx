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0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74df6c0-6298-9923-e291-89af91531ea9}">
          <p14:sldIdLst>
            <p14:sldId id="256"/>
            <p14:sldId id="257"/>
            <p14:sldId id="258"/>
          </p14:sldIdLst>
        </p14:section>
        <p14:section name="The product" id="{63c90c28-080c-fb83-c2af-cdba357e1e05}">
          <p14:sldIdLst>
            <p14:sldId id="259"/>
            <p14:sldId id="261"/>
            <p14:sldId id="262"/>
            <p14:sldId id="263"/>
            <p14:sldId id="264"/>
          </p14:sldIdLst>
        </p14:section>
        <p14:section name="Rollout" id="{6dbfe5ee-cf32-e9a8-1163-7c6d3431dfb9}">
          <p14:sldIdLst>
            <p14:sldId id="265"/>
            <p14:sldId id="266"/>
            <p14:sldId id="267"/>
            <p14:sldId id="268"/>
            <p14:sldId id="260"/>
          </p14:sldIdLst>
        </p14:section>
        <p14:section name="Close" id="{9185c771-ef3c-6e35-537f-a0a7b188129d}">
          <p14:sldIdLst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SyncLog: one place where every meeting decision becomes an owned task and is only closed once a manager verifies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live recording screen with action items detected in the transcript. Right: the AI summary and extracted action points, ready to assign.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see only their own tasks. Copilot gives task-specific guidance so execution starts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task statuses are shown along the bottom. A rejected task goes back to the owner with the manager's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"Open the live app" (in slideshow mode) to switch to the browser. Suggested path: create a meeting, record a short clip, show the extracted actions, open Copilot, then submit and approve proof. The audience can scan the QR code to follow along. Source code: https://github.com/oluwatayo-david/meeting_tracker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011680"/>
            <a:ext cx="4937760" cy="11887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3246120"/>
            <a:ext cx="4937760" cy="1371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CBD5E1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SyncLog  ·  From meeting to done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5120640" cy="320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5120640" cy="1371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SyncLog  ·  From meeting to done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6949440" cy="320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rgbClr val="7DD3FC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6949440" cy="1371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SyncLog  ·  From meeting to done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1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59.png"/><Relationship Id="rId7" Type="http://schemas.openxmlformats.org/officeDocument/2006/relationships/image" Target="../media/image3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30.png"/><Relationship Id="rId2" Type="http://schemas.openxmlformats.org/officeDocument/2006/relationships/image" Target="../media/image55.png"/><Relationship Id="rId10" Type="http://schemas.openxmlformats.org/officeDocument/2006/relationships/notesSlide" Target="../notesSlides/notesSlide13.xml"/><Relationship Id="rId1" Type="http://schemas.openxmlformats.org/officeDocument/2006/relationships/hyperlink" Target="https://synclog.vercel.app/" TargetMode="Externa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tile"/>
          <p:cNvSpPr/>
          <p:nvPr/>
        </p:nvSpPr>
        <p:spPr>
          <a:xfrm>
            <a:off x="548640" y="123444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2"/>
          </a:solidFill>
        </p:spPr>
      </p:sp>
      <p:pic>
        <p:nvPicPr>
          <p:cNvPr id="3" name="Logo icon" descr="SyncLog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3350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13716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</a:rPr>
              <a:t>MEETING ACCOUNTABILITY PLATFORM</a:t>
            </a:r>
            <a:endParaRPr lang="en-US" sz="1300" dirty="0"/>
          </a:p>
        </p:txBody>
      </p:sp>
      <p:sp>
        <p:nvSpPr>
          <p:cNvPr id="5" name="Text 0"/>
          <p:cNvSpPr/>
          <p:nvPr>
            <p:ph type="title" idx="100" hasCustomPrompt="1"/>
          </p:nvPr>
        </p:nvSpPr>
        <p:spPr>
          <a:xfrm>
            <a:off x="548640" y="20116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SyncLog</a:t>
            </a:r>
            <a:endParaRPr lang="en-US" sz="6000" dirty="0"/>
          </a:p>
        </p:txBody>
      </p:sp>
      <p:sp>
        <p:nvSpPr>
          <p:cNvPr id="6" name="Text 0"/>
          <p:cNvSpPr/>
          <p:nvPr>
            <p:ph type="body" idx="101" hasCustomPrompt="1"/>
          </p:nvPr>
        </p:nvSpPr>
        <p:spPr>
          <a:xfrm>
            <a:off x="548640" y="324612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</a:rPr>
              <a:t>From meeting to done. AI meeting capture, owned action items and verified delivery across every team in your organisation.</a:t>
            </a:r>
            <a:endParaRPr lang="en-US" sz="2200" dirty="0"/>
          </a:p>
        </p:txBody>
      </p:sp>
      <p:pic>
        <p:nvPicPr>
          <p:cNvPr id="7" name="Live demo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82896"/>
            <a:ext cx="274320" cy="274320"/>
          </a:xfrm>
          <a:prstGeom prst="rect">
            <a:avLst/>
          </a:prstGeom>
        </p:spPr>
      </p:pic>
      <p:sp>
        <p:nvSpPr>
          <p:cNvPr id="8" name="Live demo link"/>
          <p:cNvSpPr txBox="1"/>
          <p:nvPr/>
        </p:nvSpPr>
        <p:spPr>
          <a:xfrm>
            <a:off x="960120" y="4846320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Live demo  </a:t>
            </a:r>
            <a:r>
              <a:rPr lang="en-US" sz="1500" b="1" u="sng" dirty="0">
                <a:solidFill>
                  <a:srgbClr val="7DD3FC"/>
                </a:solidFill>
              </a:rPr>
              <a:t>synclog.vercel.app</a:t>
            </a:r>
            <a:endParaRPr lang="en-US" sz="1500" dirty="0"/>
          </a:p>
        </p:txBody>
      </p:sp>
      <p:pic>
        <p:nvPicPr>
          <p:cNvPr id="9" name="Source cod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21808"/>
            <a:ext cx="274320" cy="274320"/>
          </a:xfrm>
          <a:prstGeom prst="rect">
            <a:avLst/>
          </a:prstGeom>
        </p:spPr>
      </p:pic>
      <p:sp>
        <p:nvSpPr>
          <p:cNvPr id="10" name="Source code link"/>
          <p:cNvSpPr txBox="1"/>
          <p:nvPr/>
        </p:nvSpPr>
        <p:spPr>
          <a:xfrm>
            <a:off x="960120" y="528523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Source code  </a:t>
            </a:r>
            <a:r>
              <a:rPr lang="en-US" sz="1500" b="1" u="sng" dirty="0">
                <a:solidFill>
                  <a:srgbClr val="7DD3FC"/>
                </a:solidFill>
              </a:rPr>
              <a:t>github.com/oluwatayo-david/meeting_tracker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9893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October 2026  ·  oluwatayo damilola</a:t>
            </a:r>
            <a:endParaRPr lang="en-US" sz="1400" dirty="0"/>
          </a:p>
        </p:txBody>
      </p:sp>
      <p:pic>
        <p:nvPicPr>
          <p:cNvPr id="12" name="Dashboard mockup" descr="SyncLog overview dash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417320"/>
            <a:ext cx="6263640" cy="4067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Meetings end, and the follow-through gets lost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What happens today without a shared system</a:t>
            </a:r>
            <a:endParaRPr lang="en-US" sz="1600" dirty="0"/>
          </a:p>
        </p:txBody>
      </p:sp>
      <p:sp>
        <p:nvSpPr>
          <p:cNvPr id="4" name="Lost action points card"/>
          <p:cNvSpPr/>
          <p:nvPr/>
        </p:nvSpPr>
        <p:spPr>
          <a:xfrm>
            <a:off x="548640" y="1874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5" name="Lost action points circle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6" name="Lost action points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2969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Lost action points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72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Decisions sit in notebooks and email threads and are never followed up.</a:t>
            </a:r>
            <a:endParaRPr lang="en-US" sz="1400" dirty="0"/>
          </a:p>
        </p:txBody>
      </p:sp>
      <p:sp>
        <p:nvSpPr>
          <p:cNvPr id="9" name="No clear ownership card"/>
          <p:cNvSpPr/>
          <p:nvPr/>
        </p:nvSpPr>
        <p:spPr>
          <a:xfrm>
            <a:off x="4334256" y="1874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0" name="No clear ownership circle"/>
          <p:cNvSpPr/>
          <p:nvPr/>
        </p:nvSpPr>
        <p:spPr>
          <a:xfrm>
            <a:off x="4608576" y="2148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11" name="No clear ownership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09" y="229697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8576" y="2834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clear ownership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3172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Nobody records who is responsible for what, so tasks fall through the cracks.</a:t>
            </a:r>
            <a:endParaRPr lang="en-US" sz="1400" dirty="0"/>
          </a:p>
        </p:txBody>
      </p:sp>
      <p:sp>
        <p:nvSpPr>
          <p:cNvPr id="14" name="Hours of manual chasing card"/>
          <p:cNvSpPr/>
          <p:nvPr/>
        </p:nvSpPr>
        <p:spPr>
          <a:xfrm>
            <a:off x="8119872" y="1874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5" name="Hours of manual chasing circle"/>
          <p:cNvSpPr/>
          <p:nvPr/>
        </p:nvSpPr>
        <p:spPr>
          <a:xfrm>
            <a:off x="8394192" y="2148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16" name="Hours of manual chasing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22969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4192" y="2834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Hours of manual chasing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3172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Managers spend hours each week sending reminders and checking progress.</a:t>
            </a:r>
            <a:endParaRPr lang="en-US" sz="1400" dirty="0"/>
          </a:p>
        </p:txBody>
      </p:sp>
      <p:sp>
        <p:nvSpPr>
          <p:cNvPr id="19" name="No proof of work card"/>
          <p:cNvSpPr/>
          <p:nvPr/>
        </p:nvSpPr>
        <p:spPr>
          <a:xfrm>
            <a:off x="548640" y="4160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0" name="No proof of work circle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21" name="No proof of work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5829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5120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proof of work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458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"Done" is a claim, not evidence, and there is no formal sign-off.</a:t>
            </a:r>
            <a:endParaRPr lang="en-US" sz="1400" dirty="0"/>
          </a:p>
        </p:txBody>
      </p:sp>
      <p:sp>
        <p:nvSpPr>
          <p:cNvPr id="24" name="Siloed project teams card"/>
          <p:cNvSpPr/>
          <p:nvPr/>
        </p:nvSpPr>
        <p:spPr>
          <a:xfrm>
            <a:off x="4334256" y="4160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5" name="Siloed project teams circle"/>
          <p:cNvSpPr/>
          <p:nvPr/>
        </p:nvSpPr>
        <p:spPr>
          <a:xfrm>
            <a:off x="4608576" y="4434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26" name="Siloed project teams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09" y="458297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08576" y="5120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Siloed project teams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608576" y="5458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Each project tracks work its own way, with no shared view across teams.</a:t>
            </a:r>
            <a:endParaRPr lang="en-US" sz="1400" dirty="0"/>
          </a:p>
        </p:txBody>
      </p:sp>
      <p:sp>
        <p:nvSpPr>
          <p:cNvPr id="29" name="Slow meeting minutes card"/>
          <p:cNvSpPr/>
          <p:nvPr/>
        </p:nvSpPr>
        <p:spPr>
          <a:xfrm>
            <a:off x="8119872" y="4160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30" name="Slow meeting minutes circle"/>
          <p:cNvSpPr/>
          <p:nvPr/>
        </p:nvSpPr>
        <p:spPr>
          <a:xfrm>
            <a:off x="8394192" y="4434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31" name="Slow meeting minutes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325" y="458297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94192" y="5120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Slow meeting minutes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5458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Minutes take 24–48 hours to circulate, so attendees act late.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Meet SyncLog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One workspace that takes every meeting from conversation to verified delivery</a:t>
            </a:r>
            <a:endParaRPr lang="en-US" sz="1600" dirty="0"/>
          </a:p>
        </p:txBody>
      </p:sp>
      <p:pic>
        <p:nvPicPr>
          <p:cNvPr id="4" name="Dashboard mockup" descr="SyncLog overview 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91640"/>
            <a:ext cx="7040880" cy="4572000"/>
          </a:xfrm>
          <a:prstGeom prst="rect">
            <a:avLst/>
          </a:prstGeom>
        </p:spPr>
      </p:pic>
      <p:sp>
        <p:nvSpPr>
          <p:cNvPr id="5" name="Capture circle"/>
          <p:cNvSpPr/>
          <p:nvPr/>
        </p:nvSpPr>
        <p:spPr>
          <a:xfrm>
            <a:off x="7726680" y="214884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6" name="Capture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3" y="2296973"/>
            <a:ext cx="252374" cy="2523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03920" y="21488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Capture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49631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AI turns the live meeting into a summary, decisions and owned action items.</a:t>
            </a:r>
            <a:endParaRPr lang="en-US" sz="1400" dirty="0"/>
          </a:p>
        </p:txBody>
      </p:sp>
      <p:sp>
        <p:nvSpPr>
          <p:cNvPr id="9" name="Execute circle"/>
          <p:cNvSpPr/>
          <p:nvPr/>
        </p:nvSpPr>
        <p:spPr>
          <a:xfrm>
            <a:off x="7726680" y="3474720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0" name="Execut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3" y="3622853"/>
            <a:ext cx="252374" cy="25237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03920" y="347472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Execute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503920" y="382219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Every owner sees their tasks, due dates and AI help in one board.</a:t>
            </a:r>
            <a:endParaRPr lang="en-US" sz="1400" dirty="0"/>
          </a:p>
        </p:txBody>
      </p:sp>
      <p:sp>
        <p:nvSpPr>
          <p:cNvPr id="13" name="Verify circle"/>
          <p:cNvSpPr/>
          <p:nvPr/>
        </p:nvSpPr>
        <p:spPr>
          <a:xfrm>
            <a:off x="7726680" y="4800600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4" name="Verify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3" y="4948733"/>
            <a:ext cx="252374" cy="25237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03920" y="480060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8503920" y="514807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Work is closed only when a manager approves the submitted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Six steps from the meeting room to verified delivery</a:t>
            </a:r>
            <a:endParaRPr lang="en-US" sz="1600" dirty="0"/>
          </a:p>
        </p:txBody>
      </p:sp>
      <p:sp>
        <p:nvSpPr>
          <p:cNvPr id="4" name="Step connector"/>
          <p:cNvSpPr/>
          <p:nvPr/>
        </p:nvSpPr>
        <p:spPr>
          <a:xfrm>
            <a:off x="1394460" y="2286000"/>
            <a:ext cx="9400032" cy="0"/>
          </a:xfrm>
          <a:prstGeom prst="line">
            <a:avLst/>
          </a:prstGeom>
          <a:noFill/>
          <a:ln w="25400">
            <a:solidFill>
              <a:srgbClr val="C7D2FE"/>
            </a:solidFill>
            <a:prstDash val="solid"/>
          </a:ln>
        </p:spPr>
      </p:sp>
      <p:sp>
        <p:nvSpPr>
          <p:cNvPr id="5" name="Step 1 marker"/>
          <p:cNvSpPr/>
          <p:nvPr/>
        </p:nvSpPr>
        <p:spPr>
          <a:xfrm>
            <a:off x="1028700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Step 1 card"/>
          <p:cNvSpPr/>
          <p:nvPr/>
        </p:nvSpPr>
        <p:spPr>
          <a:xfrm>
            <a:off x="548640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Schedule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Manager creates the meeting; invitations go out by email.</a:t>
            </a:r>
            <a:endParaRPr lang="en-US" sz="1400" dirty="0"/>
          </a:p>
        </p:txBody>
      </p:sp>
      <p:sp>
        <p:nvSpPr>
          <p:cNvPr id="10" name="Step 2 marker"/>
          <p:cNvSpPr/>
          <p:nvPr/>
        </p:nvSpPr>
        <p:spPr>
          <a:xfrm>
            <a:off x="2908706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8706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Step 2 card"/>
          <p:cNvSpPr/>
          <p:nvPr/>
        </p:nvSpPr>
        <p:spPr>
          <a:xfrm>
            <a:off x="2428646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11526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Record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11526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The meeting is recorded and transcribed live by Gemini.</a:t>
            </a:r>
            <a:endParaRPr lang="en-US" sz="1400" dirty="0"/>
          </a:p>
        </p:txBody>
      </p:sp>
      <p:sp>
        <p:nvSpPr>
          <p:cNvPr id="15" name="Step 3 marker"/>
          <p:cNvSpPr/>
          <p:nvPr/>
        </p:nvSpPr>
        <p:spPr>
          <a:xfrm>
            <a:off x="4788713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88713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Step 3 card"/>
          <p:cNvSpPr/>
          <p:nvPr/>
        </p:nvSpPr>
        <p:spPr>
          <a:xfrm>
            <a:off x="4308653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91533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Extract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91533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AI drafts the summary, decisions, risks and action items.</a:t>
            </a:r>
            <a:endParaRPr lang="en-US" sz="1400" dirty="0"/>
          </a:p>
        </p:txBody>
      </p:sp>
      <p:sp>
        <p:nvSpPr>
          <p:cNvPr id="20" name="Step 4 marker"/>
          <p:cNvSpPr/>
          <p:nvPr/>
        </p:nvSpPr>
        <p:spPr>
          <a:xfrm>
            <a:off x="6668719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68719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Step 4 card"/>
          <p:cNvSpPr/>
          <p:nvPr/>
        </p:nvSpPr>
        <p:spPr>
          <a:xfrm>
            <a:off x="6188659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71539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Execute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371539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Owners work their board, with Copilot guidance on each task.</a:t>
            </a:r>
            <a:endParaRPr lang="en-US" sz="1400" dirty="0"/>
          </a:p>
        </p:txBody>
      </p:sp>
      <p:sp>
        <p:nvSpPr>
          <p:cNvPr id="25" name="Step 5 marker"/>
          <p:cNvSpPr/>
          <p:nvPr/>
        </p:nvSpPr>
        <p:spPr>
          <a:xfrm>
            <a:off x="8548726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8726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Step 5 card"/>
          <p:cNvSpPr/>
          <p:nvPr/>
        </p:nvSpPr>
        <p:spPr>
          <a:xfrm>
            <a:off x="8068666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51546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Submit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251546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Owners upload files, links and a note as proof of work.</a:t>
            </a:r>
            <a:endParaRPr lang="en-US" sz="1400" dirty="0"/>
          </a:p>
        </p:txBody>
      </p:sp>
      <p:sp>
        <p:nvSpPr>
          <p:cNvPr id="30" name="Step 6 marker"/>
          <p:cNvSpPr/>
          <p:nvPr/>
        </p:nvSpPr>
        <p:spPr>
          <a:xfrm>
            <a:off x="10428732" y="1920240"/>
            <a:ext cx="731520" cy="731520"/>
          </a:xfrm>
          <a:prstGeom prst="ellipse">
            <a:avLst/>
          </a:prstGeom>
          <a:solidFill>
            <a:schemeClr val="accent3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28732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Step 6 card"/>
          <p:cNvSpPr/>
          <p:nvPr/>
        </p:nvSpPr>
        <p:spPr>
          <a:xfrm>
            <a:off x="9948672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131552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Manager approves or sends back; the dashboard updates.</a:t>
            </a:r>
            <a:endParaRPr lang="en-US" sz="1400" dirty="0"/>
          </a:p>
        </p:txBody>
      </p:sp>
      <p:sp>
        <p:nvSpPr>
          <p:cNvPr id="35" name="Loop callout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8667"/>
            </a:avLst>
          </a:prstGeom>
          <a:solidFill>
            <a:srgbClr val="EEF2FF"/>
          </a:solidFill>
        </p:spPr>
      </p:sp>
      <p:pic>
        <p:nvPicPr>
          <p:cNvPr id="36" name="Loop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20040" cy="32004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280160" y="5440680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</a:rPr>
              <a:t>The whole loop runs inside SyncLog: no follow-up spreadsheets, no lost action points, no ambiguity about who owns what.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1  ·  CAPTURE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decision is captured as it is spoken</a:t>
            </a:r>
            <a:endParaRPr lang="en-US" sz="3600" dirty="0"/>
          </a:p>
        </p:txBody>
      </p:sp>
      <p:sp>
        <p:nvSpPr>
          <p:cNvPr id="4" name="Record in the room circle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5" name="Record in the room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28913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743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Record in the room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3090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Start recording from any phone or laptop when the meeting begins.</a:t>
            </a:r>
            <a:endParaRPr lang="en-US" sz="1400" dirty="0"/>
          </a:p>
        </p:txBody>
      </p:sp>
      <p:sp>
        <p:nvSpPr>
          <p:cNvPr id="8" name="AI listens for actions circle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9" name="AI listens for actions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403433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886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listens for actions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4233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Gemini transcribes live and flags commitments, owners and dates.</a:t>
            </a:r>
            <a:endParaRPr lang="en-US" sz="1400" dirty="0"/>
          </a:p>
        </p:txBody>
      </p:sp>
      <p:sp>
        <p:nvSpPr>
          <p:cNvPr id="12" name="Assign in one tap circle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3" name="Assign in one tap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51773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5029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Assign in one tap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5376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Review the summary, decisions and risks, then notify every owner.</a:t>
            </a:r>
            <a:endParaRPr lang="en-US" sz="1400" dirty="0"/>
          </a:p>
        </p:txBody>
      </p:sp>
      <p:pic>
        <p:nvPicPr>
          <p:cNvPr id="16" name="Live recording screen" descr="Live recording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28600"/>
            <a:ext cx="3102429" cy="6080760"/>
          </a:xfrm>
          <a:prstGeom prst="rect">
            <a:avLst/>
          </a:prstGeom>
        </p:spPr>
      </p:pic>
      <p:pic>
        <p:nvPicPr>
          <p:cNvPr id="17" name="Meeting insights screen" descr="Meeting insights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28600"/>
            <a:ext cx="3102429" cy="6080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2  ·  EXECUTE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Everyone knows what they own, and by when</a:t>
            </a:r>
            <a:endParaRPr lang="en-US" sz="3600" dirty="0"/>
          </a:p>
        </p:txBody>
      </p:sp>
      <p:sp>
        <p:nvSpPr>
          <p:cNvPr id="4" name="A personal action board circle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5" name="A personal action board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28913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743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personal action board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3090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Priority, status, due date and source meeting on every task.</a:t>
            </a:r>
            <a:endParaRPr lang="en-US" sz="1400" dirty="0"/>
          </a:p>
        </p:txBody>
      </p:sp>
      <p:sp>
        <p:nvSpPr>
          <p:cNvPr id="8" name="Copilot on every task circle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9" name="Copilot on every task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403433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886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Copilot on every task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4233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Step-by-step plans, templates, risks and draft emails on demand.</a:t>
            </a:r>
            <a:endParaRPr lang="en-US" sz="1400" dirty="0"/>
          </a:p>
        </p:txBody>
      </p:sp>
      <p:sp>
        <p:nvSpPr>
          <p:cNvPr id="12" name="Submit proof from the task circle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3" name="Submit proof from the tas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51773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5029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Submit proof from the task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5376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Attach files or links when the work is done, with a note.</a:t>
            </a:r>
            <a:endParaRPr lang="en-US" sz="1400" dirty="0"/>
          </a:p>
        </p:txBody>
      </p:sp>
      <p:pic>
        <p:nvPicPr>
          <p:cNvPr id="16" name="Action board screen" descr="Action board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28600"/>
            <a:ext cx="3102429" cy="6080760"/>
          </a:xfrm>
          <a:prstGeom prst="rect">
            <a:avLst/>
          </a:prstGeom>
        </p:spPr>
      </p:pic>
      <p:pic>
        <p:nvPicPr>
          <p:cNvPr id="17" name="Copilot screen" descr="Copilot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28600"/>
            <a:ext cx="3102429" cy="6080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3  ·  VERIFY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Nothing is done until it is verified</a:t>
            </a:r>
            <a:endParaRPr lang="en-US" sz="3600" dirty="0"/>
          </a:p>
        </p:txBody>
      </p:sp>
      <p:sp>
        <p:nvSpPr>
          <p:cNvPr id="4" name="Evidence, not claims circle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5" name="Evidence, not claims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28913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743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Evidence, not claims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3090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Owners submit files, links and notes against the exact task.</a:t>
            </a:r>
            <a:endParaRPr lang="en-US" sz="1400" dirty="0"/>
          </a:p>
        </p:txBody>
      </p:sp>
      <p:sp>
        <p:nvSpPr>
          <p:cNvPr id="8" name="Approve or send back circle"/>
          <p:cNvSpPr/>
          <p:nvPr/>
        </p:nvSpPr>
        <p:spPr>
          <a:xfrm>
            <a:off x="548640" y="3730752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9" name="Approve or send back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3878885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730752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Approve or send back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4078224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Managers approve or return the task for revision with feedback.</a:t>
            </a:r>
            <a:endParaRPr lang="en-US" sz="1400" dirty="0"/>
          </a:p>
        </p:txBody>
      </p:sp>
      <p:sp>
        <p:nvSpPr>
          <p:cNvPr id="12" name="A full audit trail circle"/>
          <p:cNvSpPr/>
          <p:nvPr/>
        </p:nvSpPr>
        <p:spPr>
          <a:xfrm>
            <a:off x="548640" y="4718304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3" name="A full audit trail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4866437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718304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full audit trail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5065776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Every assignment, reminder, submission and decision is timestamped.</a:t>
            </a:r>
            <a:endParaRPr lang="en-US" sz="1400" dirty="0"/>
          </a:p>
        </p:txBody>
      </p:sp>
      <p:pic>
        <p:nvPicPr>
          <p:cNvPr id="16" name="Submit proof screen" descr="Submit proof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28600"/>
            <a:ext cx="3102429" cy="6080760"/>
          </a:xfrm>
          <a:prstGeom prst="rect">
            <a:avLst/>
          </a:prstGeom>
        </p:spPr>
      </p:pic>
      <p:pic>
        <p:nvPicPr>
          <p:cNvPr id="17" name="Review portal screen" descr="Review portal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28600"/>
            <a:ext cx="3102429" cy="6080760"/>
          </a:xfrm>
          <a:prstGeom prst="rect">
            <a:avLst/>
          </a:prstGeom>
        </p:spPr>
      </p:pic>
      <p:sp>
        <p:nvSpPr>
          <p:cNvPr id="18" name="Pending status"/>
          <p:cNvSpPr/>
          <p:nvPr/>
        </p:nvSpPr>
        <p:spPr>
          <a:xfrm>
            <a:off x="548640" y="589788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</p:spPr>
      </p:sp>
      <p:sp>
        <p:nvSpPr>
          <p:cNvPr id="19" name="Text 12"/>
          <p:cNvSpPr txBox="1"/>
          <p:nvPr/>
        </p:nvSpPr>
        <p:spPr>
          <a:xfrm>
            <a:off x="548640" y="5897880"/>
            <a:ext cx="7452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</a:rPr>
              <a:t>Pending</a:t>
            </a:r>
            <a:endParaRPr lang="en-US" sz="1100" dirty="0"/>
          </a:p>
        </p:txBody>
      </p:sp>
      <p:sp>
        <p:nvSpPr>
          <p:cNvPr id="20" name="In progress status"/>
          <p:cNvSpPr/>
          <p:nvPr/>
        </p:nvSpPr>
        <p:spPr>
          <a:xfrm>
            <a:off x="1403604" y="5897880"/>
            <a:ext cx="1056132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</p:spPr>
      </p:sp>
      <p:sp>
        <p:nvSpPr>
          <p:cNvPr id="21" name="Text 14"/>
          <p:cNvSpPr txBox="1"/>
          <p:nvPr/>
        </p:nvSpPr>
        <p:spPr>
          <a:xfrm>
            <a:off x="1403604" y="5897880"/>
            <a:ext cx="10561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22" name="Submitted status"/>
          <p:cNvSpPr/>
          <p:nvPr/>
        </p:nvSpPr>
        <p:spPr>
          <a:xfrm>
            <a:off x="2569464" y="5897880"/>
            <a:ext cx="900684" cy="329184"/>
          </a:xfrm>
          <a:prstGeom prst="roundRect">
            <a:avLst>
              <a:gd name="adj" fmla="val 50000"/>
            </a:avLst>
          </a:prstGeom>
          <a:solidFill>
            <a:srgbClr val="E0F2FE"/>
          </a:solidFill>
        </p:spPr>
      </p:sp>
      <p:sp>
        <p:nvSpPr>
          <p:cNvPr id="23" name="Text 16"/>
          <p:cNvSpPr txBox="1"/>
          <p:nvPr/>
        </p:nvSpPr>
        <p:spPr>
          <a:xfrm>
            <a:off x="2569464" y="5897880"/>
            <a:ext cx="9006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Submitted</a:t>
            </a:r>
            <a:endParaRPr lang="en-US" sz="1100" dirty="0"/>
          </a:p>
        </p:txBody>
      </p:sp>
      <p:sp>
        <p:nvSpPr>
          <p:cNvPr id="24" name="Approved status"/>
          <p:cNvSpPr/>
          <p:nvPr/>
        </p:nvSpPr>
        <p:spPr>
          <a:xfrm>
            <a:off x="3579876" y="58978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</p:spPr>
      </p:sp>
      <p:sp>
        <p:nvSpPr>
          <p:cNvPr id="25" name="Text 18"/>
          <p:cNvSpPr txBox="1"/>
          <p:nvPr/>
        </p:nvSpPr>
        <p:spPr>
          <a:xfrm>
            <a:off x="3579876" y="589788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</a:rPr>
              <a:t>Approved</a:t>
            </a:r>
            <a:endParaRPr lang="en-US" sz="1100" dirty="0"/>
          </a:p>
        </p:txBody>
      </p:sp>
      <p:sp>
        <p:nvSpPr>
          <p:cNvPr id="26" name="Rejected status"/>
          <p:cNvSpPr/>
          <p:nvPr/>
        </p:nvSpPr>
        <p:spPr>
          <a:xfrm>
            <a:off x="4512564" y="58978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FFE4E6"/>
          </a:solidFill>
        </p:spPr>
      </p:sp>
      <p:sp>
        <p:nvSpPr>
          <p:cNvPr id="27" name="Text 20"/>
          <p:cNvSpPr txBox="1"/>
          <p:nvPr/>
        </p:nvSpPr>
        <p:spPr>
          <a:xfrm>
            <a:off x="4512564" y="589788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</a:rPr>
              <a:t>Rejected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D3FC"/>
                </a:solidFill>
              </a:rPr>
              <a:t>ALWAYS IN THE LOOP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The right email reaches the right person, automatically</a:t>
            </a:r>
            <a:endParaRPr lang="en-US" sz="3600" dirty="0"/>
          </a:p>
        </p:txBody>
      </p:sp>
      <p:sp>
        <p:nvSpPr>
          <p:cNvPr id="4" name="Meeting invitation card"/>
          <p:cNvSpPr/>
          <p:nvPr/>
        </p:nvSpPr>
        <p:spPr>
          <a:xfrm>
            <a:off x="548640" y="2743200"/>
            <a:ext cx="3383280" cy="1463040"/>
          </a:xfrm>
          <a:prstGeom prst="roundRect">
            <a:avLst>
              <a:gd name="adj" fmla="val 8750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pic>
        <p:nvPicPr>
          <p:cNvPr id="5" name="Meeting invitation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718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97180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Meeting invitation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42900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Sent to every attendee when a meeting is created, with date, time and organiser.</a:t>
            </a:r>
            <a:endParaRPr lang="en-US" sz="1400" dirty="0"/>
          </a:p>
        </p:txBody>
      </p:sp>
      <p:sp>
        <p:nvSpPr>
          <p:cNvPr id="8" name="New task assigned card"/>
          <p:cNvSpPr/>
          <p:nvPr/>
        </p:nvSpPr>
        <p:spPr>
          <a:xfrm>
            <a:off x="4160520" y="2743200"/>
            <a:ext cx="3383280" cy="1463040"/>
          </a:xfrm>
          <a:prstGeom prst="roundRect">
            <a:avLst>
              <a:gd name="adj" fmla="val 8750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pic>
        <p:nvPicPr>
          <p:cNvPr id="9" name="New task assigned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718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92040" y="297180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New task assigned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342900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Each owner gets the task, priority, due date and a link to submit proof.</a:t>
            </a:r>
            <a:endParaRPr lang="en-US" sz="1400" dirty="0"/>
          </a:p>
        </p:txBody>
      </p:sp>
      <p:sp>
        <p:nvSpPr>
          <p:cNvPr id="12" name="One-click reminders card"/>
          <p:cNvSpPr/>
          <p:nvPr/>
        </p:nvSpPr>
        <p:spPr>
          <a:xfrm>
            <a:off x="548640" y="4434840"/>
            <a:ext cx="3383280" cy="1463040"/>
          </a:xfrm>
          <a:prstGeom prst="roundRect">
            <a:avLst>
              <a:gd name="adj" fmla="val 8750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pic>
        <p:nvPicPr>
          <p:cNvPr id="13" name="One-click reminder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634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466344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One-click reminders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512064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Managers nudge an owner in one click; overdue tasks are flagged in red.</a:t>
            </a:r>
            <a:endParaRPr lang="en-US" sz="1400" dirty="0"/>
          </a:p>
        </p:txBody>
      </p:sp>
      <p:sp>
        <p:nvSpPr>
          <p:cNvPr id="16" name="Staff welcome card"/>
          <p:cNvSpPr/>
          <p:nvPr/>
        </p:nvSpPr>
        <p:spPr>
          <a:xfrm>
            <a:off x="4160520" y="4434840"/>
            <a:ext cx="3383280" cy="1463040"/>
          </a:xfrm>
          <a:prstGeom prst="roundRect">
            <a:avLst>
              <a:gd name="adj" fmla="val 8750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pic>
        <p:nvPicPr>
          <p:cNvPr id="17" name="Staff welcom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66344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92040" y="466344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Staff welcome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389120" y="512064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New team members receive their account details and sign-in steps.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03504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Delivered through the organisation’s own SMTP mail server.</a:t>
            </a:r>
            <a:endParaRPr lang="en-US" sz="1200" dirty="0"/>
          </a:p>
        </p:txBody>
      </p:sp>
      <p:pic>
        <p:nvPicPr>
          <p:cNvPr id="21" name="Lock screen notifications" descr="Lock screen notifica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28600"/>
            <a:ext cx="3102429" cy="6080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Everyone sees exactly what they need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Role-based access, enforced in the database with row-level security</a:t>
            </a:r>
            <a:endParaRPr lang="en-US" sz="1600" dirty="0"/>
          </a:p>
        </p:txBody>
      </p:sp>
      <p:sp>
        <p:nvSpPr>
          <p:cNvPr id="4" name="Principal (Admin) card"/>
          <p:cNvSpPr/>
          <p:nvPr/>
        </p:nvSpPr>
        <p:spPr>
          <a:xfrm>
            <a:off x="548640" y="1874520"/>
            <a:ext cx="3511296" cy="3520440"/>
          </a:xfrm>
          <a:prstGeom prst="roundRect">
            <a:avLst>
              <a:gd name="adj" fmla="val 364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5" name="Principal (Admin) circle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6" name="Principal (Admin)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3673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17520"/>
            <a:ext cx="287121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Principal (Admin)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66160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Onboard and manage all users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See every meeting and project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Approve or reject across teams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Organisation-wide dashboard</a:t>
            </a:r>
            <a:endParaRPr lang="en-US" sz="1500" dirty="0"/>
          </a:p>
        </p:txBody>
      </p:sp>
      <p:sp>
        <p:nvSpPr>
          <p:cNvPr id="9" name="Project Manager card"/>
          <p:cNvSpPr/>
          <p:nvPr/>
        </p:nvSpPr>
        <p:spPr>
          <a:xfrm>
            <a:off x="4334256" y="1874520"/>
            <a:ext cx="3511296" cy="3520440"/>
          </a:xfrm>
          <a:prstGeom prst="roundRect">
            <a:avLst>
              <a:gd name="adj" fmla="val 364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0" name="Project Manager circle"/>
          <p:cNvSpPr/>
          <p:nvPr/>
        </p:nvSpPr>
        <p:spPr>
          <a:xfrm>
            <a:off x="4654296" y="2194560"/>
            <a:ext cx="640080" cy="64008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11" name="Project Manager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118" y="236738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4296" y="3017520"/>
            <a:ext cx="287121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Project Manager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54296" y="3566160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Schedule and run meetings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Assign action items to staff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Send reminders to owners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Review and verify proof of work</a:t>
            </a:r>
            <a:endParaRPr lang="en-US" sz="1500" dirty="0"/>
          </a:p>
        </p:txBody>
      </p:sp>
      <p:sp>
        <p:nvSpPr>
          <p:cNvPr id="14" name="Staff Member card"/>
          <p:cNvSpPr/>
          <p:nvPr/>
        </p:nvSpPr>
        <p:spPr>
          <a:xfrm>
            <a:off x="8119872" y="1874520"/>
            <a:ext cx="3511296" cy="3520440"/>
          </a:xfrm>
          <a:prstGeom prst="roundRect">
            <a:avLst>
              <a:gd name="adj" fmla="val 364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5" name="Staff Member circle"/>
          <p:cNvSpPr/>
          <p:nvPr/>
        </p:nvSpPr>
        <p:spPr>
          <a:xfrm>
            <a:off x="8439912" y="2194560"/>
            <a:ext cx="640080" cy="64008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6" name="Staff Membe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34" y="236738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9912" y="3017520"/>
            <a:ext cx="287121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Staff Member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39912" y="3566160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See their own action items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Use Copilot on any task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Update status as work moves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Submit proof of completion</a:t>
            </a:r>
            <a:endParaRPr lang="en-US" sz="1500" dirty="0"/>
          </a:p>
        </p:txBody>
      </p:sp>
      <p:sp>
        <p:nvSpPr>
          <p:cNvPr id="19" name="Access callout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23333"/>
            </a:avLst>
          </a:prstGeom>
          <a:solidFill>
            <a:srgbClr val="EEF2FF"/>
          </a:solidFill>
        </p:spPr>
      </p:sp>
      <p:pic>
        <p:nvPicPr>
          <p:cNvPr id="20" name="Access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881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566928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</a:rPr>
              <a:t>Staff see only their own work, managers see the meetings they run, and principals see everything.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One workspace for every team and project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Each team keeps its own view; leadership sees all of them together</a:t>
            </a:r>
            <a:endParaRPr lang="en-US" sz="1600" dirty="0"/>
          </a:p>
        </p:txBody>
      </p:sp>
      <p:sp>
        <p:nvSpPr>
          <p:cNvPr id="4" name="Programmes card"/>
          <p:cNvSpPr/>
          <p:nvPr/>
        </p:nvSpPr>
        <p:spPr>
          <a:xfrm>
            <a:off x="548640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5" name="Programmes circle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6" name="Programmes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3216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Programmes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Partner meetings, field reviews and delivery milestones.</a:t>
            </a:r>
            <a:endParaRPr lang="en-US" sz="1400" dirty="0"/>
          </a:p>
        </p:txBody>
      </p:sp>
      <p:sp>
        <p:nvSpPr>
          <p:cNvPr id="9" name="Finance card"/>
          <p:cNvSpPr/>
          <p:nvPr/>
        </p:nvSpPr>
        <p:spPr>
          <a:xfrm>
            <a:off x="2816352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0" name="Finance circle"/>
          <p:cNvSpPr/>
          <p:nvPr/>
        </p:nvSpPr>
        <p:spPr>
          <a:xfrm>
            <a:off x="3090672" y="2148840"/>
            <a:ext cx="640080" cy="640080"/>
          </a:xfrm>
          <a:prstGeom prst="ellipse">
            <a:avLst/>
          </a:prstGeom>
          <a:solidFill>
            <a:srgbClr val="FEF3C7"/>
          </a:solidFill>
        </p:spPr>
      </p:sp>
      <p:pic>
        <p:nvPicPr>
          <p:cNvPr id="11" name="Finance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494" y="232166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90672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Finance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090672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Budget sign-offs, approvals and reporting deadlines.</a:t>
            </a:r>
            <a:endParaRPr lang="en-US" sz="1400" dirty="0"/>
          </a:p>
        </p:txBody>
      </p:sp>
      <p:sp>
        <p:nvSpPr>
          <p:cNvPr id="14" name="Operations card"/>
          <p:cNvSpPr/>
          <p:nvPr/>
        </p:nvSpPr>
        <p:spPr>
          <a:xfrm>
            <a:off x="5084064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5" name="Operations circle"/>
          <p:cNvSpPr/>
          <p:nvPr/>
        </p:nvSpPr>
        <p:spPr>
          <a:xfrm>
            <a:off x="5358384" y="2148840"/>
            <a:ext cx="640080" cy="64008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6" name="Operation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206" y="232166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58384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Operations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358384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Logistics, procurement and day-to-day coordination.</a:t>
            </a:r>
            <a:endParaRPr lang="en-US" sz="1400" dirty="0"/>
          </a:p>
        </p:txBody>
      </p:sp>
      <p:sp>
        <p:nvSpPr>
          <p:cNvPr id="19" name="Research card"/>
          <p:cNvSpPr/>
          <p:nvPr/>
        </p:nvSpPr>
        <p:spPr>
          <a:xfrm>
            <a:off x="7351776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0" name="Research circle"/>
          <p:cNvSpPr/>
          <p:nvPr/>
        </p:nvSpPr>
        <p:spPr>
          <a:xfrm>
            <a:off x="7626096" y="2148840"/>
            <a:ext cx="640080" cy="64008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21" name="Research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918" y="2321662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26096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Research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626096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Data reviews, analysis and publication actions.</a:t>
            </a:r>
            <a:endParaRPr lang="en-US" sz="1400" dirty="0"/>
          </a:p>
        </p:txBody>
      </p:sp>
      <p:sp>
        <p:nvSpPr>
          <p:cNvPr id="24" name="People &amp; HR card"/>
          <p:cNvSpPr/>
          <p:nvPr/>
        </p:nvSpPr>
        <p:spPr>
          <a:xfrm>
            <a:off x="9619488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5" name="People &amp; HR circle"/>
          <p:cNvSpPr/>
          <p:nvPr/>
        </p:nvSpPr>
        <p:spPr>
          <a:xfrm>
            <a:off x="9893808" y="2148840"/>
            <a:ext cx="640080" cy="64008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26" name="People &amp; HR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6630" y="2321662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93808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People &amp; HR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893808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Recruitment, training milestones and onboarding.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16636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</a:t>
            </a:r>
            <a:endParaRPr lang="en-US" sz="44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58521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shared workspace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3383280" y="516636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</a:t>
            </a:r>
            <a:endParaRPr lang="en-US" sz="4400" dirty="0"/>
          </a:p>
        </p:txBody>
      </p:sp>
      <p:sp>
        <p:nvSpPr>
          <p:cNvPr id="32" name="Text 25"/>
          <p:cNvSpPr txBox="1"/>
          <p:nvPr/>
        </p:nvSpPr>
        <p:spPr>
          <a:xfrm>
            <a:off x="3383280" y="58521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access levels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6217920" y="516636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5</a:t>
            </a:r>
            <a:endParaRPr lang="en-US" sz="4400" dirty="0"/>
          </a:p>
        </p:txBody>
      </p:sp>
      <p:sp>
        <p:nvSpPr>
          <p:cNvPr id="34" name="Text 27"/>
          <p:cNvSpPr txBox="1"/>
          <p:nvPr/>
        </p:nvSpPr>
        <p:spPr>
          <a:xfrm>
            <a:off x="6217920" y="58521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task statuses tracked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052560" y="516636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100%</a:t>
            </a:r>
            <a:endParaRPr lang="en-US" sz="4400" dirty="0"/>
          </a:p>
        </p:txBody>
      </p:sp>
      <p:sp>
        <p:nvSpPr>
          <p:cNvPr id="36" name="Text 29"/>
          <p:cNvSpPr txBox="1"/>
          <p:nvPr/>
        </p:nvSpPr>
        <p:spPr>
          <a:xfrm>
            <a:off x="9052560" y="58521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tasks with a named owner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on proven, low-cost technology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Modern managed services that start free and scale with use</a:t>
            </a:r>
            <a:endParaRPr lang="en-US" sz="1600" dirty="0"/>
          </a:p>
        </p:txBody>
      </p:sp>
      <p:sp>
        <p:nvSpPr>
          <p:cNvPr id="4" name="Next.js 15 card"/>
          <p:cNvSpPr/>
          <p:nvPr/>
        </p:nvSpPr>
        <p:spPr>
          <a:xfrm>
            <a:off x="548640" y="187452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5" name="Next.js 15 circle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6" name="Next.js 15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3216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48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Next.js 15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514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</a:rPr>
              <a:t>Web app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Fast React web app that works on phones and laptops.</a:t>
            </a:r>
            <a:endParaRPr lang="en-US" sz="1400" dirty="0"/>
          </a:p>
        </p:txBody>
      </p:sp>
      <p:sp>
        <p:nvSpPr>
          <p:cNvPr id="10" name="Supabase card"/>
          <p:cNvSpPr/>
          <p:nvPr/>
        </p:nvSpPr>
        <p:spPr>
          <a:xfrm>
            <a:off x="4334256" y="187452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1" name="Supabase circle"/>
          <p:cNvSpPr/>
          <p:nvPr/>
        </p:nvSpPr>
        <p:spPr>
          <a:xfrm>
            <a:off x="4608576" y="2148840"/>
            <a:ext cx="640080" cy="64008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2" name="Supabase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398" y="232166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1536" y="2148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Supabase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431536" y="2514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Database &amp; sign-in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08576" y="297180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PostgreSQL with row-level security on every table.</a:t>
            </a:r>
            <a:endParaRPr lang="en-US" sz="1400" dirty="0"/>
          </a:p>
        </p:txBody>
      </p:sp>
      <p:sp>
        <p:nvSpPr>
          <p:cNvPr id="16" name="Google Gemini card"/>
          <p:cNvSpPr/>
          <p:nvPr/>
        </p:nvSpPr>
        <p:spPr>
          <a:xfrm>
            <a:off x="8119872" y="187452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7" name="Google Gemini circle"/>
          <p:cNvSpPr/>
          <p:nvPr/>
        </p:nvSpPr>
        <p:spPr>
          <a:xfrm>
            <a:off x="8394192" y="2148840"/>
            <a:ext cx="640080" cy="64008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8" name="Google Gemini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014" y="232166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17152" y="2148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Google Gemini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217152" y="2514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</a:rPr>
              <a:t>AI engine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94192" y="297180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Transcription, action extraction and Copilot guidance.</a:t>
            </a:r>
            <a:endParaRPr lang="en-US" sz="1400" dirty="0"/>
          </a:p>
        </p:txBody>
      </p:sp>
      <p:sp>
        <p:nvSpPr>
          <p:cNvPr id="22" name="SMTP email card"/>
          <p:cNvSpPr/>
          <p:nvPr/>
        </p:nvSpPr>
        <p:spPr>
          <a:xfrm>
            <a:off x="548640" y="411480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3" name="SMTP email circle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FEF3C7"/>
          </a:solidFill>
        </p:spPr>
      </p:sp>
      <p:pic>
        <p:nvPicPr>
          <p:cNvPr id="24" name="SMTP email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2" y="4561942"/>
            <a:ext cx="294437" cy="2944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4389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SMTP email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4754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21208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Invites, assignments and reminders via Nodemailer.</a:t>
            </a:r>
            <a:endParaRPr lang="en-US" sz="1400" dirty="0"/>
          </a:p>
        </p:txBody>
      </p:sp>
      <p:sp>
        <p:nvSpPr>
          <p:cNvPr id="28" name="Vercel card"/>
          <p:cNvSpPr/>
          <p:nvPr/>
        </p:nvSpPr>
        <p:spPr>
          <a:xfrm>
            <a:off x="4334256" y="411480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9" name="Vercel circle"/>
          <p:cNvSpPr/>
          <p:nvPr/>
        </p:nvSpPr>
        <p:spPr>
          <a:xfrm>
            <a:off x="4608576" y="4389120"/>
            <a:ext cx="640080" cy="640080"/>
          </a:xfrm>
          <a:prstGeom prst="ellipse">
            <a:avLst/>
          </a:prstGeom>
          <a:solidFill>
            <a:srgbClr val="F1F5F9"/>
          </a:solidFill>
        </p:spPr>
      </p:sp>
      <p:pic>
        <p:nvPicPr>
          <p:cNvPr id="30" name="Vercel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398" y="4561942"/>
            <a:ext cx="294437" cy="29443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431536" y="4389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Vercel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5431536" y="4754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Hosting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4608576" y="521208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Zero-maintenance deployment with automatic HTTPS.</a:t>
            </a:r>
            <a:endParaRPr lang="en-US" sz="1400" dirty="0"/>
          </a:p>
        </p:txBody>
      </p:sp>
      <p:sp>
        <p:nvSpPr>
          <p:cNvPr id="34" name="Security card"/>
          <p:cNvSpPr/>
          <p:nvPr/>
        </p:nvSpPr>
        <p:spPr>
          <a:xfrm>
            <a:off x="8119872" y="411480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35" name="Security circle"/>
          <p:cNvSpPr/>
          <p:nvPr/>
        </p:nvSpPr>
        <p:spPr>
          <a:xfrm>
            <a:off x="8394192" y="4389120"/>
            <a:ext cx="640080" cy="64008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36" name="Security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014" y="4561942"/>
            <a:ext cx="294437" cy="29443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217152" y="4389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Security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9217152" y="4754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Access control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8394192" y="521208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Signed sessions, rate limiting and per-role data access.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your organisation gains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Less chasing, clearer ownership and evidence ready for donors</a:t>
            </a:r>
            <a:endParaRPr lang="en-US" sz="1600" dirty="0"/>
          </a:p>
        </p:txBody>
      </p:sp>
      <p:sp>
        <p:nvSpPr>
          <p:cNvPr id="4" name="Headline panel"/>
          <p:cNvSpPr/>
          <p:nvPr/>
        </p:nvSpPr>
        <p:spPr>
          <a:xfrm>
            <a:off x="548640" y="1874520"/>
            <a:ext cx="3749040" cy="4251960"/>
          </a:xfrm>
          <a:prstGeom prst="roundRect">
            <a:avLst>
              <a:gd name="adj" fmla="val 3415"/>
            </a:avLst>
          </a:prstGeom>
          <a:solidFill>
            <a:schemeClr val="tx2"/>
          </a:solidFill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Every decision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has an owner, a deadline and verified evidence that it was done.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DD3FC"/>
                </a:solidFill>
              </a:rPr>
              <a:t>Delivery records double as evidence for donor reporting and grant accountability.</a:t>
            </a:r>
            <a:endParaRPr lang="en-US" sz="1400" dirty="0"/>
          </a:p>
        </p:txBody>
      </p:sp>
      <p:sp>
        <p:nvSpPr>
          <p:cNvPr id="8" name="Time saved circle"/>
          <p:cNvSpPr/>
          <p:nvPr/>
        </p:nvSpPr>
        <p:spPr>
          <a:xfrm>
            <a:off x="4663440" y="192024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9" name="Time saved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573" y="206837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94960" y="18745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 saved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24028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No more manual follow-up emails and status check-ins.</a:t>
            </a:r>
            <a:endParaRPr lang="en-US" sz="1400" dirty="0"/>
          </a:p>
        </p:txBody>
      </p:sp>
      <p:sp>
        <p:nvSpPr>
          <p:cNvPr id="12" name="Clarity circle"/>
          <p:cNvSpPr/>
          <p:nvPr/>
        </p:nvSpPr>
        <p:spPr>
          <a:xfrm>
            <a:off x="8229600" y="1920240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3" name="Clarity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733" y="206837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961120" y="18745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Clarity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961120" y="224028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Each person knows what is expected, by when and how urgent.</a:t>
            </a:r>
            <a:endParaRPr lang="en-US" sz="1400" dirty="0"/>
          </a:p>
        </p:txBody>
      </p:sp>
      <p:sp>
        <p:nvSpPr>
          <p:cNvPr id="16" name="Transparency circle"/>
          <p:cNvSpPr/>
          <p:nvPr/>
        </p:nvSpPr>
        <p:spPr>
          <a:xfrm>
            <a:off x="4663440" y="3383280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7" name="Transparency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573" y="353141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94960" y="33375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Transparency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394960" y="370332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Leaders see every project without attending every meeting.</a:t>
            </a:r>
            <a:endParaRPr lang="en-US" sz="1400" dirty="0"/>
          </a:p>
        </p:txBody>
      </p:sp>
      <p:sp>
        <p:nvSpPr>
          <p:cNvPr id="20" name="Faster delivery circle"/>
          <p:cNvSpPr/>
          <p:nvPr/>
        </p:nvSpPr>
        <p:spPr>
          <a:xfrm>
            <a:off x="8229600" y="3383280"/>
            <a:ext cx="548640" cy="548640"/>
          </a:xfrm>
          <a:prstGeom prst="ellipse">
            <a:avLst/>
          </a:prstGeom>
          <a:solidFill>
            <a:srgbClr val="FEF3C7"/>
          </a:solidFill>
        </p:spPr>
      </p:sp>
      <p:pic>
        <p:nvPicPr>
          <p:cNvPr id="21" name="Faster delivery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733" y="353141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1120" y="33375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Faster delivery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0" y="370332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Copilot guidance gets work started sooner.</a:t>
            </a:r>
            <a:endParaRPr lang="en-US" sz="1400" dirty="0"/>
          </a:p>
        </p:txBody>
      </p:sp>
      <p:sp>
        <p:nvSpPr>
          <p:cNvPr id="24" name="Donor reporting circle"/>
          <p:cNvSpPr/>
          <p:nvPr/>
        </p:nvSpPr>
        <p:spPr>
          <a:xfrm>
            <a:off x="4663440" y="484632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25" name="Donor reporting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73" y="4994453"/>
            <a:ext cx="252374" cy="25237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48006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Donor reporting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394960" y="51663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Verified records are ready to share with funders.</a:t>
            </a:r>
            <a:endParaRPr lang="en-US" sz="1400" dirty="0"/>
          </a:p>
        </p:txBody>
      </p:sp>
      <p:sp>
        <p:nvSpPr>
          <p:cNvPr id="28" name="Accountability circle"/>
          <p:cNvSpPr/>
          <p:nvPr/>
        </p:nvSpPr>
        <p:spPr>
          <a:xfrm>
            <a:off x="8229600" y="484632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29" name="Accountability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733" y="4994453"/>
            <a:ext cx="252374" cy="25237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961120" y="48006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Accountability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8961120" y="51663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An audit trail supports reviews and resolves disputes.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D3FC"/>
                </a:solidFill>
              </a:rPr>
              <a:t>LIVE DEMO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See SyncLog working, live</a:t>
            </a:r>
            <a:endParaRPr lang="en-US" sz="3600" dirty="0"/>
          </a:p>
        </p:txBody>
      </p:sp>
      <p:sp>
        <p:nvSpPr>
          <p:cNvPr id="4" name="Open app button">
            <a:hlinkClick r:id="rId1" tooltip="Open SyncLog"/>
          </p:cNvPr>
          <p:cNvSpPr/>
          <p:nvPr/>
        </p:nvSpPr>
        <p:spPr>
          <a:xfrm>
            <a:off x="548640" y="2514600"/>
            <a:ext cx="6035040" cy="9144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</p:spPr>
      </p:sp>
      <p:pic>
        <p:nvPicPr>
          <p:cNvPr id="5" name="Open app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365760" cy="365760"/>
          </a:xfrm>
          <a:prstGeom prst="rect">
            <a:avLst/>
          </a:prstGeom>
        </p:spPr>
      </p:pic>
      <p:sp>
        <p:nvSpPr>
          <p:cNvPr id="6" name="Open app link"/>
          <p:cNvSpPr txBox="1"/>
          <p:nvPr/>
        </p:nvSpPr>
        <p:spPr>
          <a:xfrm>
            <a:off x="1463040" y="251460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chemeClr val="bg1"/>
                </a:solidFill>
              </a:rPr>
              <a:t>Open the live app</a:t>
            </a:r>
            <a:endParaRPr lang="en-US" sz="2200" dirty="0"/>
          </a:p>
          <a:p>
            <a:pPr marL="0" indent="0">
              <a:buNone/>
            </a:pPr>
            <a:r>
              <a:rPr lang="en-US" sz="1500" u="sng" dirty="0">
                <a:solidFill>
                  <a:srgbClr val="C7D2FE"/>
                </a:solidFill>
              </a:rPr>
              <a:t>synclog.vercel.app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4904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94A3B8"/>
                </a:solidFill>
              </a:rPr>
              <a:t>Suggested demo path</a:t>
            </a:r>
            <a:endParaRPr lang="en-US" sz="1400" dirty="0"/>
          </a:p>
        </p:txBody>
      </p:sp>
      <p:pic>
        <p:nvPicPr>
          <p:cNvPr id="8" name="Demo step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97096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4160520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Create a meeting and invite attendees</a:t>
            </a:r>
            <a:endParaRPr lang="en-US" sz="1600" dirty="0"/>
          </a:p>
        </p:txBody>
      </p:sp>
      <p:pic>
        <p:nvPicPr>
          <p:cNvPr id="10" name="Demo step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360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4599432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Record a few minutes and let AI extract the actions</a:t>
            </a:r>
            <a:endParaRPr lang="en-US" sz="1600" dirty="0"/>
          </a:p>
        </p:txBody>
      </p:sp>
      <p:pic>
        <p:nvPicPr>
          <p:cNvPr id="12" name="Demo step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7492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60120" y="5038344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Open the action board and ask Copilot for help</a:t>
            </a:r>
            <a:endParaRPr lang="en-US" sz="1600" dirty="0"/>
          </a:p>
        </p:txBody>
      </p:sp>
      <p:pic>
        <p:nvPicPr>
          <p:cNvPr id="14" name="Demo step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513832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60120" y="5477256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Submit proof, then approve it as the manager</a:t>
            </a:r>
            <a:endParaRPr lang="en-US" sz="1600" dirty="0"/>
          </a:p>
        </p:txBody>
      </p:sp>
      <p:pic>
        <p:nvPicPr>
          <p:cNvPr id="16" name="Source code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980176"/>
            <a:ext cx="274320" cy="274320"/>
          </a:xfrm>
          <a:prstGeom prst="rect">
            <a:avLst/>
          </a:prstGeom>
        </p:spPr>
      </p:pic>
      <p:sp>
        <p:nvSpPr>
          <p:cNvPr id="17" name="Source code link"/>
          <p:cNvSpPr txBox="1"/>
          <p:nvPr/>
        </p:nvSpPr>
        <p:spPr>
          <a:xfrm>
            <a:off x="960120" y="5943600"/>
            <a:ext cx="6537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Source code  </a:t>
            </a:r>
            <a:r>
              <a:rPr lang="en-US" sz="1500" b="1" u="sng" dirty="0">
                <a:solidFill>
                  <a:srgbClr val="7DD3FC"/>
                </a:solidFill>
              </a:rPr>
              <a:t>github.com/oluwatayo-david/meeting_tracker</a:t>
            </a:r>
            <a:endParaRPr lang="en-US" sz="1500" dirty="0"/>
          </a:p>
        </p:txBody>
      </p:sp>
      <p:sp>
        <p:nvSpPr>
          <p:cNvPr id="18" name="QR card"/>
          <p:cNvSpPr/>
          <p:nvPr/>
        </p:nvSpPr>
        <p:spPr>
          <a:xfrm>
            <a:off x="8092440" y="1554480"/>
            <a:ext cx="3520440" cy="4069080"/>
          </a:xfrm>
          <a:prstGeom prst="roundRect">
            <a:avLst>
              <a:gd name="adj" fmla="val 5195"/>
            </a:avLst>
          </a:prstGeom>
          <a:solidFill>
            <a:schemeClr val="bg1"/>
          </a:solidFill>
        </p:spPr>
      </p:sp>
      <p:pic>
        <p:nvPicPr>
          <p:cNvPr id="19" name="QR code" descr="QR code linking to https://synclog.vercel.app/">
            <a:hlinkClick r:id="rId1" tooltip="Open SyncLog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1828800"/>
            <a:ext cx="2926080" cy="292608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8092440" y="489204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Scan to try it on your phone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D3FC"/>
                </a:solidFill>
              </a:rPr>
              <a:t>THANK YOU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From meeting to done, across every project</a:t>
            </a:r>
            <a:endParaRPr lang="en-US" sz="3600" dirty="0"/>
          </a:p>
        </p:txBody>
      </p:sp>
      <p:sp>
        <p:nvSpPr>
          <p:cNvPr id="4" name="Questions card"/>
          <p:cNvSpPr/>
          <p:nvPr/>
        </p:nvSpPr>
        <p:spPr>
          <a:xfrm>
            <a:off x="548640" y="2926080"/>
            <a:ext cx="3511296" cy="2377440"/>
          </a:xfrm>
          <a:prstGeom prst="roundRect">
            <a:avLst>
              <a:gd name="adj" fmla="val 5385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sp>
        <p:nvSpPr>
          <p:cNvPr id="5" name="Questions circle"/>
          <p:cNvSpPr/>
          <p:nvPr/>
        </p:nvSpPr>
        <p:spPr>
          <a:xfrm>
            <a:off x="868680" y="3246120"/>
            <a:ext cx="640080" cy="64008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6" name="Questions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401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06908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Questions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48056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Open discussion and a live walkthrough of SyncLog.</a:t>
            </a:r>
            <a:endParaRPr lang="en-US" sz="1500" dirty="0"/>
          </a:p>
        </p:txBody>
      </p:sp>
      <p:sp>
        <p:nvSpPr>
          <p:cNvPr id="9" name="Next steps card"/>
          <p:cNvSpPr/>
          <p:nvPr/>
        </p:nvSpPr>
        <p:spPr>
          <a:xfrm>
            <a:off x="4334256" y="2926080"/>
            <a:ext cx="3511296" cy="2377440"/>
          </a:xfrm>
          <a:prstGeom prst="roundRect">
            <a:avLst>
              <a:gd name="adj" fmla="val 5385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sp>
        <p:nvSpPr>
          <p:cNvPr id="10" name="Next steps circle"/>
          <p:cNvSpPr/>
          <p:nvPr/>
        </p:nvSpPr>
        <p:spPr>
          <a:xfrm>
            <a:off x="4654296" y="3246120"/>
            <a:ext cx="640080" cy="64008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Next steps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3401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4296" y="406908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54296" y="448056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Pilot with one team, onboard the rest, then go live.</a:t>
            </a:r>
            <a:endParaRPr lang="en-US" sz="1500" dirty="0"/>
          </a:p>
        </p:txBody>
      </p:sp>
      <p:sp>
        <p:nvSpPr>
          <p:cNvPr id="14" name="Get in touch card"/>
          <p:cNvSpPr/>
          <p:nvPr/>
        </p:nvSpPr>
        <p:spPr>
          <a:xfrm>
            <a:off x="8119872" y="2926080"/>
            <a:ext cx="3511296" cy="2377440"/>
          </a:xfrm>
          <a:prstGeom prst="roundRect">
            <a:avLst>
              <a:gd name="adj" fmla="val 5385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sp>
        <p:nvSpPr>
          <p:cNvPr id="15" name="Get in touch circle"/>
          <p:cNvSpPr/>
          <p:nvPr/>
        </p:nvSpPr>
        <p:spPr>
          <a:xfrm>
            <a:off x="8439912" y="3246120"/>
            <a:ext cx="640080" cy="64008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Get in touch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401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9912" y="406908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Get in touch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39912" y="448056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oluwatayo damilola</a:t>
            </a:r>
            <a:endParaRPr lang="en-US" sz="1500" dirty="0"/>
          </a:p>
        </p:txBody>
      </p:sp>
      <p:pic>
        <p:nvPicPr>
          <p:cNvPr id="19" name="Try it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05856"/>
            <a:ext cx="274320" cy="274320"/>
          </a:xfrm>
          <a:prstGeom prst="rect">
            <a:avLst/>
          </a:prstGeom>
        </p:spPr>
      </p:pic>
      <p:sp>
        <p:nvSpPr>
          <p:cNvPr id="20" name="Try it link"/>
          <p:cNvSpPr txBox="1"/>
          <p:nvPr/>
        </p:nvSpPr>
        <p:spPr>
          <a:xfrm>
            <a:off x="960120" y="5669280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Try it  </a:t>
            </a:r>
            <a:r>
              <a:rPr lang="en-US" sz="1500" b="1" u="sng" dirty="0">
                <a:solidFill>
                  <a:srgbClr val="7DD3FC"/>
                </a:solidFill>
              </a:rPr>
              <a:t>synclog.vercel.app</a:t>
            </a:r>
            <a:endParaRPr lang="en-US" sz="1500" dirty="0"/>
          </a:p>
        </p:txBody>
      </p:sp>
      <p:pic>
        <p:nvPicPr>
          <p:cNvPr id="21" name="Source code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5705856"/>
            <a:ext cx="274320" cy="274320"/>
          </a:xfrm>
          <a:prstGeom prst="rect">
            <a:avLst/>
          </a:prstGeom>
        </p:spPr>
      </p:pic>
      <p:sp>
        <p:nvSpPr>
          <p:cNvPr id="22" name="Source code link"/>
          <p:cNvSpPr txBox="1"/>
          <p:nvPr/>
        </p:nvSpPr>
        <p:spPr>
          <a:xfrm>
            <a:off x="4745736" y="5669280"/>
            <a:ext cx="6894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Source code  </a:t>
            </a:r>
            <a:r>
              <a:rPr lang="en-US" sz="1500" b="1" u="sng" dirty="0">
                <a:solidFill>
                  <a:srgbClr val="7DD3FC"/>
                </a:solidFill>
              </a:rPr>
              <a:t>github.com/oluwatayo-david/meeting_tracker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cLog">
  <a:themeElements>
    <a:clrScheme name="SyncLog">
      <a:dk1>
        <a:srgbClr val="0B1220"/>
      </a:dk1>
      <a:lt1>
        <a:srgbClr val="FFFFFF"/>
      </a:lt1>
      <a:dk2>
        <a:srgbClr val="111637"/>
      </a:dk2>
      <a:lt2>
        <a:srgbClr val="F6F8FB"/>
      </a:lt2>
      <a:accent1>
        <a:srgbClr val="0284C7"/>
      </a:accent1>
      <a:accent2>
        <a:srgbClr val="4F46E5"/>
      </a:accent2>
      <a:accent3>
        <a:srgbClr val="059669"/>
      </a:accent3>
      <a:accent4>
        <a:srgbClr val="E11D48"/>
      </a:accent4>
      <a:accent5>
        <a:srgbClr val="D97706"/>
      </a:accent5>
      <a:accent6>
        <a:srgbClr val="64748B"/>
      </a:accent6>
      <a:hlink>
        <a:srgbClr val="0284C7"/>
      </a:hlink>
      <a:folHlink>
        <a:srgbClr val="4F46E5"/>
      </a:folHlink>
    </a:clrScheme>
    <a:fontScheme name="SyncLo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yncLog">
  <a:themeElements>
    <a:clrScheme name="SyncLog">
      <a:dk1>
        <a:srgbClr val="0B1220"/>
      </a:dk1>
      <a:lt1>
        <a:srgbClr val="FFFFFF"/>
      </a:lt1>
      <a:dk2>
        <a:srgbClr val="111637"/>
      </a:dk2>
      <a:lt2>
        <a:srgbClr val="F6F8FB"/>
      </a:lt2>
      <a:accent1>
        <a:srgbClr val="0284C7"/>
      </a:accent1>
      <a:accent2>
        <a:srgbClr val="4F46E5"/>
      </a:accent2>
      <a:accent3>
        <a:srgbClr val="059669"/>
      </a:accent3>
      <a:accent4>
        <a:srgbClr val="E11D48"/>
      </a:accent4>
      <a:accent5>
        <a:srgbClr val="D97706"/>
      </a:accent5>
      <a:accent6>
        <a:srgbClr val="64748B"/>
      </a:accent6>
      <a:hlink>
        <a:srgbClr val="0284C7"/>
      </a:hlink>
      <a:folHlink>
        <a:srgbClr val="4F46E5"/>
      </a:folHlink>
    </a:clrScheme>
    <a:fontScheme name="SyncLo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6102</Words>
  <Application>WPS Presentation</Application>
  <PresentationFormat>On-screen Show (16:9)</PresentationFormat>
  <Paragraphs>386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Microsoft YaHei</vt:lpstr>
      <vt:lpstr>Arial Unicode MS</vt:lpstr>
      <vt:lpstr>SyncLog</vt:lpstr>
      <vt:lpstr>SyncLog</vt:lpstr>
      <vt:lpstr>Meetings end, and the follow-through gets lost</vt:lpstr>
      <vt:lpstr>Meet SyncLog</vt:lpstr>
      <vt:lpstr>How it works</vt:lpstr>
      <vt:lpstr>Every decision is captured as it is spoken</vt:lpstr>
      <vt:lpstr>Everyone knows what they own, and by when</vt:lpstr>
      <vt:lpstr>Nothing is done until it is verified</vt:lpstr>
      <vt:lpstr>The right email reaches the right person, automatically</vt:lpstr>
      <vt:lpstr>Everyone sees exactly what they need</vt:lpstr>
      <vt:lpstr>One workspace for every team and project</vt:lpstr>
      <vt:lpstr>Built on proven, low-cost technology</vt:lpstr>
      <vt:lpstr>What your organisation gains</vt:lpstr>
      <vt:lpstr>See SyncLog working, live</vt:lpstr>
      <vt:lpstr>From meeting to done, across every project</vt:lpstr>
    </vt:vector>
  </TitlesOfParts>
  <Company>SyncLog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SyncLog — From meeting to done</dc:title>
  <dc:creator>oluwatayo damilola</dc:creator>
  <dc:subject>PptxGenJS Presentation</dc:subject>
  <cp:lastModifiedBy>oluwa</cp:lastModifiedBy>
  <cp:revision>2</cp:revision>
  <dcterms:created xsi:type="dcterms:W3CDTF">2026-10-13T10:55:00Z</dcterms:created>
  <dcterms:modified xsi:type="dcterms:W3CDTF">2026-10-13T11:08:02Z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AF3F676E421D41D0BC23CF37064C559D_12</vt:lpwstr>
  </property>
</Properties>
</file>
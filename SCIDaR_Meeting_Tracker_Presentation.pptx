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4754880"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75488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0"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14416"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99632"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84848"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70064"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55279"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40496"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25712"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710928"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296144"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881360"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66576" y="45720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0"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14416"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84848"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70064"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55279"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40496"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25712"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10928"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296144"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881360"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466576" y="1207007"/>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0"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14416"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9632"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784848"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70064"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55279"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40496"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125712"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10928"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296144"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881360"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466576" y="195681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0"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14416"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99632"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784848"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70064"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55279"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40496"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25712"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710928"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296144"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881360"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1466576" y="2706624"/>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029200"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14416"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99632"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784848"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370064"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955279"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540496"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125712"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710928"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96144"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81360"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1466576" y="3456432"/>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29200"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614416"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99632"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784848"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370064"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955279"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540496"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125712"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710928"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296144"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881360"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1466576" y="4206240"/>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029200"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614416"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99632"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784848"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7370064"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955279"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540496"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125712"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710928"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296144"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0881360"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1466576" y="4956048"/>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029200"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614416"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199632"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784848"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370064"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955279"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540496"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125712"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710928"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0296144"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0881360"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466576" y="5705855"/>
            <a:ext cx="54864" cy="5486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686800" y="-1097280"/>
            <a:ext cx="3474720" cy="3474720"/>
          </a:xfrm>
          <a:prstGeom prst="ellipse">
            <a:avLst/>
          </a:prstGeom>
          <a:solidFill>
            <a:srgbClr val="3B3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20040" y="201168"/>
            <a:ext cx="128016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65759" y="219456"/>
            <a:ext cx="1188719" cy="329184"/>
          </a:xfrm>
          <a:prstGeom prst="rect">
            <a:avLst/>
          </a:prstGeom>
          <a:noFill/>
        </p:spPr>
        <p:txBody>
          <a:bodyPr wrap="square">
            <a:spAutoFit/>
          </a:bodyPr>
          <a:lstStyle/>
          <a:p>
            <a:pPr algn="ctr"/>
            <a:r>
              <a:rPr sz="1100" b="1" i="0">
                <a:solidFill>
                  <a:srgbClr val="FFFFFF"/>
                </a:solidFill>
                <a:latin typeface="Calibri"/>
              </a:rPr>
              <a:t>SCIDaR</a:t>
            </a:r>
          </a:p>
        </p:txBody>
      </p:sp>
      <p:sp>
        <p:nvSpPr>
          <p:cNvPr id="104" name="TextBox 103"/>
          <p:cNvSpPr txBox="1"/>
          <p:nvPr/>
        </p:nvSpPr>
        <p:spPr>
          <a:xfrm>
            <a:off x="320040" y="1005840"/>
            <a:ext cx="4206240" cy="2011680"/>
          </a:xfrm>
          <a:prstGeom prst="rect">
            <a:avLst/>
          </a:prstGeom>
          <a:noFill/>
        </p:spPr>
        <p:txBody>
          <a:bodyPr wrap="square">
            <a:spAutoFit/>
          </a:bodyPr>
          <a:lstStyle/>
          <a:p>
            <a:pPr algn="l"/>
            <a:r>
              <a:rPr sz="3800" b="1" i="0">
                <a:solidFill>
                  <a:srgbClr val="FFFFFF"/>
                </a:solidFill>
                <a:latin typeface="Calibri"/>
              </a:rPr>
              <a:t>AI Meeting Action
Point Tracker</a:t>
            </a:r>
          </a:p>
        </p:txBody>
      </p:sp>
      <p:sp>
        <p:nvSpPr>
          <p:cNvPr id="105" name="TextBox 104"/>
          <p:cNvSpPr txBox="1"/>
          <p:nvPr/>
        </p:nvSpPr>
        <p:spPr>
          <a:xfrm>
            <a:off x="320040" y="2788920"/>
            <a:ext cx="4114800" cy="548640"/>
          </a:xfrm>
          <a:prstGeom prst="rect">
            <a:avLst/>
          </a:prstGeom>
          <a:noFill/>
        </p:spPr>
        <p:txBody>
          <a:bodyPr wrap="square">
            <a:spAutoFit/>
          </a:bodyPr>
          <a:lstStyle/>
          <a:p>
            <a:pPr algn="l"/>
            <a:r>
              <a:rPr sz="2400" b="0" i="0">
                <a:solidFill>
                  <a:srgbClr val="0EA5E9"/>
                </a:solidFill>
                <a:latin typeface="Calibri"/>
              </a:rPr>
              <a:t>&amp; Execution Verifier</a:t>
            </a:r>
          </a:p>
        </p:txBody>
      </p:sp>
      <p:sp>
        <p:nvSpPr>
          <p:cNvPr id="106" name="Rectangle 105"/>
          <p:cNvSpPr/>
          <p:nvPr/>
        </p:nvSpPr>
        <p:spPr>
          <a:xfrm>
            <a:off x="320040" y="3401568"/>
            <a:ext cx="36576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320040" y="3520440"/>
            <a:ext cx="4206240" cy="914400"/>
          </a:xfrm>
          <a:prstGeom prst="rect">
            <a:avLst/>
          </a:prstGeom>
          <a:noFill/>
        </p:spPr>
        <p:txBody>
          <a:bodyPr wrap="square">
            <a:spAutoFit/>
          </a:bodyPr>
          <a:lstStyle/>
          <a:p>
            <a:pPr algn="l"/>
            <a:r>
              <a:rPr sz="1200" b="0" i="0">
                <a:solidFill>
                  <a:srgbClr val="94A3B8"/>
                </a:solidFill>
                <a:latin typeface="Calibri"/>
              </a:rPr>
              <a:t>Automating accountability, action tracking &amp;
AI-powered delivery verification across all projects.</a:t>
            </a:r>
          </a:p>
        </p:txBody>
      </p:sp>
      <p:sp>
        <p:nvSpPr>
          <p:cNvPr id="108" name="TextBox 107"/>
          <p:cNvSpPr txBox="1"/>
          <p:nvPr/>
        </p:nvSpPr>
        <p:spPr>
          <a:xfrm>
            <a:off x="320040" y="6309360"/>
            <a:ext cx="4572000" cy="365760"/>
          </a:xfrm>
          <a:prstGeom prst="rect">
            <a:avLst/>
          </a:prstGeom>
          <a:noFill/>
        </p:spPr>
        <p:txBody>
          <a:bodyPr wrap="square">
            <a:spAutoFit/>
          </a:bodyPr>
          <a:lstStyle/>
          <a:p>
            <a:pPr algn="l"/>
            <a:r>
              <a:rPr sz="1000" b="0" i="0">
                <a:solidFill>
                  <a:srgbClr val="64748B"/>
                </a:solidFill>
                <a:latin typeface="Calibri"/>
              </a:rPr>
              <a:t>October 2026  ·  oluwatayo damilola  ·  SCIDaR</a:t>
            </a:r>
          </a:p>
        </p:txBody>
      </p:sp>
      <p:sp>
        <p:nvSpPr>
          <p:cNvPr id="109" name="Rectangle 108"/>
          <p:cNvSpPr/>
          <p:nvPr/>
        </p:nvSpPr>
        <p:spPr>
          <a:xfrm>
            <a:off x="5303520" y="1371600"/>
            <a:ext cx="30175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5303520" y="1371600"/>
            <a:ext cx="301752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486400" y="1600200"/>
            <a:ext cx="2743200" cy="457200"/>
          </a:xfrm>
          <a:prstGeom prst="rect">
            <a:avLst/>
          </a:prstGeom>
          <a:noFill/>
        </p:spPr>
        <p:txBody>
          <a:bodyPr wrap="square">
            <a:spAutoFit/>
          </a:bodyPr>
          <a:lstStyle/>
          <a:p>
            <a:pPr algn="l"/>
            <a:r>
              <a:rPr sz="1300" b="1" i="0">
                <a:solidFill>
                  <a:srgbClr val="FFFFFF"/>
                </a:solidFill>
                <a:latin typeface="Calibri"/>
              </a:rPr>
              <a:t>🎙️  AI Transcription</a:t>
            </a:r>
          </a:p>
        </p:txBody>
      </p:sp>
      <p:sp>
        <p:nvSpPr>
          <p:cNvPr id="112" name="TextBox 111"/>
          <p:cNvSpPr txBox="1"/>
          <p:nvPr/>
        </p:nvSpPr>
        <p:spPr>
          <a:xfrm>
            <a:off x="5486400" y="2148840"/>
            <a:ext cx="2743200" cy="457200"/>
          </a:xfrm>
          <a:prstGeom prst="rect">
            <a:avLst/>
          </a:prstGeom>
          <a:noFill/>
        </p:spPr>
        <p:txBody>
          <a:bodyPr wrap="square">
            <a:spAutoFit/>
          </a:bodyPr>
          <a:lstStyle/>
          <a:p>
            <a:pPr algn="l"/>
            <a:r>
              <a:rPr sz="1100" b="0" i="0">
                <a:solidFill>
                  <a:srgbClr val="94A3B8"/>
                </a:solidFill>
                <a:latin typeface="Calibri"/>
              </a:rPr>
              <a:t>Speech → Action Points</a:t>
            </a:r>
          </a:p>
        </p:txBody>
      </p:sp>
      <p:sp>
        <p:nvSpPr>
          <p:cNvPr id="113" name="Rectangle 112"/>
          <p:cNvSpPr/>
          <p:nvPr/>
        </p:nvSpPr>
        <p:spPr>
          <a:xfrm>
            <a:off x="8686800" y="1371600"/>
            <a:ext cx="30175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8686800" y="1371600"/>
            <a:ext cx="301752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869680" y="1600200"/>
            <a:ext cx="2743200" cy="457200"/>
          </a:xfrm>
          <a:prstGeom prst="rect">
            <a:avLst/>
          </a:prstGeom>
          <a:noFill/>
        </p:spPr>
        <p:txBody>
          <a:bodyPr wrap="square">
            <a:spAutoFit/>
          </a:bodyPr>
          <a:lstStyle/>
          <a:p>
            <a:pPr algn="l"/>
            <a:r>
              <a:rPr sz="1300" b="1" i="0">
                <a:solidFill>
                  <a:srgbClr val="FFFFFF"/>
                </a:solidFill>
                <a:latin typeface="Calibri"/>
              </a:rPr>
              <a:t>✅  Task Board</a:t>
            </a:r>
          </a:p>
        </p:txBody>
      </p:sp>
      <p:sp>
        <p:nvSpPr>
          <p:cNvPr id="116" name="TextBox 115"/>
          <p:cNvSpPr txBox="1"/>
          <p:nvPr/>
        </p:nvSpPr>
        <p:spPr>
          <a:xfrm>
            <a:off x="8869680" y="2148840"/>
            <a:ext cx="2743200" cy="457200"/>
          </a:xfrm>
          <a:prstGeom prst="rect">
            <a:avLst/>
          </a:prstGeom>
          <a:noFill/>
        </p:spPr>
        <p:txBody>
          <a:bodyPr wrap="square">
            <a:spAutoFit/>
          </a:bodyPr>
          <a:lstStyle/>
          <a:p>
            <a:pPr algn="l"/>
            <a:r>
              <a:rPr sz="1100" b="0" i="0">
                <a:solidFill>
                  <a:srgbClr val="94A3B8"/>
                </a:solidFill>
                <a:latin typeface="Calibri"/>
              </a:rPr>
              <a:t>Assign, Track &amp; Verify</a:t>
            </a:r>
          </a:p>
        </p:txBody>
      </p:sp>
      <p:sp>
        <p:nvSpPr>
          <p:cNvPr id="117" name="Rectangle 116"/>
          <p:cNvSpPr/>
          <p:nvPr/>
        </p:nvSpPr>
        <p:spPr>
          <a:xfrm>
            <a:off x="5303520" y="3566160"/>
            <a:ext cx="30175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303520" y="3566160"/>
            <a:ext cx="301752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486400" y="3794760"/>
            <a:ext cx="2743200" cy="457200"/>
          </a:xfrm>
          <a:prstGeom prst="rect">
            <a:avLst/>
          </a:prstGeom>
          <a:noFill/>
        </p:spPr>
        <p:txBody>
          <a:bodyPr wrap="square">
            <a:spAutoFit/>
          </a:bodyPr>
          <a:lstStyle/>
          <a:p>
            <a:pPr algn="l"/>
            <a:r>
              <a:rPr sz="1300" b="1" i="0">
                <a:solidFill>
                  <a:srgbClr val="FFFFFF"/>
                </a:solidFill>
                <a:latin typeface="Calibri"/>
              </a:rPr>
              <a:t>📧  Auto Email Alerts</a:t>
            </a:r>
          </a:p>
        </p:txBody>
      </p:sp>
      <p:sp>
        <p:nvSpPr>
          <p:cNvPr id="120" name="TextBox 119"/>
          <p:cNvSpPr txBox="1"/>
          <p:nvPr/>
        </p:nvSpPr>
        <p:spPr>
          <a:xfrm>
            <a:off x="5486400" y="4343400"/>
            <a:ext cx="2743200" cy="457200"/>
          </a:xfrm>
          <a:prstGeom prst="rect">
            <a:avLst/>
          </a:prstGeom>
          <a:noFill/>
        </p:spPr>
        <p:txBody>
          <a:bodyPr wrap="square">
            <a:spAutoFit/>
          </a:bodyPr>
          <a:lstStyle/>
          <a:p>
            <a:pPr algn="l"/>
            <a:r>
              <a:rPr sz="1100" b="0" i="0">
                <a:solidFill>
                  <a:srgbClr val="94A3B8"/>
                </a:solidFill>
                <a:latin typeface="Calibri"/>
              </a:rPr>
              <a:t>Invites &amp; Reminders</a:t>
            </a:r>
          </a:p>
        </p:txBody>
      </p:sp>
      <p:sp>
        <p:nvSpPr>
          <p:cNvPr id="121" name="Rectangle 120"/>
          <p:cNvSpPr/>
          <p:nvPr/>
        </p:nvSpPr>
        <p:spPr>
          <a:xfrm>
            <a:off x="8686800" y="3566160"/>
            <a:ext cx="30175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686800" y="3566160"/>
            <a:ext cx="301752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869680" y="3794760"/>
            <a:ext cx="2743200" cy="457200"/>
          </a:xfrm>
          <a:prstGeom prst="rect">
            <a:avLst/>
          </a:prstGeom>
          <a:noFill/>
        </p:spPr>
        <p:txBody>
          <a:bodyPr wrap="square">
            <a:spAutoFit/>
          </a:bodyPr>
          <a:lstStyle/>
          <a:p>
            <a:pPr algn="l"/>
            <a:r>
              <a:rPr sz="1300" b="1" i="0">
                <a:solidFill>
                  <a:srgbClr val="FFFFFF"/>
                </a:solidFill>
                <a:latin typeface="Calibri"/>
              </a:rPr>
              <a:t>🤖  AI Co-Pilot</a:t>
            </a:r>
          </a:p>
        </p:txBody>
      </p:sp>
      <p:sp>
        <p:nvSpPr>
          <p:cNvPr id="124" name="TextBox 123"/>
          <p:cNvSpPr txBox="1"/>
          <p:nvPr/>
        </p:nvSpPr>
        <p:spPr>
          <a:xfrm>
            <a:off x="8869680" y="4343400"/>
            <a:ext cx="2743200" cy="457200"/>
          </a:xfrm>
          <a:prstGeom prst="rect">
            <a:avLst/>
          </a:prstGeom>
          <a:noFill/>
        </p:spPr>
        <p:txBody>
          <a:bodyPr wrap="square">
            <a:spAutoFit/>
          </a:bodyPr>
          <a:lstStyle/>
          <a:p>
            <a:pPr algn="l"/>
            <a:r>
              <a:rPr sz="1100" b="0" i="0">
                <a:solidFill>
                  <a:srgbClr val="94A3B8"/>
                </a:solidFill>
                <a:latin typeface="Calibri"/>
              </a:rPr>
              <a:t>Execution Guidance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548640"/>
          </a:xfrm>
          <a:prstGeom prst="rect">
            <a:avLst/>
          </a:prstGeom>
          <a:noFill/>
        </p:spPr>
        <p:txBody>
          <a:bodyPr wrap="square">
            <a:spAutoFit/>
          </a:bodyPr>
          <a:lstStyle/>
          <a:p>
            <a:pPr algn="l"/>
            <a:r>
              <a:rPr sz="2800" b="1" i="0">
                <a:solidFill>
                  <a:srgbClr val="FFFFFF"/>
                </a:solidFill>
                <a:latin typeface="Calibri"/>
              </a:rPr>
              <a:t>The Problem</a:t>
            </a:r>
          </a:p>
        </p:txBody>
      </p:sp>
      <p:sp>
        <p:nvSpPr>
          <p:cNvPr id="4" name="TextBox 3"/>
          <p:cNvSpPr txBox="1"/>
          <p:nvPr/>
        </p:nvSpPr>
        <p:spPr>
          <a:xfrm>
            <a:off x="548640" y="749808"/>
            <a:ext cx="7315200" cy="365760"/>
          </a:xfrm>
          <a:prstGeom prst="rect">
            <a:avLst/>
          </a:prstGeom>
          <a:noFill/>
        </p:spPr>
        <p:txBody>
          <a:bodyPr wrap="square">
            <a:spAutoFit/>
          </a:bodyPr>
          <a:lstStyle/>
          <a:p>
            <a:pPr algn="l"/>
            <a:r>
              <a:rPr sz="1300" b="0" i="0">
                <a:solidFill>
                  <a:srgbClr val="94A3B8"/>
                </a:solidFill>
                <a:latin typeface="Calibri"/>
              </a:rPr>
              <a:t>What was happening before this system</a:t>
            </a:r>
          </a:p>
        </p:txBody>
      </p:sp>
      <p:sp>
        <p:nvSpPr>
          <p:cNvPr id="5" name="Rectangle 4"/>
          <p:cNvSpPr/>
          <p:nvPr/>
        </p:nvSpPr>
        <p:spPr>
          <a:xfrm>
            <a:off x="548640" y="1115568"/>
            <a:ext cx="10972800" cy="2286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3474720" cy="2240280"/>
          </a:xfrm>
          <a:prstGeom prst="rect">
            <a:avLst/>
          </a:prstGeom>
          <a:solidFill>
            <a:srgbClr val="1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347472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3200400" cy="411480"/>
          </a:xfrm>
          <a:prstGeom prst="rect">
            <a:avLst/>
          </a:prstGeom>
          <a:noFill/>
        </p:spPr>
        <p:txBody>
          <a:bodyPr wrap="square">
            <a:spAutoFit/>
          </a:bodyPr>
          <a:lstStyle/>
          <a:p>
            <a:pPr algn="l"/>
            <a:r>
              <a:rPr sz="1300" b="1" i="0">
                <a:solidFill>
                  <a:srgbClr val="FDA4AF"/>
                </a:solidFill>
                <a:latin typeface="Calibri"/>
              </a:rPr>
              <a:t>❌  Lost Action Points</a:t>
            </a:r>
          </a:p>
        </p:txBody>
      </p:sp>
      <p:sp>
        <p:nvSpPr>
          <p:cNvPr id="9" name="TextBox 8"/>
          <p:cNvSpPr txBox="1"/>
          <p:nvPr/>
        </p:nvSpPr>
        <p:spPr>
          <a:xfrm>
            <a:off x="548640" y="2057400"/>
            <a:ext cx="3154679" cy="1371600"/>
          </a:xfrm>
          <a:prstGeom prst="rect">
            <a:avLst/>
          </a:prstGeom>
          <a:noFill/>
        </p:spPr>
        <p:txBody>
          <a:bodyPr wrap="square">
            <a:spAutoFit/>
          </a:bodyPr>
          <a:lstStyle/>
          <a:p>
            <a:pPr algn="l"/>
            <a:r>
              <a:rPr sz="1050" b="0" i="0">
                <a:solidFill>
                  <a:srgbClr val="CBD5E1"/>
                </a:solidFill>
                <a:latin typeface="Calibri"/>
              </a:rPr>
              <a:t>Meeting action items were noted manually and often lost in email threads or notebooks — never followed up.</a:t>
            </a:r>
          </a:p>
        </p:txBody>
      </p:sp>
      <p:sp>
        <p:nvSpPr>
          <p:cNvPr id="10" name="Rectangle 9"/>
          <p:cNvSpPr/>
          <p:nvPr/>
        </p:nvSpPr>
        <p:spPr>
          <a:xfrm>
            <a:off x="4251960" y="1417320"/>
            <a:ext cx="3474720" cy="2240280"/>
          </a:xfrm>
          <a:prstGeom prst="rect">
            <a:avLst/>
          </a:prstGeom>
          <a:solidFill>
            <a:srgbClr val="1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417320"/>
            <a:ext cx="347472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581912"/>
            <a:ext cx="3200400" cy="411480"/>
          </a:xfrm>
          <a:prstGeom prst="rect">
            <a:avLst/>
          </a:prstGeom>
          <a:noFill/>
        </p:spPr>
        <p:txBody>
          <a:bodyPr wrap="square">
            <a:spAutoFit/>
          </a:bodyPr>
          <a:lstStyle/>
          <a:p>
            <a:pPr algn="l"/>
            <a:r>
              <a:rPr sz="1300" b="1" i="0">
                <a:solidFill>
                  <a:srgbClr val="FDA4AF"/>
                </a:solidFill>
                <a:latin typeface="Calibri"/>
              </a:rPr>
              <a:t>❌  No Accountability</a:t>
            </a:r>
          </a:p>
        </p:txBody>
      </p:sp>
      <p:sp>
        <p:nvSpPr>
          <p:cNvPr id="13" name="TextBox 12"/>
          <p:cNvSpPr txBox="1"/>
          <p:nvPr/>
        </p:nvSpPr>
        <p:spPr>
          <a:xfrm>
            <a:off x="4434840" y="2057400"/>
            <a:ext cx="3154679" cy="1371600"/>
          </a:xfrm>
          <a:prstGeom prst="rect">
            <a:avLst/>
          </a:prstGeom>
          <a:noFill/>
        </p:spPr>
        <p:txBody>
          <a:bodyPr wrap="square">
            <a:spAutoFit/>
          </a:bodyPr>
          <a:lstStyle/>
          <a:p>
            <a:pPr algn="l"/>
            <a:r>
              <a:rPr sz="1050" b="0" i="0">
                <a:solidFill>
                  <a:srgbClr val="CBD5E1"/>
                </a:solidFill>
                <a:latin typeface="Calibri"/>
              </a:rPr>
              <a:t>There was no structured way to track WHO was responsible for WHAT, leading to tasks falling through the cracks.</a:t>
            </a:r>
          </a:p>
        </p:txBody>
      </p:sp>
      <p:sp>
        <p:nvSpPr>
          <p:cNvPr id="14" name="Rectangle 13"/>
          <p:cNvSpPr/>
          <p:nvPr/>
        </p:nvSpPr>
        <p:spPr>
          <a:xfrm>
            <a:off x="8138160" y="1417320"/>
            <a:ext cx="3657600" cy="2240280"/>
          </a:xfrm>
          <a:prstGeom prst="rect">
            <a:avLst/>
          </a:prstGeom>
          <a:solidFill>
            <a:srgbClr val="1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417320"/>
            <a:ext cx="365760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581912"/>
            <a:ext cx="3383280" cy="411480"/>
          </a:xfrm>
          <a:prstGeom prst="rect">
            <a:avLst/>
          </a:prstGeom>
          <a:noFill/>
        </p:spPr>
        <p:txBody>
          <a:bodyPr wrap="square">
            <a:spAutoFit/>
          </a:bodyPr>
          <a:lstStyle/>
          <a:p>
            <a:pPr algn="l"/>
            <a:r>
              <a:rPr sz="1300" b="1" i="0">
                <a:solidFill>
                  <a:srgbClr val="FDA4AF"/>
                </a:solidFill>
                <a:latin typeface="Calibri"/>
              </a:rPr>
              <a:t>❌  Manual Follow-up</a:t>
            </a:r>
          </a:p>
        </p:txBody>
      </p:sp>
      <p:sp>
        <p:nvSpPr>
          <p:cNvPr id="17" name="TextBox 16"/>
          <p:cNvSpPr txBox="1"/>
          <p:nvPr/>
        </p:nvSpPr>
        <p:spPr>
          <a:xfrm>
            <a:off x="8321040" y="2057400"/>
            <a:ext cx="3337560" cy="1371600"/>
          </a:xfrm>
          <a:prstGeom prst="rect">
            <a:avLst/>
          </a:prstGeom>
          <a:noFill/>
        </p:spPr>
        <p:txBody>
          <a:bodyPr wrap="square">
            <a:spAutoFit/>
          </a:bodyPr>
          <a:lstStyle/>
          <a:p>
            <a:pPr algn="l"/>
            <a:r>
              <a:rPr sz="1050" b="0" i="0">
                <a:solidFill>
                  <a:srgbClr val="CBD5E1"/>
                </a:solidFill>
                <a:latin typeface="Calibri"/>
              </a:rPr>
              <a:t>Managers had to manually chase staff, send reminder emails, and check on progress — consuming hours each week.</a:t>
            </a:r>
          </a:p>
        </p:txBody>
      </p:sp>
      <p:sp>
        <p:nvSpPr>
          <p:cNvPr id="18" name="Rectangle 17"/>
          <p:cNvSpPr/>
          <p:nvPr/>
        </p:nvSpPr>
        <p:spPr>
          <a:xfrm>
            <a:off x="365760" y="3931920"/>
            <a:ext cx="3474720" cy="2240280"/>
          </a:xfrm>
          <a:prstGeom prst="rect">
            <a:avLst/>
          </a:prstGeom>
          <a:solidFill>
            <a:srgbClr val="1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931920"/>
            <a:ext cx="347472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096511"/>
            <a:ext cx="3200400" cy="411480"/>
          </a:xfrm>
          <a:prstGeom prst="rect">
            <a:avLst/>
          </a:prstGeom>
          <a:noFill/>
        </p:spPr>
        <p:txBody>
          <a:bodyPr wrap="square">
            <a:spAutoFit/>
          </a:bodyPr>
          <a:lstStyle/>
          <a:p>
            <a:pPr algn="l"/>
            <a:r>
              <a:rPr sz="1300" b="1" i="0">
                <a:solidFill>
                  <a:srgbClr val="FDA4AF"/>
                </a:solidFill>
                <a:latin typeface="Calibri"/>
              </a:rPr>
              <a:t>❌  No Proof of Work</a:t>
            </a:r>
          </a:p>
        </p:txBody>
      </p:sp>
      <p:sp>
        <p:nvSpPr>
          <p:cNvPr id="21" name="TextBox 20"/>
          <p:cNvSpPr txBox="1"/>
          <p:nvPr/>
        </p:nvSpPr>
        <p:spPr>
          <a:xfrm>
            <a:off x="548640" y="4572000"/>
            <a:ext cx="3154679" cy="1371600"/>
          </a:xfrm>
          <a:prstGeom prst="rect">
            <a:avLst/>
          </a:prstGeom>
          <a:noFill/>
        </p:spPr>
        <p:txBody>
          <a:bodyPr wrap="square">
            <a:spAutoFit/>
          </a:bodyPr>
          <a:lstStyle/>
          <a:p>
            <a:pPr algn="l"/>
            <a:r>
              <a:rPr sz="1050" b="0" i="0">
                <a:solidFill>
                  <a:srgbClr val="CBD5E1"/>
                </a:solidFill>
                <a:latin typeface="Calibri"/>
              </a:rPr>
              <a:t>Even when tasks were 'completed,' there was no formal submission of evidence or managerial verification system.</a:t>
            </a:r>
          </a:p>
        </p:txBody>
      </p:sp>
      <p:sp>
        <p:nvSpPr>
          <p:cNvPr id="22" name="Rectangle 21"/>
          <p:cNvSpPr/>
          <p:nvPr/>
        </p:nvSpPr>
        <p:spPr>
          <a:xfrm>
            <a:off x="4251960" y="3931920"/>
            <a:ext cx="3474720" cy="2240280"/>
          </a:xfrm>
          <a:prstGeom prst="rect">
            <a:avLst/>
          </a:prstGeom>
          <a:solidFill>
            <a:srgbClr val="1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60" y="3931920"/>
            <a:ext cx="347472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4096511"/>
            <a:ext cx="3200400" cy="411480"/>
          </a:xfrm>
          <a:prstGeom prst="rect">
            <a:avLst/>
          </a:prstGeom>
          <a:noFill/>
        </p:spPr>
        <p:txBody>
          <a:bodyPr wrap="square">
            <a:spAutoFit/>
          </a:bodyPr>
          <a:lstStyle/>
          <a:p>
            <a:pPr algn="l"/>
            <a:r>
              <a:rPr sz="1300" b="1" i="0">
                <a:solidFill>
                  <a:srgbClr val="FDA4AF"/>
                </a:solidFill>
                <a:latin typeface="Calibri"/>
              </a:rPr>
              <a:t>❌  Siloed Information</a:t>
            </a:r>
          </a:p>
        </p:txBody>
      </p:sp>
      <p:sp>
        <p:nvSpPr>
          <p:cNvPr id="25" name="TextBox 24"/>
          <p:cNvSpPr txBox="1"/>
          <p:nvPr/>
        </p:nvSpPr>
        <p:spPr>
          <a:xfrm>
            <a:off x="4434840" y="4572000"/>
            <a:ext cx="3154679" cy="1371600"/>
          </a:xfrm>
          <a:prstGeom prst="rect">
            <a:avLst/>
          </a:prstGeom>
          <a:noFill/>
        </p:spPr>
        <p:txBody>
          <a:bodyPr wrap="square">
            <a:spAutoFit/>
          </a:bodyPr>
          <a:lstStyle/>
          <a:p>
            <a:pPr algn="l"/>
            <a:r>
              <a:rPr sz="1050" b="0" i="0">
                <a:solidFill>
                  <a:srgbClr val="CBD5E1"/>
                </a:solidFill>
                <a:latin typeface="Calibri"/>
              </a:rPr>
              <a:t>Different projects (Vaccine Financing, SPARK, SAGE, etc.) had no unified tracking — each team operated in isolation.</a:t>
            </a:r>
          </a:p>
        </p:txBody>
      </p:sp>
      <p:sp>
        <p:nvSpPr>
          <p:cNvPr id="26" name="Rectangle 25"/>
          <p:cNvSpPr/>
          <p:nvPr/>
        </p:nvSpPr>
        <p:spPr>
          <a:xfrm>
            <a:off x="8138160" y="3931920"/>
            <a:ext cx="3657600" cy="2240280"/>
          </a:xfrm>
          <a:prstGeom prst="rect">
            <a:avLst/>
          </a:prstGeom>
          <a:solidFill>
            <a:srgbClr val="1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3931920"/>
            <a:ext cx="365760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4096511"/>
            <a:ext cx="3383280" cy="411480"/>
          </a:xfrm>
          <a:prstGeom prst="rect">
            <a:avLst/>
          </a:prstGeom>
          <a:noFill/>
        </p:spPr>
        <p:txBody>
          <a:bodyPr wrap="square">
            <a:spAutoFit/>
          </a:bodyPr>
          <a:lstStyle/>
          <a:p>
            <a:pPr algn="l"/>
            <a:r>
              <a:rPr sz="1300" b="1" i="0">
                <a:solidFill>
                  <a:srgbClr val="FDA4AF"/>
                </a:solidFill>
                <a:latin typeface="Calibri"/>
              </a:rPr>
              <a:t>❌  Meeting Minutes Delays</a:t>
            </a:r>
          </a:p>
        </p:txBody>
      </p:sp>
      <p:sp>
        <p:nvSpPr>
          <p:cNvPr id="29" name="TextBox 28"/>
          <p:cNvSpPr txBox="1"/>
          <p:nvPr/>
        </p:nvSpPr>
        <p:spPr>
          <a:xfrm>
            <a:off x="8321040" y="4572000"/>
            <a:ext cx="3337560" cy="1371600"/>
          </a:xfrm>
          <a:prstGeom prst="rect">
            <a:avLst/>
          </a:prstGeom>
          <a:noFill/>
        </p:spPr>
        <p:txBody>
          <a:bodyPr wrap="square">
            <a:spAutoFit/>
          </a:bodyPr>
          <a:lstStyle/>
          <a:p>
            <a:pPr algn="l"/>
            <a:r>
              <a:rPr sz="1050" b="0" i="0">
                <a:solidFill>
                  <a:srgbClr val="CBD5E1"/>
                </a:solidFill>
                <a:latin typeface="Calibri"/>
              </a:rPr>
              <a:t>Transcribing meetings and circulating minutes took 24–48 hours, delaying action point awareness for attendees.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548640"/>
          </a:xfrm>
          <a:prstGeom prst="rect">
            <a:avLst/>
          </a:prstGeom>
          <a:noFill/>
        </p:spPr>
        <p:txBody>
          <a:bodyPr wrap="square">
            <a:spAutoFit/>
          </a:bodyPr>
          <a:lstStyle/>
          <a:p>
            <a:pPr algn="l"/>
            <a:r>
              <a:rPr sz="2800" b="1" i="0">
                <a:solidFill>
                  <a:srgbClr val="FFFFFF"/>
                </a:solidFill>
                <a:latin typeface="Calibri"/>
              </a:rPr>
              <a:t>Our Solution</a:t>
            </a:r>
          </a:p>
        </p:txBody>
      </p:sp>
      <p:sp>
        <p:nvSpPr>
          <p:cNvPr id="4" name="TextBox 3"/>
          <p:cNvSpPr txBox="1"/>
          <p:nvPr/>
        </p:nvSpPr>
        <p:spPr>
          <a:xfrm>
            <a:off x="548640" y="749808"/>
            <a:ext cx="8229600" cy="365760"/>
          </a:xfrm>
          <a:prstGeom prst="rect">
            <a:avLst/>
          </a:prstGeom>
          <a:noFill/>
        </p:spPr>
        <p:txBody>
          <a:bodyPr wrap="square">
            <a:spAutoFit/>
          </a:bodyPr>
          <a:lstStyle/>
          <a:p>
            <a:pPr algn="l"/>
            <a:r>
              <a:rPr sz="1300" b="0" i="0">
                <a:solidFill>
                  <a:srgbClr val="94A3B8"/>
                </a:solidFill>
                <a:latin typeface="Calibri"/>
              </a:rPr>
              <a:t>A unified, AI-powered accountability platform</a:t>
            </a:r>
          </a:p>
        </p:txBody>
      </p:sp>
      <p:sp>
        <p:nvSpPr>
          <p:cNvPr id="5" name="Rectangle 4"/>
          <p:cNvSpPr/>
          <p:nvPr/>
        </p:nvSpPr>
        <p:spPr>
          <a:xfrm>
            <a:off x="548640" y="1115568"/>
            <a:ext cx="10972800" cy="228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25880"/>
            <a:ext cx="11430000" cy="10972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25880"/>
            <a:ext cx="54864" cy="1097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17320"/>
            <a:ext cx="11064240" cy="822960"/>
          </a:xfrm>
          <a:prstGeom prst="rect">
            <a:avLst/>
          </a:prstGeom>
          <a:noFill/>
        </p:spPr>
        <p:txBody>
          <a:bodyPr wrap="square">
            <a:spAutoFit/>
          </a:bodyPr>
          <a:lstStyle/>
          <a:p>
            <a:pPr algn="l"/>
            <a:r>
              <a:rPr sz="1200" b="0" i="0">
                <a:solidFill>
                  <a:srgbClr val="FFFFFF"/>
                </a:solidFill>
                <a:latin typeface="Calibri"/>
              </a:rPr>
              <a:t>The AI Meeting Action Point Tracker is a cloud-based workspace that automatically transcribes meetings, extracts action points using Google Gemini AI, assigns them to team members across all 5 SCIDaR projects, and verifies their completion through a structured proof-of-work submission and manager approval system.</a:t>
            </a:r>
          </a:p>
        </p:txBody>
      </p:sp>
      <p:sp>
        <p:nvSpPr>
          <p:cNvPr id="9" name="Rectangle 8"/>
          <p:cNvSpPr/>
          <p:nvPr/>
        </p:nvSpPr>
        <p:spPr>
          <a:xfrm>
            <a:off x="365760" y="2651760"/>
            <a:ext cx="3749039"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651760"/>
            <a:ext cx="3749039"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2816352"/>
            <a:ext cx="457200" cy="411480"/>
          </a:xfrm>
          <a:prstGeom prst="rect">
            <a:avLst/>
          </a:prstGeom>
          <a:noFill/>
        </p:spPr>
        <p:txBody>
          <a:bodyPr wrap="square">
            <a:spAutoFit/>
          </a:bodyPr>
          <a:lstStyle/>
          <a:p>
            <a:pPr algn="l"/>
            <a:r>
              <a:rPr sz="1800" b="0" i="0">
                <a:solidFill>
                  <a:srgbClr val="4F46E5"/>
                </a:solidFill>
                <a:latin typeface="Calibri"/>
              </a:rPr>
              <a:t>🎙️</a:t>
            </a:r>
          </a:p>
        </p:txBody>
      </p:sp>
      <p:sp>
        <p:nvSpPr>
          <p:cNvPr id="12" name="TextBox 11"/>
          <p:cNvSpPr txBox="1"/>
          <p:nvPr/>
        </p:nvSpPr>
        <p:spPr>
          <a:xfrm>
            <a:off x="1005840" y="2816352"/>
            <a:ext cx="2926080" cy="502920"/>
          </a:xfrm>
          <a:prstGeom prst="rect">
            <a:avLst/>
          </a:prstGeom>
          <a:noFill/>
        </p:spPr>
        <p:txBody>
          <a:bodyPr wrap="square">
            <a:spAutoFit/>
          </a:bodyPr>
          <a:lstStyle/>
          <a:p>
            <a:pPr algn="l"/>
            <a:r>
              <a:rPr sz="1200" b="1" i="0">
                <a:solidFill>
                  <a:srgbClr val="FFFFFF"/>
                </a:solidFill>
                <a:latin typeface="Calibri"/>
              </a:rPr>
              <a:t>AI Meeting
Transcription</a:t>
            </a:r>
          </a:p>
        </p:txBody>
      </p:sp>
      <p:sp>
        <p:nvSpPr>
          <p:cNvPr id="13" name="TextBox 12"/>
          <p:cNvSpPr txBox="1"/>
          <p:nvPr/>
        </p:nvSpPr>
        <p:spPr>
          <a:xfrm>
            <a:off x="530352" y="3364991"/>
            <a:ext cx="3474720" cy="914400"/>
          </a:xfrm>
          <a:prstGeom prst="rect">
            <a:avLst/>
          </a:prstGeom>
          <a:noFill/>
        </p:spPr>
        <p:txBody>
          <a:bodyPr wrap="square">
            <a:spAutoFit/>
          </a:bodyPr>
          <a:lstStyle/>
          <a:p>
            <a:pPr algn="l"/>
            <a:r>
              <a:rPr sz="1000" b="0" i="0">
                <a:solidFill>
                  <a:srgbClr val="94A3B8"/>
                </a:solidFill>
                <a:latin typeface="Calibri"/>
              </a:rPr>
              <a:t>Real-time voice recording converted to structured text and action points by Google Gemini in seconds.</a:t>
            </a:r>
          </a:p>
        </p:txBody>
      </p:sp>
      <p:sp>
        <p:nvSpPr>
          <p:cNvPr id="14" name="Rectangle 13"/>
          <p:cNvSpPr/>
          <p:nvPr/>
        </p:nvSpPr>
        <p:spPr>
          <a:xfrm>
            <a:off x="4343400" y="2651760"/>
            <a:ext cx="3749039"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2651760"/>
            <a:ext cx="3749039"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2816352"/>
            <a:ext cx="457200" cy="411480"/>
          </a:xfrm>
          <a:prstGeom prst="rect">
            <a:avLst/>
          </a:prstGeom>
          <a:noFill/>
        </p:spPr>
        <p:txBody>
          <a:bodyPr wrap="square">
            <a:spAutoFit/>
          </a:bodyPr>
          <a:lstStyle/>
          <a:p>
            <a:pPr algn="l"/>
            <a:r>
              <a:rPr sz="1800" b="0" i="0">
                <a:solidFill>
                  <a:srgbClr val="0EA5E9"/>
                </a:solidFill>
                <a:latin typeface="Calibri"/>
              </a:rPr>
              <a:t>📋</a:t>
            </a:r>
          </a:p>
        </p:txBody>
      </p:sp>
      <p:sp>
        <p:nvSpPr>
          <p:cNvPr id="17" name="TextBox 16"/>
          <p:cNvSpPr txBox="1"/>
          <p:nvPr/>
        </p:nvSpPr>
        <p:spPr>
          <a:xfrm>
            <a:off x="4983480" y="2816352"/>
            <a:ext cx="2926080" cy="502920"/>
          </a:xfrm>
          <a:prstGeom prst="rect">
            <a:avLst/>
          </a:prstGeom>
          <a:noFill/>
        </p:spPr>
        <p:txBody>
          <a:bodyPr wrap="square">
            <a:spAutoFit/>
          </a:bodyPr>
          <a:lstStyle/>
          <a:p>
            <a:pPr algn="l"/>
            <a:r>
              <a:rPr sz="1200" b="1" i="0">
                <a:solidFill>
                  <a:srgbClr val="FFFFFF"/>
                </a:solidFill>
                <a:latin typeface="Calibri"/>
              </a:rPr>
              <a:t>Smart Task
Board</a:t>
            </a:r>
          </a:p>
        </p:txBody>
      </p:sp>
      <p:sp>
        <p:nvSpPr>
          <p:cNvPr id="18" name="TextBox 17"/>
          <p:cNvSpPr txBox="1"/>
          <p:nvPr/>
        </p:nvSpPr>
        <p:spPr>
          <a:xfrm>
            <a:off x="4507992" y="3364991"/>
            <a:ext cx="3474720" cy="914400"/>
          </a:xfrm>
          <a:prstGeom prst="rect">
            <a:avLst/>
          </a:prstGeom>
          <a:noFill/>
        </p:spPr>
        <p:txBody>
          <a:bodyPr wrap="square">
            <a:spAutoFit/>
          </a:bodyPr>
          <a:lstStyle/>
          <a:p>
            <a:pPr algn="l"/>
            <a:r>
              <a:rPr sz="1000" b="0" i="0">
                <a:solidFill>
                  <a:srgbClr val="94A3B8"/>
                </a:solidFill>
                <a:latin typeface="Calibri"/>
              </a:rPr>
              <a:t>Every action point is assigned, tracked with due dates, priorities and project tags — fully visible to all stakeholders.</a:t>
            </a:r>
          </a:p>
        </p:txBody>
      </p:sp>
      <p:sp>
        <p:nvSpPr>
          <p:cNvPr id="19" name="Rectangle 18"/>
          <p:cNvSpPr/>
          <p:nvPr/>
        </p:nvSpPr>
        <p:spPr>
          <a:xfrm>
            <a:off x="8321040" y="2651760"/>
            <a:ext cx="3749039"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2651760"/>
            <a:ext cx="3749039"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85632" y="2816352"/>
            <a:ext cx="457200" cy="411480"/>
          </a:xfrm>
          <a:prstGeom prst="rect">
            <a:avLst/>
          </a:prstGeom>
          <a:noFill/>
        </p:spPr>
        <p:txBody>
          <a:bodyPr wrap="square">
            <a:spAutoFit/>
          </a:bodyPr>
          <a:lstStyle/>
          <a:p>
            <a:pPr algn="l"/>
            <a:r>
              <a:rPr sz="1800" b="0" i="0">
                <a:solidFill>
                  <a:srgbClr val="10B981"/>
                </a:solidFill>
                <a:latin typeface="Calibri"/>
              </a:rPr>
              <a:t>✅</a:t>
            </a:r>
          </a:p>
        </p:txBody>
      </p:sp>
      <p:sp>
        <p:nvSpPr>
          <p:cNvPr id="22" name="TextBox 21"/>
          <p:cNvSpPr txBox="1"/>
          <p:nvPr/>
        </p:nvSpPr>
        <p:spPr>
          <a:xfrm>
            <a:off x="8961119" y="2816352"/>
            <a:ext cx="2926080" cy="502920"/>
          </a:xfrm>
          <a:prstGeom prst="rect">
            <a:avLst/>
          </a:prstGeom>
          <a:noFill/>
        </p:spPr>
        <p:txBody>
          <a:bodyPr wrap="square">
            <a:spAutoFit/>
          </a:bodyPr>
          <a:lstStyle/>
          <a:p>
            <a:pPr algn="l"/>
            <a:r>
              <a:rPr sz="1200" b="1" i="0">
                <a:solidFill>
                  <a:srgbClr val="FFFFFF"/>
                </a:solidFill>
                <a:latin typeface="Calibri"/>
              </a:rPr>
              <a:t>Proof of Work
Verification</a:t>
            </a:r>
          </a:p>
        </p:txBody>
      </p:sp>
      <p:sp>
        <p:nvSpPr>
          <p:cNvPr id="23" name="TextBox 22"/>
          <p:cNvSpPr txBox="1"/>
          <p:nvPr/>
        </p:nvSpPr>
        <p:spPr>
          <a:xfrm>
            <a:off x="8485632" y="3364991"/>
            <a:ext cx="3474720" cy="914400"/>
          </a:xfrm>
          <a:prstGeom prst="rect">
            <a:avLst/>
          </a:prstGeom>
          <a:noFill/>
        </p:spPr>
        <p:txBody>
          <a:bodyPr wrap="square">
            <a:spAutoFit/>
          </a:bodyPr>
          <a:lstStyle/>
          <a:p>
            <a:pPr algn="l"/>
            <a:r>
              <a:rPr sz="1000" b="0" i="0">
                <a:solidFill>
                  <a:srgbClr val="94A3B8"/>
                </a:solidFill>
                <a:latin typeface="Calibri"/>
              </a:rPr>
              <a:t>Staff submit evidence links/files. Managers Approve or Reject with a full audit trail — no ambiguity.</a:t>
            </a:r>
          </a:p>
        </p:txBody>
      </p:sp>
      <p:sp>
        <p:nvSpPr>
          <p:cNvPr id="24" name="Rectangle 23"/>
          <p:cNvSpPr/>
          <p:nvPr/>
        </p:nvSpPr>
        <p:spPr>
          <a:xfrm>
            <a:off x="365760" y="4572000"/>
            <a:ext cx="3749039"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572000"/>
            <a:ext cx="3749039"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4736592"/>
            <a:ext cx="457200" cy="411480"/>
          </a:xfrm>
          <a:prstGeom prst="rect">
            <a:avLst/>
          </a:prstGeom>
          <a:noFill/>
        </p:spPr>
        <p:txBody>
          <a:bodyPr wrap="square">
            <a:spAutoFit/>
          </a:bodyPr>
          <a:lstStyle/>
          <a:p>
            <a:pPr algn="l"/>
            <a:r>
              <a:rPr sz="1800" b="0" i="0">
                <a:solidFill>
                  <a:srgbClr val="F59E0B"/>
                </a:solidFill>
                <a:latin typeface="Calibri"/>
              </a:rPr>
              <a:t>🤖</a:t>
            </a:r>
          </a:p>
        </p:txBody>
      </p:sp>
      <p:sp>
        <p:nvSpPr>
          <p:cNvPr id="27" name="TextBox 26"/>
          <p:cNvSpPr txBox="1"/>
          <p:nvPr/>
        </p:nvSpPr>
        <p:spPr>
          <a:xfrm>
            <a:off x="1005840" y="4736592"/>
            <a:ext cx="2926080" cy="502920"/>
          </a:xfrm>
          <a:prstGeom prst="rect">
            <a:avLst/>
          </a:prstGeom>
          <a:noFill/>
        </p:spPr>
        <p:txBody>
          <a:bodyPr wrap="square">
            <a:spAutoFit/>
          </a:bodyPr>
          <a:lstStyle/>
          <a:p>
            <a:pPr algn="l"/>
            <a:r>
              <a:rPr sz="1200" b="1" i="0">
                <a:solidFill>
                  <a:srgbClr val="FFFFFF"/>
                </a:solidFill>
                <a:latin typeface="Calibri"/>
              </a:rPr>
              <a:t>AI Co-Pilot
Assistant</a:t>
            </a:r>
          </a:p>
        </p:txBody>
      </p:sp>
      <p:sp>
        <p:nvSpPr>
          <p:cNvPr id="28" name="TextBox 27"/>
          <p:cNvSpPr txBox="1"/>
          <p:nvPr/>
        </p:nvSpPr>
        <p:spPr>
          <a:xfrm>
            <a:off x="530352" y="5285232"/>
            <a:ext cx="3474720" cy="914400"/>
          </a:xfrm>
          <a:prstGeom prst="rect">
            <a:avLst/>
          </a:prstGeom>
          <a:noFill/>
        </p:spPr>
        <p:txBody>
          <a:bodyPr wrap="square">
            <a:spAutoFit/>
          </a:bodyPr>
          <a:lstStyle/>
          <a:p>
            <a:pPr algn="l"/>
            <a:r>
              <a:rPr sz="1000" b="0" i="0">
                <a:solidFill>
                  <a:srgbClr val="94A3B8"/>
                </a:solidFill>
                <a:latin typeface="Calibri"/>
              </a:rPr>
              <a:t>One-click AI guidance generates execution steps, templates and research summaries for every task.</a:t>
            </a:r>
          </a:p>
        </p:txBody>
      </p:sp>
      <p:sp>
        <p:nvSpPr>
          <p:cNvPr id="29" name="Rectangle 28"/>
          <p:cNvSpPr/>
          <p:nvPr/>
        </p:nvSpPr>
        <p:spPr>
          <a:xfrm>
            <a:off x="4343400" y="4572000"/>
            <a:ext cx="3749039"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43400" y="4572000"/>
            <a:ext cx="3749039"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07992" y="4736592"/>
            <a:ext cx="457200" cy="411480"/>
          </a:xfrm>
          <a:prstGeom prst="rect">
            <a:avLst/>
          </a:prstGeom>
          <a:noFill/>
        </p:spPr>
        <p:txBody>
          <a:bodyPr wrap="square">
            <a:spAutoFit/>
          </a:bodyPr>
          <a:lstStyle/>
          <a:p>
            <a:pPr algn="l"/>
            <a:r>
              <a:rPr sz="1800" b="0" i="0">
                <a:solidFill>
                  <a:srgbClr val="F43F5E"/>
                </a:solidFill>
                <a:latin typeface="Calibri"/>
              </a:rPr>
              <a:t>📧</a:t>
            </a:r>
          </a:p>
        </p:txBody>
      </p:sp>
      <p:sp>
        <p:nvSpPr>
          <p:cNvPr id="32" name="TextBox 31"/>
          <p:cNvSpPr txBox="1"/>
          <p:nvPr/>
        </p:nvSpPr>
        <p:spPr>
          <a:xfrm>
            <a:off x="4983480" y="4736592"/>
            <a:ext cx="2926080" cy="502920"/>
          </a:xfrm>
          <a:prstGeom prst="rect">
            <a:avLst/>
          </a:prstGeom>
          <a:noFill/>
        </p:spPr>
        <p:txBody>
          <a:bodyPr wrap="square">
            <a:spAutoFit/>
          </a:bodyPr>
          <a:lstStyle/>
          <a:p>
            <a:pPr algn="l"/>
            <a:r>
              <a:rPr sz="1200" b="1" i="0">
                <a:solidFill>
                  <a:srgbClr val="FFFFFF"/>
                </a:solidFill>
                <a:latin typeface="Calibri"/>
              </a:rPr>
              <a:t>Automated
Email Alerts</a:t>
            </a:r>
          </a:p>
        </p:txBody>
      </p:sp>
      <p:sp>
        <p:nvSpPr>
          <p:cNvPr id="33" name="TextBox 32"/>
          <p:cNvSpPr txBox="1"/>
          <p:nvPr/>
        </p:nvSpPr>
        <p:spPr>
          <a:xfrm>
            <a:off x="4507992" y="5285232"/>
            <a:ext cx="3474720" cy="914400"/>
          </a:xfrm>
          <a:prstGeom prst="rect">
            <a:avLst/>
          </a:prstGeom>
          <a:noFill/>
        </p:spPr>
        <p:txBody>
          <a:bodyPr wrap="square">
            <a:spAutoFit/>
          </a:bodyPr>
          <a:lstStyle/>
          <a:p>
            <a:pPr algn="l"/>
            <a:r>
              <a:rPr sz="1000" b="0" i="0">
                <a:solidFill>
                  <a:srgbClr val="94A3B8"/>
                </a:solidFill>
                <a:latin typeface="Calibri"/>
              </a:rPr>
              <a:t>Instant email notifications for meeting invites, task assignments, deadlines and reminders — zero manual chasing.</a:t>
            </a:r>
          </a:p>
        </p:txBody>
      </p:sp>
      <p:sp>
        <p:nvSpPr>
          <p:cNvPr id="34" name="Rectangle 33"/>
          <p:cNvSpPr/>
          <p:nvPr/>
        </p:nvSpPr>
        <p:spPr>
          <a:xfrm>
            <a:off x="8321040" y="4572000"/>
            <a:ext cx="3749039" cy="1737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1040" y="4572000"/>
            <a:ext cx="3749039" cy="54864"/>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85632" y="4736592"/>
            <a:ext cx="457200" cy="411480"/>
          </a:xfrm>
          <a:prstGeom prst="rect">
            <a:avLst/>
          </a:prstGeom>
          <a:noFill/>
        </p:spPr>
        <p:txBody>
          <a:bodyPr wrap="square">
            <a:spAutoFit/>
          </a:bodyPr>
          <a:lstStyle/>
          <a:p>
            <a:pPr algn="l"/>
            <a:r>
              <a:rPr sz="1800" b="0" i="0">
                <a:solidFill>
                  <a:srgbClr val="A85CFF"/>
                </a:solidFill>
                <a:latin typeface="Calibri"/>
              </a:rPr>
              <a:t>📊</a:t>
            </a:r>
          </a:p>
        </p:txBody>
      </p:sp>
      <p:sp>
        <p:nvSpPr>
          <p:cNvPr id="37" name="TextBox 36"/>
          <p:cNvSpPr txBox="1"/>
          <p:nvPr/>
        </p:nvSpPr>
        <p:spPr>
          <a:xfrm>
            <a:off x="8961119" y="4736592"/>
            <a:ext cx="2926080" cy="502920"/>
          </a:xfrm>
          <a:prstGeom prst="rect">
            <a:avLst/>
          </a:prstGeom>
          <a:noFill/>
        </p:spPr>
        <p:txBody>
          <a:bodyPr wrap="square">
            <a:spAutoFit/>
          </a:bodyPr>
          <a:lstStyle/>
          <a:p>
            <a:pPr algn="l"/>
            <a:r>
              <a:rPr sz="1200" b="1" i="0">
                <a:solidFill>
                  <a:srgbClr val="FFFFFF"/>
                </a:solidFill>
                <a:latin typeface="Calibri"/>
              </a:rPr>
              <a:t>Performance
Dashboard</a:t>
            </a:r>
          </a:p>
        </p:txBody>
      </p:sp>
      <p:sp>
        <p:nvSpPr>
          <p:cNvPr id="38" name="TextBox 37"/>
          <p:cNvSpPr txBox="1"/>
          <p:nvPr/>
        </p:nvSpPr>
        <p:spPr>
          <a:xfrm>
            <a:off x="8485632" y="5285232"/>
            <a:ext cx="3474720" cy="914400"/>
          </a:xfrm>
          <a:prstGeom prst="rect">
            <a:avLst/>
          </a:prstGeom>
          <a:noFill/>
        </p:spPr>
        <p:txBody>
          <a:bodyPr wrap="square">
            <a:spAutoFit/>
          </a:bodyPr>
          <a:lstStyle/>
          <a:p>
            <a:pPr algn="l"/>
            <a:r>
              <a:rPr sz="1000" b="0" i="0">
                <a:solidFill>
                  <a:srgbClr val="94A3B8"/>
                </a:solidFill>
                <a:latin typeface="Calibri"/>
              </a:rPr>
              <a:t>Live metrics on task resolution rates, turnaround times and team efficiency — per project and across all teams.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5486400" cy="548640"/>
          </a:xfrm>
          <a:prstGeom prst="rect">
            <a:avLst/>
          </a:prstGeom>
          <a:noFill/>
        </p:spPr>
        <p:txBody>
          <a:bodyPr wrap="square">
            <a:spAutoFit/>
          </a:bodyPr>
          <a:lstStyle/>
          <a:p>
            <a:pPr algn="l"/>
            <a:r>
              <a:rPr sz="2800" b="1" i="0">
                <a:solidFill>
                  <a:srgbClr val="FFFFFF"/>
                </a:solidFill>
                <a:latin typeface="Calibri"/>
              </a:rPr>
              <a:t>How It Works</a:t>
            </a:r>
          </a:p>
        </p:txBody>
      </p:sp>
      <p:sp>
        <p:nvSpPr>
          <p:cNvPr id="4" name="TextBox 3"/>
          <p:cNvSpPr txBox="1"/>
          <p:nvPr/>
        </p:nvSpPr>
        <p:spPr>
          <a:xfrm>
            <a:off x="548640" y="749808"/>
            <a:ext cx="9144000" cy="365760"/>
          </a:xfrm>
          <a:prstGeom prst="rect">
            <a:avLst/>
          </a:prstGeom>
          <a:noFill/>
        </p:spPr>
        <p:txBody>
          <a:bodyPr wrap="square">
            <a:spAutoFit/>
          </a:bodyPr>
          <a:lstStyle/>
          <a:p>
            <a:pPr algn="l"/>
            <a:r>
              <a:rPr sz="1300" b="0" i="0">
                <a:solidFill>
                  <a:srgbClr val="94A3B8"/>
                </a:solidFill>
                <a:latin typeface="Calibri"/>
              </a:rPr>
              <a:t>End-to-end workflow — from meeting room to verified delivery</a:t>
            </a:r>
          </a:p>
        </p:txBody>
      </p:sp>
      <p:sp>
        <p:nvSpPr>
          <p:cNvPr id="5" name="Rectangle 4"/>
          <p:cNvSpPr/>
          <p:nvPr/>
        </p:nvSpPr>
        <p:spPr>
          <a:xfrm>
            <a:off x="548640" y="1115568"/>
            <a:ext cx="10972800" cy="228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977639"/>
            <a:ext cx="10515600" cy="3657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3813048"/>
            <a:ext cx="402336" cy="402336"/>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71600"/>
            <a:ext cx="1828800" cy="2423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71600"/>
            <a:ext cx="182880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508760"/>
            <a:ext cx="502920" cy="2926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27048"/>
            <a:ext cx="411480" cy="292608"/>
          </a:xfrm>
          <a:prstGeom prst="rect">
            <a:avLst/>
          </a:prstGeom>
          <a:noFill/>
        </p:spPr>
        <p:txBody>
          <a:bodyPr wrap="square">
            <a:spAutoFit/>
          </a:bodyPr>
          <a:lstStyle/>
          <a:p>
            <a:pPr algn="ctr"/>
            <a:r>
              <a:rPr sz="1100" b="1" i="0">
                <a:solidFill>
                  <a:srgbClr val="FFFFFF"/>
                </a:solidFill>
                <a:latin typeface="Calibri"/>
              </a:rPr>
              <a:t>01</a:t>
            </a:r>
          </a:p>
        </p:txBody>
      </p:sp>
      <p:sp>
        <p:nvSpPr>
          <p:cNvPr id="12" name="TextBox 11"/>
          <p:cNvSpPr txBox="1"/>
          <p:nvPr/>
        </p:nvSpPr>
        <p:spPr>
          <a:xfrm>
            <a:off x="521208" y="1920240"/>
            <a:ext cx="1691640" cy="640080"/>
          </a:xfrm>
          <a:prstGeom prst="rect">
            <a:avLst/>
          </a:prstGeom>
          <a:noFill/>
        </p:spPr>
        <p:txBody>
          <a:bodyPr wrap="square">
            <a:spAutoFit/>
          </a:bodyPr>
          <a:lstStyle/>
          <a:p>
            <a:pPr algn="l"/>
            <a:r>
              <a:rPr sz="1200" b="1" i="0">
                <a:solidFill>
                  <a:srgbClr val="FFFFFF"/>
                </a:solidFill>
                <a:latin typeface="Calibri"/>
              </a:rPr>
              <a:t>Schedule
Meeting</a:t>
            </a:r>
          </a:p>
        </p:txBody>
      </p:sp>
      <p:sp>
        <p:nvSpPr>
          <p:cNvPr id="13" name="TextBox 12"/>
          <p:cNvSpPr txBox="1"/>
          <p:nvPr/>
        </p:nvSpPr>
        <p:spPr>
          <a:xfrm>
            <a:off x="521208" y="2606040"/>
            <a:ext cx="1664208" cy="1051560"/>
          </a:xfrm>
          <a:prstGeom prst="rect">
            <a:avLst/>
          </a:prstGeom>
          <a:noFill/>
        </p:spPr>
        <p:txBody>
          <a:bodyPr wrap="square">
            <a:spAutoFit/>
          </a:bodyPr>
          <a:lstStyle/>
          <a:p>
            <a:pPr algn="l"/>
            <a:r>
              <a:rPr sz="950" b="0" i="0">
                <a:solidFill>
                  <a:srgbClr val="94A3B8"/>
                </a:solidFill>
                <a:latin typeface="Calibri"/>
              </a:rPr>
              <a:t>Principal/Manager creates meeting, selects attendees &amp; project. Automatic email invitations sent instantly.</a:t>
            </a:r>
          </a:p>
        </p:txBody>
      </p:sp>
      <p:sp>
        <p:nvSpPr>
          <p:cNvPr id="14" name="TextBox 13"/>
          <p:cNvSpPr txBox="1"/>
          <p:nvPr/>
        </p:nvSpPr>
        <p:spPr>
          <a:xfrm>
            <a:off x="2194560" y="3776472"/>
            <a:ext cx="320040" cy="365760"/>
          </a:xfrm>
          <a:prstGeom prst="rect">
            <a:avLst/>
          </a:prstGeom>
          <a:noFill/>
        </p:spPr>
        <p:txBody>
          <a:bodyPr wrap="square">
            <a:spAutoFit/>
          </a:bodyPr>
          <a:lstStyle/>
          <a:p>
            <a:pPr algn="ctr"/>
            <a:r>
              <a:rPr sz="1600" b="0" i="0">
                <a:solidFill>
                  <a:srgbClr val="4B5563"/>
                </a:solidFill>
                <a:latin typeface="Calibri"/>
              </a:rPr>
              <a:t>→</a:t>
            </a:r>
          </a:p>
        </p:txBody>
      </p:sp>
      <p:sp>
        <p:nvSpPr>
          <p:cNvPr id="15" name="Oval 14"/>
          <p:cNvSpPr/>
          <p:nvPr/>
        </p:nvSpPr>
        <p:spPr>
          <a:xfrm>
            <a:off x="2926080" y="3813048"/>
            <a:ext cx="402336" cy="402336"/>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31720" y="1371600"/>
            <a:ext cx="1828800" cy="2423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1720" y="1371600"/>
            <a:ext cx="182880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23160" y="1508760"/>
            <a:ext cx="502920" cy="2926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80" y="1527048"/>
            <a:ext cx="411480" cy="292608"/>
          </a:xfrm>
          <a:prstGeom prst="rect">
            <a:avLst/>
          </a:prstGeom>
          <a:noFill/>
        </p:spPr>
        <p:txBody>
          <a:bodyPr wrap="square">
            <a:spAutoFit/>
          </a:bodyPr>
          <a:lstStyle/>
          <a:p>
            <a:pPr algn="ctr"/>
            <a:r>
              <a:rPr sz="1100" b="1" i="0">
                <a:solidFill>
                  <a:srgbClr val="FFFFFF"/>
                </a:solidFill>
                <a:latin typeface="Calibri"/>
              </a:rPr>
              <a:t>02</a:t>
            </a:r>
          </a:p>
        </p:txBody>
      </p:sp>
      <p:sp>
        <p:nvSpPr>
          <p:cNvPr id="20" name="TextBox 19"/>
          <p:cNvSpPr txBox="1"/>
          <p:nvPr/>
        </p:nvSpPr>
        <p:spPr>
          <a:xfrm>
            <a:off x="2441448" y="1920240"/>
            <a:ext cx="1691640" cy="640080"/>
          </a:xfrm>
          <a:prstGeom prst="rect">
            <a:avLst/>
          </a:prstGeom>
          <a:noFill/>
        </p:spPr>
        <p:txBody>
          <a:bodyPr wrap="square">
            <a:spAutoFit/>
          </a:bodyPr>
          <a:lstStyle/>
          <a:p>
            <a:pPr algn="l"/>
            <a:r>
              <a:rPr sz="1200" b="1" i="0">
                <a:solidFill>
                  <a:srgbClr val="FFFFFF"/>
                </a:solidFill>
                <a:latin typeface="Calibri"/>
              </a:rPr>
              <a:t>Record &amp;
Transcribe</a:t>
            </a:r>
          </a:p>
        </p:txBody>
      </p:sp>
      <p:sp>
        <p:nvSpPr>
          <p:cNvPr id="21" name="TextBox 20"/>
          <p:cNvSpPr txBox="1"/>
          <p:nvPr/>
        </p:nvSpPr>
        <p:spPr>
          <a:xfrm>
            <a:off x="2441448" y="2606040"/>
            <a:ext cx="1664208" cy="1051560"/>
          </a:xfrm>
          <a:prstGeom prst="rect">
            <a:avLst/>
          </a:prstGeom>
          <a:noFill/>
        </p:spPr>
        <p:txBody>
          <a:bodyPr wrap="square">
            <a:spAutoFit/>
          </a:bodyPr>
          <a:lstStyle/>
          <a:p>
            <a:pPr algn="l"/>
            <a:r>
              <a:rPr sz="950" b="0" i="0">
                <a:solidFill>
                  <a:srgbClr val="94A3B8"/>
                </a:solidFill>
                <a:latin typeface="Calibri"/>
              </a:rPr>
              <a:t>Live recording in the meeting room. Gemini AI transcribes speech and extracts action points in real-time.</a:t>
            </a:r>
          </a:p>
        </p:txBody>
      </p:sp>
      <p:sp>
        <p:nvSpPr>
          <p:cNvPr id="22" name="TextBox 21"/>
          <p:cNvSpPr txBox="1"/>
          <p:nvPr/>
        </p:nvSpPr>
        <p:spPr>
          <a:xfrm>
            <a:off x="4114800" y="3776472"/>
            <a:ext cx="320040" cy="365760"/>
          </a:xfrm>
          <a:prstGeom prst="rect">
            <a:avLst/>
          </a:prstGeom>
          <a:noFill/>
        </p:spPr>
        <p:txBody>
          <a:bodyPr wrap="square">
            <a:spAutoFit/>
          </a:bodyPr>
          <a:lstStyle/>
          <a:p>
            <a:pPr algn="ctr"/>
            <a:r>
              <a:rPr sz="1600" b="0" i="0">
                <a:solidFill>
                  <a:srgbClr val="4B5563"/>
                </a:solidFill>
                <a:latin typeface="Calibri"/>
              </a:rPr>
              <a:t>→</a:t>
            </a:r>
          </a:p>
        </p:txBody>
      </p:sp>
      <p:sp>
        <p:nvSpPr>
          <p:cNvPr id="23" name="Oval 22"/>
          <p:cNvSpPr/>
          <p:nvPr/>
        </p:nvSpPr>
        <p:spPr>
          <a:xfrm>
            <a:off x="4846320" y="3813048"/>
            <a:ext cx="402336" cy="40233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1371600"/>
            <a:ext cx="1828800" cy="2423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51960" y="1371600"/>
            <a:ext cx="18288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43400" y="1508760"/>
            <a:ext cx="502920"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1527048"/>
            <a:ext cx="411480" cy="292608"/>
          </a:xfrm>
          <a:prstGeom prst="rect">
            <a:avLst/>
          </a:prstGeom>
          <a:noFill/>
        </p:spPr>
        <p:txBody>
          <a:bodyPr wrap="square">
            <a:spAutoFit/>
          </a:bodyPr>
          <a:lstStyle/>
          <a:p>
            <a:pPr algn="ctr"/>
            <a:r>
              <a:rPr sz="1100" b="1" i="0">
                <a:solidFill>
                  <a:srgbClr val="FFFFFF"/>
                </a:solidFill>
                <a:latin typeface="Calibri"/>
              </a:rPr>
              <a:t>03</a:t>
            </a:r>
          </a:p>
        </p:txBody>
      </p:sp>
      <p:sp>
        <p:nvSpPr>
          <p:cNvPr id="28" name="TextBox 27"/>
          <p:cNvSpPr txBox="1"/>
          <p:nvPr/>
        </p:nvSpPr>
        <p:spPr>
          <a:xfrm>
            <a:off x="4361688" y="1920240"/>
            <a:ext cx="1691640" cy="640080"/>
          </a:xfrm>
          <a:prstGeom prst="rect">
            <a:avLst/>
          </a:prstGeom>
          <a:noFill/>
        </p:spPr>
        <p:txBody>
          <a:bodyPr wrap="square">
            <a:spAutoFit/>
          </a:bodyPr>
          <a:lstStyle/>
          <a:p>
            <a:pPr algn="l"/>
            <a:r>
              <a:rPr sz="1200" b="1" i="0">
                <a:solidFill>
                  <a:srgbClr val="FFFFFF"/>
                </a:solidFill>
                <a:latin typeface="Calibri"/>
              </a:rPr>
              <a:t>Assign
Tasks</a:t>
            </a:r>
          </a:p>
        </p:txBody>
      </p:sp>
      <p:sp>
        <p:nvSpPr>
          <p:cNvPr id="29" name="TextBox 28"/>
          <p:cNvSpPr txBox="1"/>
          <p:nvPr/>
        </p:nvSpPr>
        <p:spPr>
          <a:xfrm>
            <a:off x="4361688" y="2606040"/>
            <a:ext cx="1664208" cy="1051560"/>
          </a:xfrm>
          <a:prstGeom prst="rect">
            <a:avLst/>
          </a:prstGeom>
          <a:noFill/>
        </p:spPr>
        <p:txBody>
          <a:bodyPr wrap="square">
            <a:spAutoFit/>
          </a:bodyPr>
          <a:lstStyle/>
          <a:p>
            <a:pPr algn="l"/>
            <a:r>
              <a:rPr sz="950" b="0" i="0">
                <a:solidFill>
                  <a:srgbClr val="94A3B8"/>
                </a:solidFill>
                <a:latin typeface="Calibri"/>
              </a:rPr>
              <a:t>Action points are auto-assigned to relevant staff with due dates, priority levels and AI execution guidance.</a:t>
            </a:r>
          </a:p>
        </p:txBody>
      </p:sp>
      <p:sp>
        <p:nvSpPr>
          <p:cNvPr id="30" name="TextBox 29"/>
          <p:cNvSpPr txBox="1"/>
          <p:nvPr/>
        </p:nvSpPr>
        <p:spPr>
          <a:xfrm>
            <a:off x="6035040" y="3776472"/>
            <a:ext cx="320040" cy="365760"/>
          </a:xfrm>
          <a:prstGeom prst="rect">
            <a:avLst/>
          </a:prstGeom>
          <a:noFill/>
        </p:spPr>
        <p:txBody>
          <a:bodyPr wrap="square">
            <a:spAutoFit/>
          </a:bodyPr>
          <a:lstStyle/>
          <a:p>
            <a:pPr algn="ctr"/>
            <a:r>
              <a:rPr sz="1600" b="0" i="0">
                <a:solidFill>
                  <a:srgbClr val="4B5563"/>
                </a:solidFill>
                <a:latin typeface="Calibri"/>
              </a:rPr>
              <a:t>→</a:t>
            </a:r>
          </a:p>
        </p:txBody>
      </p:sp>
      <p:sp>
        <p:nvSpPr>
          <p:cNvPr id="31" name="Oval 30"/>
          <p:cNvSpPr/>
          <p:nvPr/>
        </p:nvSpPr>
        <p:spPr>
          <a:xfrm>
            <a:off x="6766560" y="3813048"/>
            <a:ext cx="402336" cy="40233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1371600"/>
            <a:ext cx="1828800" cy="2423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1371600"/>
            <a:ext cx="18288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63640" y="1508760"/>
            <a:ext cx="502920" cy="2926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1527048"/>
            <a:ext cx="411480" cy="292608"/>
          </a:xfrm>
          <a:prstGeom prst="rect">
            <a:avLst/>
          </a:prstGeom>
          <a:noFill/>
        </p:spPr>
        <p:txBody>
          <a:bodyPr wrap="square">
            <a:spAutoFit/>
          </a:bodyPr>
          <a:lstStyle/>
          <a:p>
            <a:pPr algn="ctr"/>
            <a:r>
              <a:rPr sz="1100" b="1" i="0">
                <a:solidFill>
                  <a:srgbClr val="FFFFFF"/>
                </a:solidFill>
                <a:latin typeface="Calibri"/>
              </a:rPr>
              <a:t>04</a:t>
            </a:r>
          </a:p>
        </p:txBody>
      </p:sp>
      <p:sp>
        <p:nvSpPr>
          <p:cNvPr id="36" name="TextBox 35"/>
          <p:cNvSpPr txBox="1"/>
          <p:nvPr/>
        </p:nvSpPr>
        <p:spPr>
          <a:xfrm>
            <a:off x="6281928" y="1920240"/>
            <a:ext cx="1691640" cy="640080"/>
          </a:xfrm>
          <a:prstGeom prst="rect">
            <a:avLst/>
          </a:prstGeom>
          <a:noFill/>
        </p:spPr>
        <p:txBody>
          <a:bodyPr wrap="square">
            <a:spAutoFit/>
          </a:bodyPr>
          <a:lstStyle/>
          <a:p>
            <a:pPr algn="l"/>
            <a:r>
              <a:rPr sz="1200" b="1" i="0">
                <a:solidFill>
                  <a:srgbClr val="FFFFFF"/>
                </a:solidFill>
                <a:latin typeface="Calibri"/>
              </a:rPr>
              <a:t>Staff
Executes</a:t>
            </a:r>
          </a:p>
        </p:txBody>
      </p:sp>
      <p:sp>
        <p:nvSpPr>
          <p:cNvPr id="37" name="TextBox 36"/>
          <p:cNvSpPr txBox="1"/>
          <p:nvPr/>
        </p:nvSpPr>
        <p:spPr>
          <a:xfrm>
            <a:off x="6281928" y="2606040"/>
            <a:ext cx="1664208" cy="1051560"/>
          </a:xfrm>
          <a:prstGeom prst="rect">
            <a:avLst/>
          </a:prstGeom>
          <a:noFill/>
        </p:spPr>
        <p:txBody>
          <a:bodyPr wrap="square">
            <a:spAutoFit/>
          </a:bodyPr>
          <a:lstStyle/>
          <a:p>
            <a:pPr algn="l"/>
            <a:r>
              <a:rPr sz="950" b="0" i="0">
                <a:solidFill>
                  <a:srgbClr val="94A3B8"/>
                </a:solidFill>
                <a:latin typeface="Calibri"/>
              </a:rPr>
              <a:t>Staff receives email, views task board, uses AI Co-Pilot for guidance, and submits proof of completion.</a:t>
            </a:r>
          </a:p>
        </p:txBody>
      </p:sp>
      <p:sp>
        <p:nvSpPr>
          <p:cNvPr id="38" name="TextBox 37"/>
          <p:cNvSpPr txBox="1"/>
          <p:nvPr/>
        </p:nvSpPr>
        <p:spPr>
          <a:xfrm>
            <a:off x="7955280" y="3776472"/>
            <a:ext cx="320040" cy="365760"/>
          </a:xfrm>
          <a:prstGeom prst="rect">
            <a:avLst/>
          </a:prstGeom>
          <a:noFill/>
        </p:spPr>
        <p:txBody>
          <a:bodyPr wrap="square">
            <a:spAutoFit/>
          </a:bodyPr>
          <a:lstStyle/>
          <a:p>
            <a:pPr algn="ctr"/>
            <a:r>
              <a:rPr sz="1600" b="0" i="0">
                <a:solidFill>
                  <a:srgbClr val="4B5563"/>
                </a:solidFill>
                <a:latin typeface="Calibri"/>
              </a:rPr>
              <a:t>→</a:t>
            </a:r>
          </a:p>
        </p:txBody>
      </p:sp>
      <p:sp>
        <p:nvSpPr>
          <p:cNvPr id="39" name="Oval 38"/>
          <p:cNvSpPr/>
          <p:nvPr/>
        </p:nvSpPr>
        <p:spPr>
          <a:xfrm>
            <a:off x="8686800" y="3813048"/>
            <a:ext cx="402336" cy="402336"/>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92440" y="1371600"/>
            <a:ext cx="1828800" cy="2423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92440" y="1371600"/>
            <a:ext cx="182880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183879" y="1508760"/>
            <a:ext cx="502920" cy="29260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1527048"/>
            <a:ext cx="411480" cy="292608"/>
          </a:xfrm>
          <a:prstGeom prst="rect">
            <a:avLst/>
          </a:prstGeom>
          <a:noFill/>
        </p:spPr>
        <p:txBody>
          <a:bodyPr wrap="square">
            <a:spAutoFit/>
          </a:bodyPr>
          <a:lstStyle/>
          <a:p>
            <a:pPr algn="ctr"/>
            <a:r>
              <a:rPr sz="1100" b="1" i="0">
                <a:solidFill>
                  <a:srgbClr val="FFFFFF"/>
                </a:solidFill>
                <a:latin typeface="Calibri"/>
              </a:rPr>
              <a:t>05</a:t>
            </a:r>
          </a:p>
        </p:txBody>
      </p:sp>
      <p:sp>
        <p:nvSpPr>
          <p:cNvPr id="44" name="TextBox 43"/>
          <p:cNvSpPr txBox="1"/>
          <p:nvPr/>
        </p:nvSpPr>
        <p:spPr>
          <a:xfrm>
            <a:off x="8202167" y="1920240"/>
            <a:ext cx="1691640" cy="640080"/>
          </a:xfrm>
          <a:prstGeom prst="rect">
            <a:avLst/>
          </a:prstGeom>
          <a:noFill/>
        </p:spPr>
        <p:txBody>
          <a:bodyPr wrap="square">
            <a:spAutoFit/>
          </a:bodyPr>
          <a:lstStyle/>
          <a:p>
            <a:pPr algn="l"/>
            <a:r>
              <a:rPr sz="1200" b="1" i="0">
                <a:solidFill>
                  <a:srgbClr val="FFFFFF"/>
                </a:solidFill>
                <a:latin typeface="Calibri"/>
              </a:rPr>
              <a:t>Manager
Verifies</a:t>
            </a:r>
          </a:p>
        </p:txBody>
      </p:sp>
      <p:sp>
        <p:nvSpPr>
          <p:cNvPr id="45" name="TextBox 44"/>
          <p:cNvSpPr txBox="1"/>
          <p:nvPr/>
        </p:nvSpPr>
        <p:spPr>
          <a:xfrm>
            <a:off x="8202167" y="2606040"/>
            <a:ext cx="1664208" cy="1051560"/>
          </a:xfrm>
          <a:prstGeom prst="rect">
            <a:avLst/>
          </a:prstGeom>
          <a:noFill/>
        </p:spPr>
        <p:txBody>
          <a:bodyPr wrap="square">
            <a:spAutoFit/>
          </a:bodyPr>
          <a:lstStyle/>
          <a:p>
            <a:pPr algn="l"/>
            <a:r>
              <a:rPr sz="950" b="0" i="0">
                <a:solidFill>
                  <a:srgbClr val="94A3B8"/>
                </a:solidFill>
                <a:latin typeface="Calibri"/>
              </a:rPr>
              <a:t>Manager reviews submitted evidence and approves or rejects with feedback — full audit trail maintained.</a:t>
            </a:r>
          </a:p>
        </p:txBody>
      </p:sp>
      <p:sp>
        <p:nvSpPr>
          <p:cNvPr id="46" name="TextBox 45"/>
          <p:cNvSpPr txBox="1"/>
          <p:nvPr/>
        </p:nvSpPr>
        <p:spPr>
          <a:xfrm>
            <a:off x="9875519" y="3776472"/>
            <a:ext cx="320040" cy="365760"/>
          </a:xfrm>
          <a:prstGeom prst="rect">
            <a:avLst/>
          </a:prstGeom>
          <a:noFill/>
        </p:spPr>
        <p:txBody>
          <a:bodyPr wrap="square">
            <a:spAutoFit/>
          </a:bodyPr>
          <a:lstStyle/>
          <a:p>
            <a:pPr algn="ctr"/>
            <a:r>
              <a:rPr sz="1600" b="0" i="0">
                <a:solidFill>
                  <a:srgbClr val="4B5563"/>
                </a:solidFill>
                <a:latin typeface="Calibri"/>
              </a:rPr>
              <a:t>→</a:t>
            </a:r>
          </a:p>
        </p:txBody>
      </p:sp>
      <p:sp>
        <p:nvSpPr>
          <p:cNvPr id="47" name="Oval 46"/>
          <p:cNvSpPr/>
          <p:nvPr/>
        </p:nvSpPr>
        <p:spPr>
          <a:xfrm>
            <a:off x="10607040" y="3813048"/>
            <a:ext cx="402336" cy="402336"/>
          </a:xfrm>
          <a:prstGeom prst="ellipse">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012680" y="1371600"/>
            <a:ext cx="1828800" cy="2423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012680" y="1371600"/>
            <a:ext cx="1828800" cy="54864"/>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104119" y="1508760"/>
            <a:ext cx="502920" cy="292608"/>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49840" y="1527048"/>
            <a:ext cx="411480" cy="292608"/>
          </a:xfrm>
          <a:prstGeom prst="rect">
            <a:avLst/>
          </a:prstGeom>
          <a:noFill/>
        </p:spPr>
        <p:txBody>
          <a:bodyPr wrap="square">
            <a:spAutoFit/>
          </a:bodyPr>
          <a:lstStyle/>
          <a:p>
            <a:pPr algn="ctr"/>
            <a:r>
              <a:rPr sz="1100" b="1" i="0">
                <a:solidFill>
                  <a:srgbClr val="FFFFFF"/>
                </a:solidFill>
                <a:latin typeface="Calibri"/>
              </a:rPr>
              <a:t>06</a:t>
            </a:r>
          </a:p>
        </p:txBody>
      </p:sp>
      <p:sp>
        <p:nvSpPr>
          <p:cNvPr id="52" name="TextBox 51"/>
          <p:cNvSpPr txBox="1"/>
          <p:nvPr/>
        </p:nvSpPr>
        <p:spPr>
          <a:xfrm>
            <a:off x="10122407" y="1920240"/>
            <a:ext cx="1691640" cy="640080"/>
          </a:xfrm>
          <a:prstGeom prst="rect">
            <a:avLst/>
          </a:prstGeom>
          <a:noFill/>
        </p:spPr>
        <p:txBody>
          <a:bodyPr wrap="square">
            <a:spAutoFit/>
          </a:bodyPr>
          <a:lstStyle/>
          <a:p>
            <a:pPr algn="l"/>
            <a:r>
              <a:rPr sz="1200" b="1" i="0">
                <a:solidFill>
                  <a:srgbClr val="FFFFFF"/>
                </a:solidFill>
                <a:latin typeface="Calibri"/>
              </a:rPr>
              <a:t>Dashboard
Insights</a:t>
            </a:r>
          </a:p>
        </p:txBody>
      </p:sp>
      <p:sp>
        <p:nvSpPr>
          <p:cNvPr id="53" name="TextBox 52"/>
          <p:cNvSpPr txBox="1"/>
          <p:nvPr/>
        </p:nvSpPr>
        <p:spPr>
          <a:xfrm>
            <a:off x="10122407" y="2606040"/>
            <a:ext cx="1664208" cy="1051560"/>
          </a:xfrm>
          <a:prstGeom prst="rect">
            <a:avLst/>
          </a:prstGeom>
          <a:noFill/>
        </p:spPr>
        <p:txBody>
          <a:bodyPr wrap="square">
            <a:spAutoFit/>
          </a:bodyPr>
          <a:lstStyle/>
          <a:p>
            <a:pPr algn="l"/>
            <a:r>
              <a:rPr sz="950" b="0" i="0">
                <a:solidFill>
                  <a:srgbClr val="94A3B8"/>
                </a:solidFill>
                <a:latin typeface="Calibri"/>
              </a:rPr>
              <a:t>Performance metrics updated live. Turnaround rates, resolution scores and efficiency gains tracked per project.</a:t>
            </a:r>
          </a:p>
        </p:txBody>
      </p:sp>
      <p:sp>
        <p:nvSpPr>
          <p:cNvPr id="54" name="Rectangle 53"/>
          <p:cNvSpPr/>
          <p:nvPr/>
        </p:nvSpPr>
        <p:spPr>
          <a:xfrm>
            <a:off x="365760" y="4434840"/>
            <a:ext cx="11430000" cy="7772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4553712"/>
            <a:ext cx="11064240" cy="548640"/>
          </a:xfrm>
          <a:prstGeom prst="rect">
            <a:avLst/>
          </a:prstGeom>
          <a:noFill/>
        </p:spPr>
        <p:txBody>
          <a:bodyPr wrap="square">
            <a:spAutoFit/>
          </a:bodyPr>
          <a:lstStyle/>
          <a:p>
            <a:pPr algn="l"/>
            <a:r>
              <a:rPr sz="1100" b="0" i="1">
                <a:solidFill>
                  <a:srgbClr val="FFFFFF"/>
                </a:solidFill>
                <a:latin typeface="Calibri"/>
              </a:rPr>
              <a:t>⚡  The entire loop — from meeting to verified delivery — runs automatically. No manual follow-up emails. No lost action points. No ambiguity.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48640"/>
          </a:xfrm>
          <a:prstGeom prst="rect">
            <a:avLst/>
          </a:prstGeom>
          <a:noFill/>
        </p:spPr>
        <p:txBody>
          <a:bodyPr wrap="square">
            <a:spAutoFit/>
          </a:bodyPr>
          <a:lstStyle/>
          <a:p>
            <a:pPr algn="l"/>
            <a:r>
              <a:rPr sz="2800" b="1" i="0">
                <a:solidFill>
                  <a:srgbClr val="FFFFFF"/>
                </a:solidFill>
                <a:latin typeface="Calibri"/>
              </a:rPr>
              <a:t>User Roles &amp; Access Levels</a:t>
            </a:r>
          </a:p>
        </p:txBody>
      </p:sp>
      <p:sp>
        <p:nvSpPr>
          <p:cNvPr id="4" name="TextBox 3"/>
          <p:cNvSpPr txBox="1"/>
          <p:nvPr/>
        </p:nvSpPr>
        <p:spPr>
          <a:xfrm>
            <a:off x="548640" y="749808"/>
            <a:ext cx="9144000" cy="365760"/>
          </a:xfrm>
          <a:prstGeom prst="rect">
            <a:avLst/>
          </a:prstGeom>
          <a:noFill/>
        </p:spPr>
        <p:txBody>
          <a:bodyPr wrap="square">
            <a:spAutoFit/>
          </a:bodyPr>
          <a:lstStyle/>
          <a:p>
            <a:pPr algn="l"/>
            <a:r>
              <a:rPr sz="1300" b="0" i="0">
                <a:solidFill>
                  <a:srgbClr val="94A3B8"/>
                </a:solidFill>
                <a:latin typeface="Calibri"/>
              </a:rPr>
              <a:t>Role-based access control ensures everyone sees exactly what they need</a:t>
            </a:r>
          </a:p>
        </p:txBody>
      </p:sp>
      <p:sp>
        <p:nvSpPr>
          <p:cNvPr id="5" name="Rectangle 4"/>
          <p:cNvSpPr/>
          <p:nvPr/>
        </p:nvSpPr>
        <p:spPr>
          <a:xfrm>
            <a:off x="548640" y="1115568"/>
            <a:ext cx="10972800"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3566160" cy="5120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3566160" cy="82296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548640" cy="640080"/>
          </a:xfrm>
          <a:prstGeom prst="rect">
            <a:avLst/>
          </a:prstGeom>
          <a:noFill/>
        </p:spPr>
        <p:txBody>
          <a:bodyPr wrap="square">
            <a:spAutoFit/>
          </a:bodyPr>
          <a:lstStyle/>
          <a:p>
            <a:pPr algn="l"/>
            <a:r>
              <a:rPr sz="2200" b="0" i="0">
                <a:solidFill>
                  <a:srgbClr val="FFFFFF"/>
                </a:solidFill>
                <a:latin typeface="Calibri"/>
              </a:rPr>
              <a:t>👑</a:t>
            </a:r>
          </a:p>
        </p:txBody>
      </p:sp>
      <p:sp>
        <p:nvSpPr>
          <p:cNvPr id="9" name="TextBox 8"/>
          <p:cNvSpPr txBox="1"/>
          <p:nvPr/>
        </p:nvSpPr>
        <p:spPr>
          <a:xfrm>
            <a:off x="1325880" y="1463040"/>
            <a:ext cx="2560320" cy="685800"/>
          </a:xfrm>
          <a:prstGeom prst="rect">
            <a:avLst/>
          </a:prstGeom>
          <a:noFill/>
        </p:spPr>
        <p:txBody>
          <a:bodyPr wrap="square">
            <a:spAutoFit/>
          </a:bodyPr>
          <a:lstStyle/>
          <a:p>
            <a:pPr algn="l"/>
            <a:r>
              <a:rPr sz="1500" b="1" i="0">
                <a:solidFill>
                  <a:srgbClr val="FFFFFF"/>
                </a:solidFill>
                <a:latin typeface="Calibri"/>
              </a:rPr>
              <a:t>Principal
(Admin)</a:t>
            </a:r>
          </a:p>
        </p:txBody>
      </p:sp>
      <p:sp>
        <p:nvSpPr>
          <p:cNvPr id="10" name="Oval 9"/>
          <p:cNvSpPr/>
          <p:nvPr/>
        </p:nvSpPr>
        <p:spPr>
          <a:xfrm>
            <a:off x="731520" y="2423160"/>
            <a:ext cx="228600" cy="22860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40487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12" name="TextBox 11"/>
          <p:cNvSpPr txBox="1"/>
          <p:nvPr/>
        </p:nvSpPr>
        <p:spPr>
          <a:xfrm>
            <a:off x="1051560" y="2377440"/>
            <a:ext cx="2926080" cy="502920"/>
          </a:xfrm>
          <a:prstGeom prst="rect">
            <a:avLst/>
          </a:prstGeom>
          <a:noFill/>
        </p:spPr>
        <p:txBody>
          <a:bodyPr wrap="square">
            <a:spAutoFit/>
          </a:bodyPr>
          <a:lstStyle/>
          <a:p>
            <a:pPr algn="l"/>
            <a:r>
              <a:rPr sz="1050" b="0" i="0">
                <a:solidFill>
                  <a:srgbClr val="CBD5E1"/>
                </a:solidFill>
                <a:latin typeface="Calibri"/>
              </a:rPr>
              <a:t>Full system access</a:t>
            </a:r>
          </a:p>
        </p:txBody>
      </p:sp>
      <p:sp>
        <p:nvSpPr>
          <p:cNvPr id="13" name="Oval 12"/>
          <p:cNvSpPr/>
          <p:nvPr/>
        </p:nvSpPr>
        <p:spPr>
          <a:xfrm>
            <a:off x="731520" y="3063239"/>
            <a:ext cx="228600" cy="22860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044951"/>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15" name="TextBox 14"/>
          <p:cNvSpPr txBox="1"/>
          <p:nvPr/>
        </p:nvSpPr>
        <p:spPr>
          <a:xfrm>
            <a:off x="1051560" y="3017520"/>
            <a:ext cx="2926080" cy="502920"/>
          </a:xfrm>
          <a:prstGeom prst="rect">
            <a:avLst/>
          </a:prstGeom>
          <a:noFill/>
        </p:spPr>
        <p:txBody>
          <a:bodyPr wrap="square">
            <a:spAutoFit/>
          </a:bodyPr>
          <a:lstStyle/>
          <a:p>
            <a:pPr algn="l"/>
            <a:r>
              <a:rPr sz="1050" b="0" i="0">
                <a:solidFill>
                  <a:srgbClr val="CBD5E1"/>
                </a:solidFill>
                <a:latin typeface="Calibri"/>
              </a:rPr>
              <a:t>Onboard &amp; manage all users</a:t>
            </a:r>
          </a:p>
        </p:txBody>
      </p:sp>
      <p:sp>
        <p:nvSpPr>
          <p:cNvPr id="16" name="Oval 15"/>
          <p:cNvSpPr/>
          <p:nvPr/>
        </p:nvSpPr>
        <p:spPr>
          <a:xfrm>
            <a:off x="731520" y="3703320"/>
            <a:ext cx="228600" cy="22860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8503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18" name="TextBox 17"/>
          <p:cNvSpPr txBox="1"/>
          <p:nvPr/>
        </p:nvSpPr>
        <p:spPr>
          <a:xfrm>
            <a:off x="1051560" y="3657600"/>
            <a:ext cx="2926080" cy="502920"/>
          </a:xfrm>
          <a:prstGeom prst="rect">
            <a:avLst/>
          </a:prstGeom>
          <a:noFill/>
        </p:spPr>
        <p:txBody>
          <a:bodyPr wrap="square">
            <a:spAutoFit/>
          </a:bodyPr>
          <a:lstStyle/>
          <a:p>
            <a:pPr algn="l"/>
            <a:r>
              <a:rPr sz="1050" b="0" i="0">
                <a:solidFill>
                  <a:srgbClr val="CBD5E1"/>
                </a:solidFill>
                <a:latin typeface="Calibri"/>
              </a:rPr>
              <a:t>View all meetings &amp; projects</a:t>
            </a:r>
          </a:p>
        </p:txBody>
      </p:sp>
      <p:sp>
        <p:nvSpPr>
          <p:cNvPr id="19" name="Oval 18"/>
          <p:cNvSpPr/>
          <p:nvPr/>
        </p:nvSpPr>
        <p:spPr>
          <a:xfrm>
            <a:off x="731520" y="4343399"/>
            <a:ext cx="228600" cy="22860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32511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21" name="TextBox 20"/>
          <p:cNvSpPr txBox="1"/>
          <p:nvPr/>
        </p:nvSpPr>
        <p:spPr>
          <a:xfrm>
            <a:off x="1051560" y="4297679"/>
            <a:ext cx="2926080" cy="502920"/>
          </a:xfrm>
          <a:prstGeom prst="rect">
            <a:avLst/>
          </a:prstGeom>
          <a:noFill/>
        </p:spPr>
        <p:txBody>
          <a:bodyPr wrap="square">
            <a:spAutoFit/>
          </a:bodyPr>
          <a:lstStyle/>
          <a:p>
            <a:pPr algn="l"/>
            <a:r>
              <a:rPr sz="1050" b="0" i="0">
                <a:solidFill>
                  <a:srgbClr val="CBD5E1"/>
                </a:solidFill>
                <a:latin typeface="Calibri"/>
              </a:rPr>
              <a:t>Approve/reject across all teams</a:t>
            </a:r>
          </a:p>
        </p:txBody>
      </p:sp>
      <p:sp>
        <p:nvSpPr>
          <p:cNvPr id="22" name="Oval 21"/>
          <p:cNvSpPr/>
          <p:nvPr/>
        </p:nvSpPr>
        <p:spPr>
          <a:xfrm>
            <a:off x="731520" y="4983480"/>
            <a:ext cx="228600" cy="22860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96519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24" name="TextBox 23"/>
          <p:cNvSpPr txBox="1"/>
          <p:nvPr/>
        </p:nvSpPr>
        <p:spPr>
          <a:xfrm>
            <a:off x="1051560" y="4937760"/>
            <a:ext cx="2926080" cy="502920"/>
          </a:xfrm>
          <a:prstGeom prst="rect">
            <a:avLst/>
          </a:prstGeom>
          <a:noFill/>
        </p:spPr>
        <p:txBody>
          <a:bodyPr wrap="square">
            <a:spAutoFit/>
          </a:bodyPr>
          <a:lstStyle/>
          <a:p>
            <a:pPr algn="l"/>
            <a:r>
              <a:rPr sz="1050" b="0" i="0">
                <a:solidFill>
                  <a:srgbClr val="CBD5E1"/>
                </a:solidFill>
                <a:latin typeface="Calibri"/>
              </a:rPr>
              <a:t>Access analytics dashboard</a:t>
            </a:r>
          </a:p>
        </p:txBody>
      </p:sp>
      <p:sp>
        <p:nvSpPr>
          <p:cNvPr id="25" name="Oval 24"/>
          <p:cNvSpPr/>
          <p:nvPr/>
        </p:nvSpPr>
        <p:spPr>
          <a:xfrm>
            <a:off x="731520" y="5623559"/>
            <a:ext cx="228600" cy="22860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60527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27" name="TextBox 26"/>
          <p:cNvSpPr txBox="1"/>
          <p:nvPr/>
        </p:nvSpPr>
        <p:spPr>
          <a:xfrm>
            <a:off x="1051560" y="5577840"/>
            <a:ext cx="2926080" cy="502920"/>
          </a:xfrm>
          <a:prstGeom prst="rect">
            <a:avLst/>
          </a:prstGeom>
          <a:noFill/>
        </p:spPr>
        <p:txBody>
          <a:bodyPr wrap="square">
            <a:spAutoFit/>
          </a:bodyPr>
          <a:lstStyle/>
          <a:p>
            <a:pPr algn="l"/>
            <a:r>
              <a:rPr sz="1050" b="0" i="0">
                <a:solidFill>
                  <a:srgbClr val="CBD5E1"/>
                </a:solidFill>
                <a:latin typeface="Calibri"/>
              </a:rPr>
              <a:t>Assign Manager role to staff</a:t>
            </a:r>
          </a:p>
        </p:txBody>
      </p:sp>
      <p:sp>
        <p:nvSpPr>
          <p:cNvPr id="28" name="Rectangle 27"/>
          <p:cNvSpPr/>
          <p:nvPr/>
        </p:nvSpPr>
        <p:spPr>
          <a:xfrm>
            <a:off x="4389120" y="1371600"/>
            <a:ext cx="3566160" cy="5120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89120" y="1371600"/>
            <a:ext cx="3566160" cy="8229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0" y="1417320"/>
            <a:ext cx="548640" cy="640080"/>
          </a:xfrm>
          <a:prstGeom prst="rect">
            <a:avLst/>
          </a:prstGeom>
          <a:noFill/>
        </p:spPr>
        <p:txBody>
          <a:bodyPr wrap="square">
            <a:spAutoFit/>
          </a:bodyPr>
          <a:lstStyle/>
          <a:p>
            <a:pPr algn="l"/>
            <a:r>
              <a:rPr sz="2200" b="0" i="0">
                <a:solidFill>
                  <a:srgbClr val="FFFFFF"/>
                </a:solidFill>
                <a:latin typeface="Calibri"/>
              </a:rPr>
              <a:t>🎯</a:t>
            </a:r>
          </a:p>
        </p:txBody>
      </p:sp>
      <p:sp>
        <p:nvSpPr>
          <p:cNvPr id="31" name="TextBox 30"/>
          <p:cNvSpPr txBox="1"/>
          <p:nvPr/>
        </p:nvSpPr>
        <p:spPr>
          <a:xfrm>
            <a:off x="5166359" y="1463040"/>
            <a:ext cx="2560320" cy="685800"/>
          </a:xfrm>
          <a:prstGeom prst="rect">
            <a:avLst/>
          </a:prstGeom>
          <a:noFill/>
        </p:spPr>
        <p:txBody>
          <a:bodyPr wrap="square">
            <a:spAutoFit/>
          </a:bodyPr>
          <a:lstStyle/>
          <a:p>
            <a:pPr algn="l"/>
            <a:r>
              <a:rPr sz="1500" b="1" i="0">
                <a:solidFill>
                  <a:srgbClr val="FFFFFF"/>
                </a:solidFill>
                <a:latin typeface="Calibri"/>
              </a:rPr>
              <a:t>Project
Manager</a:t>
            </a:r>
          </a:p>
        </p:txBody>
      </p:sp>
      <p:sp>
        <p:nvSpPr>
          <p:cNvPr id="32" name="Oval 31"/>
          <p:cNvSpPr/>
          <p:nvPr/>
        </p:nvSpPr>
        <p:spPr>
          <a:xfrm>
            <a:off x="4572000" y="2423160"/>
            <a:ext cx="228600" cy="2286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90288" y="240487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34" name="TextBox 33"/>
          <p:cNvSpPr txBox="1"/>
          <p:nvPr/>
        </p:nvSpPr>
        <p:spPr>
          <a:xfrm>
            <a:off x="4892040" y="2377440"/>
            <a:ext cx="2926080" cy="502920"/>
          </a:xfrm>
          <a:prstGeom prst="rect">
            <a:avLst/>
          </a:prstGeom>
          <a:noFill/>
        </p:spPr>
        <p:txBody>
          <a:bodyPr wrap="square">
            <a:spAutoFit/>
          </a:bodyPr>
          <a:lstStyle/>
          <a:p>
            <a:pPr algn="l"/>
            <a:r>
              <a:rPr sz="1050" b="0" i="0">
                <a:solidFill>
                  <a:srgbClr val="CBD5E1"/>
                </a:solidFill>
                <a:latin typeface="Calibri"/>
              </a:rPr>
              <a:t>Create &amp; schedule meetings</a:t>
            </a:r>
          </a:p>
        </p:txBody>
      </p:sp>
      <p:sp>
        <p:nvSpPr>
          <p:cNvPr id="35" name="Oval 34"/>
          <p:cNvSpPr/>
          <p:nvPr/>
        </p:nvSpPr>
        <p:spPr>
          <a:xfrm>
            <a:off x="4572000" y="3063239"/>
            <a:ext cx="228600" cy="2286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0288" y="3044951"/>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37" name="TextBox 36"/>
          <p:cNvSpPr txBox="1"/>
          <p:nvPr/>
        </p:nvSpPr>
        <p:spPr>
          <a:xfrm>
            <a:off x="4892040" y="3017520"/>
            <a:ext cx="2926080" cy="502920"/>
          </a:xfrm>
          <a:prstGeom prst="rect">
            <a:avLst/>
          </a:prstGeom>
          <a:noFill/>
        </p:spPr>
        <p:txBody>
          <a:bodyPr wrap="square">
            <a:spAutoFit/>
          </a:bodyPr>
          <a:lstStyle/>
          <a:p>
            <a:pPr algn="l"/>
            <a:r>
              <a:rPr sz="1050" b="0" i="0">
                <a:solidFill>
                  <a:srgbClr val="CBD5E1"/>
                </a:solidFill>
                <a:latin typeface="Calibri"/>
              </a:rPr>
              <a:t>Manage meetings they organise</a:t>
            </a:r>
          </a:p>
        </p:txBody>
      </p:sp>
      <p:sp>
        <p:nvSpPr>
          <p:cNvPr id="38" name="Oval 37"/>
          <p:cNvSpPr/>
          <p:nvPr/>
        </p:nvSpPr>
        <p:spPr>
          <a:xfrm>
            <a:off x="4572000" y="3703320"/>
            <a:ext cx="228600" cy="2286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90288" y="368503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40" name="TextBox 39"/>
          <p:cNvSpPr txBox="1"/>
          <p:nvPr/>
        </p:nvSpPr>
        <p:spPr>
          <a:xfrm>
            <a:off x="4892040" y="3657600"/>
            <a:ext cx="2926080" cy="502920"/>
          </a:xfrm>
          <a:prstGeom prst="rect">
            <a:avLst/>
          </a:prstGeom>
          <a:noFill/>
        </p:spPr>
        <p:txBody>
          <a:bodyPr wrap="square">
            <a:spAutoFit/>
          </a:bodyPr>
          <a:lstStyle/>
          <a:p>
            <a:pPr algn="l"/>
            <a:r>
              <a:rPr sz="1050" b="0" i="0">
                <a:solidFill>
                  <a:srgbClr val="CBD5E1"/>
                </a:solidFill>
                <a:latin typeface="Calibri"/>
              </a:rPr>
              <a:t>Assign action points to staff</a:t>
            </a:r>
          </a:p>
        </p:txBody>
      </p:sp>
      <p:sp>
        <p:nvSpPr>
          <p:cNvPr id="41" name="Oval 40"/>
          <p:cNvSpPr/>
          <p:nvPr/>
        </p:nvSpPr>
        <p:spPr>
          <a:xfrm>
            <a:off x="4572000" y="4343399"/>
            <a:ext cx="228600" cy="2286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90288" y="432511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43" name="TextBox 42"/>
          <p:cNvSpPr txBox="1"/>
          <p:nvPr/>
        </p:nvSpPr>
        <p:spPr>
          <a:xfrm>
            <a:off x="4892040" y="4297679"/>
            <a:ext cx="2926080" cy="502920"/>
          </a:xfrm>
          <a:prstGeom prst="rect">
            <a:avLst/>
          </a:prstGeom>
          <a:noFill/>
        </p:spPr>
        <p:txBody>
          <a:bodyPr wrap="square">
            <a:spAutoFit/>
          </a:bodyPr>
          <a:lstStyle/>
          <a:p>
            <a:pPr algn="l"/>
            <a:r>
              <a:rPr sz="1050" b="0" i="0">
                <a:solidFill>
                  <a:srgbClr val="CBD5E1"/>
                </a:solidFill>
                <a:latin typeface="Calibri"/>
              </a:rPr>
              <a:t>Review &amp; verify proof of work</a:t>
            </a:r>
          </a:p>
        </p:txBody>
      </p:sp>
      <p:sp>
        <p:nvSpPr>
          <p:cNvPr id="44" name="Oval 43"/>
          <p:cNvSpPr/>
          <p:nvPr/>
        </p:nvSpPr>
        <p:spPr>
          <a:xfrm>
            <a:off x="4572000" y="4983480"/>
            <a:ext cx="228600" cy="2286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90288" y="496519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46" name="TextBox 45"/>
          <p:cNvSpPr txBox="1"/>
          <p:nvPr/>
        </p:nvSpPr>
        <p:spPr>
          <a:xfrm>
            <a:off x="4892040" y="4937760"/>
            <a:ext cx="2926080" cy="502920"/>
          </a:xfrm>
          <a:prstGeom prst="rect">
            <a:avLst/>
          </a:prstGeom>
          <a:noFill/>
        </p:spPr>
        <p:txBody>
          <a:bodyPr wrap="square">
            <a:spAutoFit/>
          </a:bodyPr>
          <a:lstStyle/>
          <a:p>
            <a:pPr algn="l"/>
            <a:r>
              <a:rPr sz="1050" b="0" i="0">
                <a:solidFill>
                  <a:srgbClr val="CBD5E1"/>
                </a:solidFill>
                <a:latin typeface="Calibri"/>
              </a:rPr>
              <a:t>Send reminders to assignees</a:t>
            </a:r>
          </a:p>
        </p:txBody>
      </p:sp>
      <p:sp>
        <p:nvSpPr>
          <p:cNvPr id="47" name="Oval 46"/>
          <p:cNvSpPr/>
          <p:nvPr/>
        </p:nvSpPr>
        <p:spPr>
          <a:xfrm>
            <a:off x="4572000" y="5623559"/>
            <a:ext cx="228600" cy="2286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90288" y="560527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49" name="TextBox 48"/>
          <p:cNvSpPr txBox="1"/>
          <p:nvPr/>
        </p:nvSpPr>
        <p:spPr>
          <a:xfrm>
            <a:off x="4892040" y="5577840"/>
            <a:ext cx="2926080" cy="502920"/>
          </a:xfrm>
          <a:prstGeom prst="rect">
            <a:avLst/>
          </a:prstGeom>
          <a:noFill/>
        </p:spPr>
        <p:txBody>
          <a:bodyPr wrap="square">
            <a:spAutoFit/>
          </a:bodyPr>
          <a:lstStyle/>
          <a:p>
            <a:pPr algn="l"/>
            <a:r>
              <a:rPr sz="1050" b="0" i="0">
                <a:solidFill>
                  <a:srgbClr val="CBD5E1"/>
                </a:solidFill>
                <a:latin typeface="Calibri"/>
              </a:rPr>
              <a:t>Access their project dashboard</a:t>
            </a:r>
          </a:p>
        </p:txBody>
      </p:sp>
      <p:sp>
        <p:nvSpPr>
          <p:cNvPr id="50" name="Rectangle 49"/>
          <p:cNvSpPr/>
          <p:nvPr/>
        </p:nvSpPr>
        <p:spPr>
          <a:xfrm>
            <a:off x="8229600" y="1371600"/>
            <a:ext cx="3566160" cy="5120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229600" y="1371600"/>
            <a:ext cx="3566160"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12480" y="1417320"/>
            <a:ext cx="548640" cy="640080"/>
          </a:xfrm>
          <a:prstGeom prst="rect">
            <a:avLst/>
          </a:prstGeom>
          <a:noFill/>
        </p:spPr>
        <p:txBody>
          <a:bodyPr wrap="square">
            <a:spAutoFit/>
          </a:bodyPr>
          <a:lstStyle/>
          <a:p>
            <a:pPr algn="l"/>
            <a:r>
              <a:rPr sz="2200" b="0" i="0">
                <a:solidFill>
                  <a:srgbClr val="FFFFFF"/>
                </a:solidFill>
                <a:latin typeface="Calibri"/>
              </a:rPr>
              <a:t>👤</a:t>
            </a:r>
          </a:p>
        </p:txBody>
      </p:sp>
      <p:sp>
        <p:nvSpPr>
          <p:cNvPr id="53" name="TextBox 52"/>
          <p:cNvSpPr txBox="1"/>
          <p:nvPr/>
        </p:nvSpPr>
        <p:spPr>
          <a:xfrm>
            <a:off x="9006840" y="1463040"/>
            <a:ext cx="2560320" cy="685800"/>
          </a:xfrm>
          <a:prstGeom prst="rect">
            <a:avLst/>
          </a:prstGeom>
          <a:noFill/>
        </p:spPr>
        <p:txBody>
          <a:bodyPr wrap="square">
            <a:spAutoFit/>
          </a:bodyPr>
          <a:lstStyle/>
          <a:p>
            <a:pPr algn="l"/>
            <a:r>
              <a:rPr sz="1500" b="1" i="0">
                <a:solidFill>
                  <a:srgbClr val="FFFFFF"/>
                </a:solidFill>
                <a:latin typeface="Calibri"/>
              </a:rPr>
              <a:t>Staff
Member</a:t>
            </a:r>
          </a:p>
        </p:txBody>
      </p:sp>
      <p:sp>
        <p:nvSpPr>
          <p:cNvPr id="54" name="Oval 53"/>
          <p:cNvSpPr/>
          <p:nvPr/>
        </p:nvSpPr>
        <p:spPr>
          <a:xfrm>
            <a:off x="8412480" y="2423160"/>
            <a:ext cx="228600" cy="2286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30768" y="240487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56" name="TextBox 55"/>
          <p:cNvSpPr txBox="1"/>
          <p:nvPr/>
        </p:nvSpPr>
        <p:spPr>
          <a:xfrm>
            <a:off x="8732520" y="2377440"/>
            <a:ext cx="2926080" cy="502920"/>
          </a:xfrm>
          <a:prstGeom prst="rect">
            <a:avLst/>
          </a:prstGeom>
          <a:noFill/>
        </p:spPr>
        <p:txBody>
          <a:bodyPr wrap="square">
            <a:spAutoFit/>
          </a:bodyPr>
          <a:lstStyle/>
          <a:p>
            <a:pPr algn="l"/>
            <a:r>
              <a:rPr sz="1050" b="0" i="0">
                <a:solidFill>
                  <a:srgbClr val="CBD5E1"/>
                </a:solidFill>
                <a:latin typeface="Calibri"/>
              </a:rPr>
              <a:t>View own action points only</a:t>
            </a:r>
          </a:p>
        </p:txBody>
      </p:sp>
      <p:sp>
        <p:nvSpPr>
          <p:cNvPr id="57" name="Oval 56"/>
          <p:cNvSpPr/>
          <p:nvPr/>
        </p:nvSpPr>
        <p:spPr>
          <a:xfrm>
            <a:off x="8412480" y="3063239"/>
            <a:ext cx="228600" cy="2286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30768" y="3044951"/>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59" name="TextBox 58"/>
          <p:cNvSpPr txBox="1"/>
          <p:nvPr/>
        </p:nvSpPr>
        <p:spPr>
          <a:xfrm>
            <a:off x="8732520" y="3017520"/>
            <a:ext cx="2926080" cy="502920"/>
          </a:xfrm>
          <a:prstGeom prst="rect">
            <a:avLst/>
          </a:prstGeom>
          <a:noFill/>
        </p:spPr>
        <p:txBody>
          <a:bodyPr wrap="square">
            <a:spAutoFit/>
          </a:bodyPr>
          <a:lstStyle/>
          <a:p>
            <a:pPr algn="l"/>
            <a:r>
              <a:rPr sz="1050" b="0" i="0">
                <a:solidFill>
                  <a:srgbClr val="CBD5E1"/>
                </a:solidFill>
                <a:latin typeface="Calibri"/>
              </a:rPr>
              <a:t>Use AI Co-Pilot for guidance</a:t>
            </a:r>
          </a:p>
        </p:txBody>
      </p:sp>
      <p:sp>
        <p:nvSpPr>
          <p:cNvPr id="60" name="Oval 59"/>
          <p:cNvSpPr/>
          <p:nvPr/>
        </p:nvSpPr>
        <p:spPr>
          <a:xfrm>
            <a:off x="8412480" y="3703320"/>
            <a:ext cx="228600" cy="2286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30768" y="368503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62" name="TextBox 61"/>
          <p:cNvSpPr txBox="1"/>
          <p:nvPr/>
        </p:nvSpPr>
        <p:spPr>
          <a:xfrm>
            <a:off x="8732520" y="3657600"/>
            <a:ext cx="2926080" cy="502920"/>
          </a:xfrm>
          <a:prstGeom prst="rect">
            <a:avLst/>
          </a:prstGeom>
          <a:noFill/>
        </p:spPr>
        <p:txBody>
          <a:bodyPr wrap="square">
            <a:spAutoFit/>
          </a:bodyPr>
          <a:lstStyle/>
          <a:p>
            <a:pPr algn="l"/>
            <a:r>
              <a:rPr sz="1050" b="0" i="0">
                <a:solidFill>
                  <a:srgbClr val="CBD5E1"/>
                </a:solidFill>
                <a:latin typeface="Calibri"/>
              </a:rPr>
              <a:t>Submit proof of completion</a:t>
            </a:r>
          </a:p>
        </p:txBody>
      </p:sp>
      <p:sp>
        <p:nvSpPr>
          <p:cNvPr id="63" name="Oval 62"/>
          <p:cNvSpPr/>
          <p:nvPr/>
        </p:nvSpPr>
        <p:spPr>
          <a:xfrm>
            <a:off x="8412480" y="4343399"/>
            <a:ext cx="228600" cy="2286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30768" y="432511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65" name="TextBox 64"/>
          <p:cNvSpPr txBox="1"/>
          <p:nvPr/>
        </p:nvSpPr>
        <p:spPr>
          <a:xfrm>
            <a:off x="8732520" y="4297679"/>
            <a:ext cx="2926080" cy="502920"/>
          </a:xfrm>
          <a:prstGeom prst="rect">
            <a:avLst/>
          </a:prstGeom>
          <a:noFill/>
        </p:spPr>
        <p:txBody>
          <a:bodyPr wrap="square">
            <a:spAutoFit/>
          </a:bodyPr>
          <a:lstStyle/>
          <a:p>
            <a:pPr algn="l"/>
            <a:r>
              <a:rPr sz="1050" b="0" i="0">
                <a:solidFill>
                  <a:srgbClr val="CBD5E1"/>
                </a:solidFill>
                <a:latin typeface="Calibri"/>
              </a:rPr>
              <a:t>Update task status (Pending/In Progress)</a:t>
            </a:r>
          </a:p>
        </p:txBody>
      </p:sp>
      <p:sp>
        <p:nvSpPr>
          <p:cNvPr id="66" name="Oval 65"/>
          <p:cNvSpPr/>
          <p:nvPr/>
        </p:nvSpPr>
        <p:spPr>
          <a:xfrm>
            <a:off x="8412480" y="4983480"/>
            <a:ext cx="228600" cy="2286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30768" y="496519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68" name="TextBox 67"/>
          <p:cNvSpPr txBox="1"/>
          <p:nvPr/>
        </p:nvSpPr>
        <p:spPr>
          <a:xfrm>
            <a:off x="8732520" y="4937760"/>
            <a:ext cx="2926080" cy="502920"/>
          </a:xfrm>
          <a:prstGeom prst="rect">
            <a:avLst/>
          </a:prstGeom>
          <a:noFill/>
        </p:spPr>
        <p:txBody>
          <a:bodyPr wrap="square">
            <a:spAutoFit/>
          </a:bodyPr>
          <a:lstStyle/>
          <a:p>
            <a:pPr algn="l"/>
            <a:r>
              <a:rPr sz="1050" b="0" i="0">
                <a:solidFill>
                  <a:srgbClr val="CBD5E1"/>
                </a:solidFill>
                <a:latin typeface="Calibri"/>
              </a:rPr>
              <a:t>Receive email notifications</a:t>
            </a:r>
          </a:p>
        </p:txBody>
      </p:sp>
      <p:sp>
        <p:nvSpPr>
          <p:cNvPr id="69" name="Oval 68"/>
          <p:cNvSpPr/>
          <p:nvPr/>
        </p:nvSpPr>
        <p:spPr>
          <a:xfrm>
            <a:off x="8412480" y="5623559"/>
            <a:ext cx="228600" cy="2286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30768" y="5605272"/>
            <a:ext cx="201168" cy="228600"/>
          </a:xfrm>
          <a:prstGeom prst="rect">
            <a:avLst/>
          </a:prstGeom>
          <a:noFill/>
        </p:spPr>
        <p:txBody>
          <a:bodyPr wrap="square">
            <a:spAutoFit/>
          </a:bodyPr>
          <a:lstStyle/>
          <a:p>
            <a:pPr algn="ctr"/>
            <a:r>
              <a:rPr sz="900" b="1" i="0">
                <a:solidFill>
                  <a:srgbClr val="FFFFFF"/>
                </a:solidFill>
                <a:latin typeface="Calibri"/>
              </a:rPr>
              <a:t>✓</a:t>
            </a:r>
          </a:p>
        </p:txBody>
      </p:sp>
      <p:sp>
        <p:nvSpPr>
          <p:cNvPr id="71" name="TextBox 70"/>
          <p:cNvSpPr txBox="1"/>
          <p:nvPr/>
        </p:nvSpPr>
        <p:spPr>
          <a:xfrm>
            <a:off x="8732520" y="5577840"/>
            <a:ext cx="2926080" cy="502920"/>
          </a:xfrm>
          <a:prstGeom prst="rect">
            <a:avLst/>
          </a:prstGeom>
          <a:noFill/>
        </p:spPr>
        <p:txBody>
          <a:bodyPr wrap="square">
            <a:spAutoFit/>
          </a:bodyPr>
          <a:lstStyle/>
          <a:p>
            <a:pPr algn="l"/>
            <a:r>
              <a:rPr sz="1050" b="0" i="0">
                <a:solidFill>
                  <a:srgbClr val="CBD5E1"/>
                </a:solidFill>
                <a:latin typeface="Calibri"/>
              </a:rPr>
              <a:t>View assigned meeting details</a:t>
            </a:r>
          </a:p>
        </p:txBody>
      </p:sp>
      <p:sp>
        <p:nvSpPr>
          <p:cNvPr id="72" name="TextBox 71"/>
          <p:cNvSpPr txBox="1"/>
          <p:nvPr/>
        </p:nvSpPr>
        <p:spPr>
          <a:xfrm>
            <a:off x="548640" y="6446520"/>
            <a:ext cx="10972800" cy="320040"/>
          </a:xfrm>
          <a:prstGeom prst="rect">
            <a:avLst/>
          </a:prstGeom>
          <a:noFill/>
        </p:spPr>
        <p:txBody>
          <a:bodyPr wrap="square">
            <a:spAutoFit/>
          </a:bodyPr>
          <a:lstStyle/>
          <a:p>
            <a:pPr algn="ctr"/>
            <a:r>
              <a:rPr sz="1100" b="0" i="1">
                <a:solidFill>
                  <a:srgbClr val="64748B"/>
                </a:solidFill>
                <a:latin typeface="Calibri"/>
              </a:rPr>
              <a:t>Principal   →   Project Manager   →   Staff Member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48640"/>
          </a:xfrm>
          <a:prstGeom prst="rect">
            <a:avLst/>
          </a:prstGeom>
          <a:noFill/>
        </p:spPr>
        <p:txBody>
          <a:bodyPr wrap="square">
            <a:spAutoFit/>
          </a:bodyPr>
          <a:lstStyle/>
          <a:p>
            <a:pPr algn="l"/>
            <a:r>
              <a:rPr sz="2800" b="1" i="0">
                <a:solidFill>
                  <a:srgbClr val="FFFFFF"/>
                </a:solidFill>
                <a:latin typeface="Calibri"/>
              </a:rPr>
              <a:t>Projects Covered</a:t>
            </a:r>
          </a:p>
        </p:txBody>
      </p:sp>
      <p:sp>
        <p:nvSpPr>
          <p:cNvPr id="4" name="TextBox 3"/>
          <p:cNvSpPr txBox="1"/>
          <p:nvPr/>
        </p:nvSpPr>
        <p:spPr>
          <a:xfrm>
            <a:off x="548640" y="749808"/>
            <a:ext cx="10058400" cy="365760"/>
          </a:xfrm>
          <a:prstGeom prst="rect">
            <a:avLst/>
          </a:prstGeom>
          <a:noFill/>
        </p:spPr>
        <p:txBody>
          <a:bodyPr wrap="square">
            <a:spAutoFit/>
          </a:bodyPr>
          <a:lstStyle/>
          <a:p>
            <a:pPr algn="l"/>
            <a:r>
              <a:rPr sz="1300" b="0" i="0">
                <a:solidFill>
                  <a:srgbClr val="94A3B8"/>
                </a:solidFill>
                <a:latin typeface="Calibri"/>
              </a:rPr>
              <a:t>The tracker serves all active SCIDaR project teams under a single unified workspace</a:t>
            </a:r>
          </a:p>
        </p:txBody>
      </p:sp>
      <p:sp>
        <p:nvSpPr>
          <p:cNvPr id="5" name="Rectangle 4"/>
          <p:cNvSpPr/>
          <p:nvPr/>
        </p:nvSpPr>
        <p:spPr>
          <a:xfrm>
            <a:off x="548640" y="1115568"/>
            <a:ext cx="10972800"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371600"/>
            <a:ext cx="210312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210312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97280" y="1600200"/>
            <a:ext cx="749808" cy="74980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1645920"/>
            <a:ext cx="713232" cy="658368"/>
          </a:xfrm>
          <a:prstGeom prst="rect">
            <a:avLst/>
          </a:prstGeom>
          <a:noFill/>
        </p:spPr>
        <p:txBody>
          <a:bodyPr wrap="square">
            <a:spAutoFit/>
          </a:bodyPr>
          <a:lstStyle/>
          <a:p>
            <a:pPr algn="ctr"/>
            <a:r>
              <a:rPr sz="2000" b="0" i="0">
                <a:solidFill>
                  <a:srgbClr val="FFFFFF"/>
                </a:solidFill>
                <a:latin typeface="Calibri"/>
              </a:rPr>
              <a:t>💉</a:t>
            </a:r>
          </a:p>
        </p:txBody>
      </p:sp>
      <p:sp>
        <p:nvSpPr>
          <p:cNvPr id="10" name="TextBox 9"/>
          <p:cNvSpPr txBox="1"/>
          <p:nvPr/>
        </p:nvSpPr>
        <p:spPr>
          <a:xfrm>
            <a:off x="521208" y="2487168"/>
            <a:ext cx="1920240" cy="640080"/>
          </a:xfrm>
          <a:prstGeom prst="rect">
            <a:avLst/>
          </a:prstGeom>
          <a:noFill/>
        </p:spPr>
        <p:txBody>
          <a:bodyPr wrap="square">
            <a:spAutoFit/>
          </a:bodyPr>
          <a:lstStyle/>
          <a:p>
            <a:pPr algn="ctr"/>
            <a:r>
              <a:rPr sz="1300" b="1" i="0">
                <a:solidFill>
                  <a:srgbClr val="FFFFFF"/>
                </a:solidFill>
                <a:latin typeface="Calibri"/>
              </a:rPr>
              <a:t>Vaccine
Financing</a:t>
            </a:r>
          </a:p>
        </p:txBody>
      </p:sp>
      <p:sp>
        <p:nvSpPr>
          <p:cNvPr id="11" name="TextBox 10"/>
          <p:cNvSpPr txBox="1"/>
          <p:nvPr/>
        </p:nvSpPr>
        <p:spPr>
          <a:xfrm>
            <a:off x="521208" y="3200400"/>
            <a:ext cx="1901952" cy="1600200"/>
          </a:xfrm>
          <a:prstGeom prst="rect">
            <a:avLst/>
          </a:prstGeom>
          <a:noFill/>
        </p:spPr>
        <p:txBody>
          <a:bodyPr wrap="square">
            <a:spAutoFit/>
          </a:bodyPr>
          <a:lstStyle/>
          <a:p>
            <a:pPr algn="ctr"/>
            <a:r>
              <a:rPr sz="950" b="0" i="0">
                <a:solidFill>
                  <a:srgbClr val="94A3B8"/>
                </a:solidFill>
                <a:latin typeface="Calibri"/>
              </a:rPr>
              <a:t>Tracking action points from donor engagements, budget allocations and health system financing meetings.</a:t>
            </a:r>
          </a:p>
        </p:txBody>
      </p:sp>
      <p:sp>
        <p:nvSpPr>
          <p:cNvPr id="12" name="Rectangle 11"/>
          <p:cNvSpPr/>
          <p:nvPr/>
        </p:nvSpPr>
        <p:spPr>
          <a:xfrm>
            <a:off x="2743200" y="1371600"/>
            <a:ext cx="210312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0" y="1371600"/>
            <a:ext cx="2103120"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29000" y="1600200"/>
            <a:ext cx="749808" cy="74980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645920"/>
            <a:ext cx="713232" cy="658368"/>
          </a:xfrm>
          <a:prstGeom prst="rect">
            <a:avLst/>
          </a:prstGeom>
          <a:noFill/>
        </p:spPr>
        <p:txBody>
          <a:bodyPr wrap="square">
            <a:spAutoFit/>
          </a:bodyPr>
          <a:lstStyle/>
          <a:p>
            <a:pPr algn="ctr"/>
            <a:r>
              <a:rPr sz="2000" b="0" i="0">
                <a:solidFill>
                  <a:srgbClr val="FFFFFF"/>
                </a:solidFill>
                <a:latin typeface="Calibri"/>
              </a:rPr>
              <a:t>💡</a:t>
            </a:r>
          </a:p>
        </p:txBody>
      </p:sp>
      <p:sp>
        <p:nvSpPr>
          <p:cNvPr id="16" name="TextBox 15"/>
          <p:cNvSpPr txBox="1"/>
          <p:nvPr/>
        </p:nvSpPr>
        <p:spPr>
          <a:xfrm>
            <a:off x="2852928" y="2487168"/>
            <a:ext cx="1920240" cy="640080"/>
          </a:xfrm>
          <a:prstGeom prst="rect">
            <a:avLst/>
          </a:prstGeom>
          <a:noFill/>
        </p:spPr>
        <p:txBody>
          <a:bodyPr wrap="square">
            <a:spAutoFit/>
          </a:bodyPr>
          <a:lstStyle/>
          <a:p>
            <a:pPr algn="ctr"/>
            <a:r>
              <a:rPr sz="1300" b="1" i="0">
                <a:solidFill>
                  <a:srgbClr val="FFFFFF"/>
                </a:solidFill>
                <a:latin typeface="Calibri"/>
              </a:rPr>
              <a:t>Innovation</a:t>
            </a:r>
          </a:p>
        </p:txBody>
      </p:sp>
      <p:sp>
        <p:nvSpPr>
          <p:cNvPr id="17" name="TextBox 16"/>
          <p:cNvSpPr txBox="1"/>
          <p:nvPr/>
        </p:nvSpPr>
        <p:spPr>
          <a:xfrm>
            <a:off x="2852928" y="3200400"/>
            <a:ext cx="1901952" cy="1600200"/>
          </a:xfrm>
          <a:prstGeom prst="rect">
            <a:avLst/>
          </a:prstGeom>
          <a:noFill/>
        </p:spPr>
        <p:txBody>
          <a:bodyPr wrap="square">
            <a:spAutoFit/>
          </a:bodyPr>
          <a:lstStyle/>
          <a:p>
            <a:pPr algn="ctr"/>
            <a:r>
              <a:rPr sz="950" b="0" i="0">
                <a:solidFill>
                  <a:srgbClr val="94A3B8"/>
                </a:solidFill>
                <a:latin typeface="Calibri"/>
              </a:rPr>
              <a:t>Capturing outcomes from ideation sessions, prototype reviews and stakeholder feedback workshops.</a:t>
            </a:r>
          </a:p>
        </p:txBody>
      </p:sp>
      <p:sp>
        <p:nvSpPr>
          <p:cNvPr id="18" name="Rectangle 17"/>
          <p:cNvSpPr/>
          <p:nvPr/>
        </p:nvSpPr>
        <p:spPr>
          <a:xfrm>
            <a:off x="5074920" y="1371600"/>
            <a:ext cx="210312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74920" y="1371600"/>
            <a:ext cx="210312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0720" y="1600200"/>
            <a:ext cx="749808" cy="74980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9008" y="1645920"/>
            <a:ext cx="713232" cy="658368"/>
          </a:xfrm>
          <a:prstGeom prst="rect">
            <a:avLst/>
          </a:prstGeom>
          <a:noFill/>
        </p:spPr>
        <p:txBody>
          <a:bodyPr wrap="square">
            <a:spAutoFit/>
          </a:bodyPr>
          <a:lstStyle/>
          <a:p>
            <a:pPr algn="ctr"/>
            <a:r>
              <a:rPr sz="2000" b="0" i="0">
                <a:solidFill>
                  <a:srgbClr val="FFFFFF"/>
                </a:solidFill>
                <a:latin typeface="Calibri"/>
              </a:rPr>
              <a:t>✨</a:t>
            </a:r>
          </a:p>
        </p:txBody>
      </p:sp>
      <p:sp>
        <p:nvSpPr>
          <p:cNvPr id="22" name="TextBox 21"/>
          <p:cNvSpPr txBox="1"/>
          <p:nvPr/>
        </p:nvSpPr>
        <p:spPr>
          <a:xfrm>
            <a:off x="5184648" y="2487168"/>
            <a:ext cx="1920240" cy="640080"/>
          </a:xfrm>
          <a:prstGeom prst="rect">
            <a:avLst/>
          </a:prstGeom>
          <a:noFill/>
        </p:spPr>
        <p:txBody>
          <a:bodyPr wrap="square">
            <a:spAutoFit/>
          </a:bodyPr>
          <a:lstStyle/>
          <a:p>
            <a:pPr algn="ctr"/>
            <a:r>
              <a:rPr sz="1300" b="1" i="0">
                <a:solidFill>
                  <a:srgbClr val="FFFFFF"/>
                </a:solidFill>
                <a:latin typeface="Calibri"/>
              </a:rPr>
              <a:t>SPARK</a:t>
            </a:r>
          </a:p>
        </p:txBody>
      </p:sp>
      <p:sp>
        <p:nvSpPr>
          <p:cNvPr id="23" name="TextBox 22"/>
          <p:cNvSpPr txBox="1"/>
          <p:nvPr/>
        </p:nvSpPr>
        <p:spPr>
          <a:xfrm>
            <a:off x="5184648" y="3200400"/>
            <a:ext cx="1901952" cy="1600200"/>
          </a:xfrm>
          <a:prstGeom prst="rect">
            <a:avLst/>
          </a:prstGeom>
          <a:noFill/>
        </p:spPr>
        <p:txBody>
          <a:bodyPr wrap="square">
            <a:spAutoFit/>
          </a:bodyPr>
          <a:lstStyle/>
          <a:p>
            <a:pPr algn="ctr"/>
            <a:r>
              <a:rPr sz="950" b="0" i="0">
                <a:solidFill>
                  <a:srgbClr val="94A3B8"/>
                </a:solidFill>
                <a:latin typeface="Calibri"/>
              </a:rPr>
              <a:t>Managing deliverables from strategy sessions, partner coordination and field implementation reviews.</a:t>
            </a:r>
          </a:p>
        </p:txBody>
      </p:sp>
      <p:sp>
        <p:nvSpPr>
          <p:cNvPr id="24" name="Rectangle 23"/>
          <p:cNvSpPr/>
          <p:nvPr/>
        </p:nvSpPr>
        <p:spPr>
          <a:xfrm>
            <a:off x="7406640" y="1371600"/>
            <a:ext cx="210312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06640" y="1371600"/>
            <a:ext cx="21031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92440" y="1600200"/>
            <a:ext cx="749808" cy="7498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10727" y="1645920"/>
            <a:ext cx="713232" cy="658368"/>
          </a:xfrm>
          <a:prstGeom prst="rect">
            <a:avLst/>
          </a:prstGeom>
          <a:noFill/>
        </p:spPr>
        <p:txBody>
          <a:bodyPr wrap="square">
            <a:spAutoFit/>
          </a:bodyPr>
          <a:lstStyle/>
          <a:p>
            <a:pPr algn="ctr"/>
            <a:r>
              <a:rPr sz="2000" b="0" i="0">
                <a:solidFill>
                  <a:srgbClr val="FFFFFF"/>
                </a:solidFill>
                <a:latin typeface="Calibri"/>
              </a:rPr>
              <a:t>📚</a:t>
            </a:r>
          </a:p>
        </p:txBody>
      </p:sp>
      <p:sp>
        <p:nvSpPr>
          <p:cNvPr id="28" name="TextBox 27"/>
          <p:cNvSpPr txBox="1"/>
          <p:nvPr/>
        </p:nvSpPr>
        <p:spPr>
          <a:xfrm>
            <a:off x="7516367" y="2487168"/>
            <a:ext cx="1920240" cy="640080"/>
          </a:xfrm>
          <a:prstGeom prst="rect">
            <a:avLst/>
          </a:prstGeom>
          <a:noFill/>
        </p:spPr>
        <p:txBody>
          <a:bodyPr wrap="square">
            <a:spAutoFit/>
          </a:bodyPr>
          <a:lstStyle/>
          <a:p>
            <a:pPr algn="ctr"/>
            <a:r>
              <a:rPr sz="1300" b="1" i="0">
                <a:solidFill>
                  <a:srgbClr val="FFFFFF"/>
                </a:solidFill>
                <a:latin typeface="Calibri"/>
              </a:rPr>
              <a:t>SAGE</a:t>
            </a:r>
          </a:p>
        </p:txBody>
      </p:sp>
      <p:sp>
        <p:nvSpPr>
          <p:cNvPr id="29" name="TextBox 28"/>
          <p:cNvSpPr txBox="1"/>
          <p:nvPr/>
        </p:nvSpPr>
        <p:spPr>
          <a:xfrm>
            <a:off x="7516367" y="3200400"/>
            <a:ext cx="1901952" cy="1600200"/>
          </a:xfrm>
          <a:prstGeom prst="rect">
            <a:avLst/>
          </a:prstGeom>
          <a:noFill/>
        </p:spPr>
        <p:txBody>
          <a:bodyPr wrap="square">
            <a:spAutoFit/>
          </a:bodyPr>
          <a:lstStyle/>
          <a:p>
            <a:pPr algn="ctr"/>
            <a:r>
              <a:rPr sz="950" b="0" i="0">
                <a:solidFill>
                  <a:srgbClr val="94A3B8"/>
                </a:solidFill>
                <a:latin typeface="Calibri"/>
              </a:rPr>
              <a:t>Monitoring research outputs, data analysis reviews and academic publication action points.</a:t>
            </a:r>
          </a:p>
        </p:txBody>
      </p:sp>
      <p:sp>
        <p:nvSpPr>
          <p:cNvPr id="30" name="Rectangle 29"/>
          <p:cNvSpPr/>
          <p:nvPr/>
        </p:nvSpPr>
        <p:spPr>
          <a:xfrm>
            <a:off x="9738359" y="1371600"/>
            <a:ext cx="210312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738359" y="1371600"/>
            <a:ext cx="2103120" cy="6400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424159" y="1600200"/>
            <a:ext cx="749808" cy="749808"/>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42447" y="1645920"/>
            <a:ext cx="713232" cy="658368"/>
          </a:xfrm>
          <a:prstGeom prst="rect">
            <a:avLst/>
          </a:prstGeom>
          <a:noFill/>
        </p:spPr>
        <p:txBody>
          <a:bodyPr wrap="square">
            <a:spAutoFit/>
          </a:bodyPr>
          <a:lstStyle/>
          <a:p>
            <a:pPr algn="ctr"/>
            <a:r>
              <a:rPr sz="2000" b="0" i="0">
                <a:solidFill>
                  <a:srgbClr val="FFFFFF"/>
                </a:solidFill>
                <a:latin typeface="Calibri"/>
              </a:rPr>
              <a:t>🌟</a:t>
            </a:r>
          </a:p>
        </p:txBody>
      </p:sp>
      <p:sp>
        <p:nvSpPr>
          <p:cNvPr id="34" name="TextBox 33"/>
          <p:cNvSpPr txBox="1"/>
          <p:nvPr/>
        </p:nvSpPr>
        <p:spPr>
          <a:xfrm>
            <a:off x="9848087" y="2487168"/>
            <a:ext cx="1920240" cy="640080"/>
          </a:xfrm>
          <a:prstGeom prst="rect">
            <a:avLst/>
          </a:prstGeom>
          <a:noFill/>
        </p:spPr>
        <p:txBody>
          <a:bodyPr wrap="square">
            <a:spAutoFit/>
          </a:bodyPr>
          <a:lstStyle/>
          <a:p>
            <a:pPr algn="ctr"/>
            <a:r>
              <a:rPr sz="1300" b="1" i="0">
                <a:solidFill>
                  <a:srgbClr val="FFFFFF"/>
                </a:solidFill>
                <a:latin typeface="Calibri"/>
              </a:rPr>
              <a:t>Talent Team</a:t>
            </a:r>
          </a:p>
        </p:txBody>
      </p:sp>
      <p:sp>
        <p:nvSpPr>
          <p:cNvPr id="35" name="TextBox 34"/>
          <p:cNvSpPr txBox="1"/>
          <p:nvPr/>
        </p:nvSpPr>
        <p:spPr>
          <a:xfrm>
            <a:off x="9848087" y="3200400"/>
            <a:ext cx="1901952" cy="1600200"/>
          </a:xfrm>
          <a:prstGeom prst="rect">
            <a:avLst/>
          </a:prstGeom>
          <a:noFill/>
        </p:spPr>
        <p:txBody>
          <a:bodyPr wrap="square">
            <a:spAutoFit/>
          </a:bodyPr>
          <a:lstStyle/>
          <a:p>
            <a:pPr algn="ctr"/>
            <a:r>
              <a:rPr sz="950" b="0" i="0">
                <a:solidFill>
                  <a:srgbClr val="94A3B8"/>
                </a:solidFill>
                <a:latin typeface="Calibri"/>
              </a:rPr>
              <a:t>Tracking HR deliverables, recruitment outcomes, training milestones and capacity-building follow-ups.</a:t>
            </a:r>
          </a:p>
        </p:txBody>
      </p:sp>
      <p:sp>
        <p:nvSpPr>
          <p:cNvPr id="36" name="Rectangle 35"/>
          <p:cNvSpPr/>
          <p:nvPr/>
        </p:nvSpPr>
        <p:spPr>
          <a:xfrm>
            <a:off x="365760" y="5989320"/>
            <a:ext cx="11430000" cy="685800"/>
          </a:xfrm>
          <a:prstGeom prst="rect">
            <a:avLst/>
          </a:prstGeom>
          <a:solidFill>
            <a:srgbClr val="0F2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6035040"/>
            <a:ext cx="1828800" cy="347472"/>
          </a:xfrm>
          <a:prstGeom prst="rect">
            <a:avLst/>
          </a:prstGeom>
          <a:noFill/>
        </p:spPr>
        <p:txBody>
          <a:bodyPr wrap="square">
            <a:spAutoFit/>
          </a:bodyPr>
          <a:lstStyle/>
          <a:p>
            <a:pPr algn="ctr"/>
            <a:r>
              <a:rPr sz="1600" b="1" i="0">
                <a:solidFill>
                  <a:srgbClr val="10B981"/>
                </a:solidFill>
                <a:latin typeface="Calibri"/>
              </a:rPr>
              <a:t>5</a:t>
            </a:r>
          </a:p>
        </p:txBody>
      </p:sp>
      <p:sp>
        <p:nvSpPr>
          <p:cNvPr id="38" name="TextBox 37"/>
          <p:cNvSpPr txBox="1"/>
          <p:nvPr/>
        </p:nvSpPr>
        <p:spPr>
          <a:xfrm>
            <a:off x="822960" y="6382512"/>
            <a:ext cx="1828800" cy="228600"/>
          </a:xfrm>
          <a:prstGeom prst="rect">
            <a:avLst/>
          </a:prstGeom>
          <a:noFill/>
        </p:spPr>
        <p:txBody>
          <a:bodyPr wrap="square">
            <a:spAutoFit/>
          </a:bodyPr>
          <a:lstStyle/>
          <a:p>
            <a:pPr algn="ctr"/>
            <a:r>
              <a:rPr sz="850" b="0" i="0">
                <a:solidFill>
                  <a:srgbClr val="64748B"/>
                </a:solidFill>
                <a:latin typeface="Calibri"/>
              </a:rPr>
              <a:t>Active Projects</a:t>
            </a:r>
          </a:p>
        </p:txBody>
      </p:sp>
      <p:sp>
        <p:nvSpPr>
          <p:cNvPr id="39" name="TextBox 38"/>
          <p:cNvSpPr txBox="1"/>
          <p:nvPr/>
        </p:nvSpPr>
        <p:spPr>
          <a:xfrm>
            <a:off x="3063240" y="6035040"/>
            <a:ext cx="1828800" cy="347472"/>
          </a:xfrm>
          <a:prstGeom prst="rect">
            <a:avLst/>
          </a:prstGeom>
          <a:noFill/>
        </p:spPr>
        <p:txBody>
          <a:bodyPr wrap="square">
            <a:spAutoFit/>
          </a:bodyPr>
          <a:lstStyle/>
          <a:p>
            <a:pPr algn="ctr"/>
            <a:r>
              <a:rPr sz="1600" b="1" i="0">
                <a:solidFill>
                  <a:srgbClr val="10B981"/>
                </a:solidFill>
                <a:latin typeface="Calibri"/>
              </a:rPr>
              <a:t>∞</a:t>
            </a:r>
          </a:p>
        </p:txBody>
      </p:sp>
      <p:sp>
        <p:nvSpPr>
          <p:cNvPr id="40" name="TextBox 39"/>
          <p:cNvSpPr txBox="1"/>
          <p:nvPr/>
        </p:nvSpPr>
        <p:spPr>
          <a:xfrm>
            <a:off x="3063240" y="6382512"/>
            <a:ext cx="1828800" cy="228600"/>
          </a:xfrm>
          <a:prstGeom prst="rect">
            <a:avLst/>
          </a:prstGeom>
          <a:noFill/>
        </p:spPr>
        <p:txBody>
          <a:bodyPr wrap="square">
            <a:spAutoFit/>
          </a:bodyPr>
          <a:lstStyle/>
          <a:p>
            <a:pPr algn="ctr"/>
            <a:r>
              <a:rPr sz="850" b="0" i="0">
                <a:solidFill>
                  <a:srgbClr val="64748B"/>
                </a:solidFill>
                <a:latin typeface="Calibri"/>
              </a:rPr>
              <a:t>Meetings Tracked</a:t>
            </a:r>
          </a:p>
        </p:txBody>
      </p:sp>
      <p:sp>
        <p:nvSpPr>
          <p:cNvPr id="41" name="TextBox 40"/>
          <p:cNvSpPr txBox="1"/>
          <p:nvPr/>
        </p:nvSpPr>
        <p:spPr>
          <a:xfrm>
            <a:off x="5303520" y="6035040"/>
            <a:ext cx="1828800" cy="347472"/>
          </a:xfrm>
          <a:prstGeom prst="rect">
            <a:avLst/>
          </a:prstGeom>
          <a:noFill/>
        </p:spPr>
        <p:txBody>
          <a:bodyPr wrap="square">
            <a:spAutoFit/>
          </a:bodyPr>
          <a:lstStyle/>
          <a:p>
            <a:pPr algn="ctr"/>
            <a:r>
              <a:rPr sz="1600" b="1" i="0">
                <a:solidFill>
                  <a:srgbClr val="10B981"/>
                </a:solidFill>
                <a:latin typeface="Calibri"/>
              </a:rPr>
              <a:t>Auto</a:t>
            </a:r>
          </a:p>
        </p:txBody>
      </p:sp>
      <p:sp>
        <p:nvSpPr>
          <p:cNvPr id="42" name="TextBox 41"/>
          <p:cNvSpPr txBox="1"/>
          <p:nvPr/>
        </p:nvSpPr>
        <p:spPr>
          <a:xfrm>
            <a:off x="5303520" y="6382512"/>
            <a:ext cx="1828800" cy="228600"/>
          </a:xfrm>
          <a:prstGeom prst="rect">
            <a:avLst/>
          </a:prstGeom>
          <a:noFill/>
        </p:spPr>
        <p:txBody>
          <a:bodyPr wrap="square">
            <a:spAutoFit/>
          </a:bodyPr>
          <a:lstStyle/>
          <a:p>
            <a:pPr algn="ctr"/>
            <a:r>
              <a:rPr sz="850" b="0" i="0">
                <a:solidFill>
                  <a:srgbClr val="64748B"/>
                </a:solidFill>
                <a:latin typeface="Calibri"/>
              </a:rPr>
              <a:t>AI Extraction</a:t>
            </a:r>
          </a:p>
        </p:txBody>
      </p:sp>
      <p:sp>
        <p:nvSpPr>
          <p:cNvPr id="43" name="TextBox 42"/>
          <p:cNvSpPr txBox="1"/>
          <p:nvPr/>
        </p:nvSpPr>
        <p:spPr>
          <a:xfrm>
            <a:off x="7543800" y="6035040"/>
            <a:ext cx="1828800" cy="347472"/>
          </a:xfrm>
          <a:prstGeom prst="rect">
            <a:avLst/>
          </a:prstGeom>
          <a:noFill/>
        </p:spPr>
        <p:txBody>
          <a:bodyPr wrap="square">
            <a:spAutoFit/>
          </a:bodyPr>
          <a:lstStyle/>
          <a:p>
            <a:pPr algn="ctr"/>
            <a:r>
              <a:rPr sz="1600" b="1" i="0">
                <a:solidFill>
                  <a:srgbClr val="10B981"/>
                </a:solidFill>
                <a:latin typeface="Calibri"/>
              </a:rPr>
              <a:t>100%</a:t>
            </a:r>
          </a:p>
        </p:txBody>
      </p:sp>
      <p:sp>
        <p:nvSpPr>
          <p:cNvPr id="44" name="TextBox 43"/>
          <p:cNvSpPr txBox="1"/>
          <p:nvPr/>
        </p:nvSpPr>
        <p:spPr>
          <a:xfrm>
            <a:off x="7543800" y="6382512"/>
            <a:ext cx="1828800" cy="228600"/>
          </a:xfrm>
          <a:prstGeom prst="rect">
            <a:avLst/>
          </a:prstGeom>
          <a:noFill/>
        </p:spPr>
        <p:txBody>
          <a:bodyPr wrap="square">
            <a:spAutoFit/>
          </a:bodyPr>
          <a:lstStyle/>
          <a:p>
            <a:pPr algn="ctr"/>
            <a:r>
              <a:rPr sz="850" b="0" i="0">
                <a:solidFill>
                  <a:srgbClr val="64748B"/>
                </a:solidFill>
                <a:latin typeface="Calibri"/>
              </a:rPr>
              <a:t>Accountability</a:t>
            </a:r>
          </a:p>
        </p:txBody>
      </p:sp>
      <p:sp>
        <p:nvSpPr>
          <p:cNvPr id="45" name="TextBox 44"/>
          <p:cNvSpPr txBox="1"/>
          <p:nvPr/>
        </p:nvSpPr>
        <p:spPr>
          <a:xfrm>
            <a:off x="9784080" y="6035040"/>
            <a:ext cx="1828800" cy="347472"/>
          </a:xfrm>
          <a:prstGeom prst="rect">
            <a:avLst/>
          </a:prstGeom>
          <a:noFill/>
        </p:spPr>
        <p:txBody>
          <a:bodyPr wrap="square">
            <a:spAutoFit/>
          </a:bodyPr>
          <a:lstStyle/>
          <a:p>
            <a:pPr algn="ctr"/>
            <a:r>
              <a:rPr sz="1600" b="1" i="0">
                <a:solidFill>
                  <a:srgbClr val="10B981"/>
                </a:solidFill>
                <a:latin typeface="Calibri"/>
              </a:rPr>
              <a:t>0</a:t>
            </a:r>
          </a:p>
        </p:txBody>
      </p:sp>
      <p:sp>
        <p:nvSpPr>
          <p:cNvPr id="46" name="TextBox 45"/>
          <p:cNvSpPr txBox="1"/>
          <p:nvPr/>
        </p:nvSpPr>
        <p:spPr>
          <a:xfrm>
            <a:off x="9784080" y="6382512"/>
            <a:ext cx="1828800" cy="228600"/>
          </a:xfrm>
          <a:prstGeom prst="rect">
            <a:avLst/>
          </a:prstGeom>
          <a:noFill/>
        </p:spPr>
        <p:txBody>
          <a:bodyPr wrap="square">
            <a:spAutoFit/>
          </a:bodyPr>
          <a:lstStyle/>
          <a:p>
            <a:pPr algn="ctr"/>
            <a:r>
              <a:rPr sz="850" b="0" i="0">
                <a:solidFill>
                  <a:srgbClr val="64748B"/>
                </a:solidFill>
                <a:latin typeface="Calibri"/>
              </a:rPr>
              <a:t>Lost Action Points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48640"/>
          </a:xfrm>
          <a:prstGeom prst="rect">
            <a:avLst/>
          </a:prstGeom>
          <a:noFill/>
        </p:spPr>
        <p:txBody>
          <a:bodyPr wrap="square">
            <a:spAutoFit/>
          </a:bodyPr>
          <a:lstStyle/>
          <a:p>
            <a:pPr algn="l"/>
            <a:r>
              <a:rPr sz="2800" b="1" i="0">
                <a:solidFill>
                  <a:srgbClr val="FFFFFF"/>
                </a:solidFill>
                <a:latin typeface="Calibri"/>
              </a:rPr>
              <a:t>AI-Powered Features</a:t>
            </a:r>
          </a:p>
        </p:txBody>
      </p:sp>
      <p:sp>
        <p:nvSpPr>
          <p:cNvPr id="4" name="TextBox 3"/>
          <p:cNvSpPr txBox="1"/>
          <p:nvPr/>
        </p:nvSpPr>
        <p:spPr>
          <a:xfrm>
            <a:off x="548640" y="749808"/>
            <a:ext cx="9144000" cy="365760"/>
          </a:xfrm>
          <a:prstGeom prst="rect">
            <a:avLst/>
          </a:prstGeom>
          <a:noFill/>
        </p:spPr>
        <p:txBody>
          <a:bodyPr wrap="square">
            <a:spAutoFit/>
          </a:bodyPr>
          <a:lstStyle/>
          <a:p>
            <a:pPr algn="l"/>
            <a:r>
              <a:rPr sz="1300" b="0" i="0">
                <a:solidFill>
                  <a:srgbClr val="94A3B8"/>
                </a:solidFill>
                <a:latin typeface="Calibri"/>
              </a:rPr>
              <a:t>Powered by Google Gemini 1.5 Flash — free tier, enterprise-grade results</a:t>
            </a:r>
          </a:p>
        </p:txBody>
      </p:sp>
      <p:sp>
        <p:nvSpPr>
          <p:cNvPr id="5" name="Rectangle 4"/>
          <p:cNvSpPr/>
          <p:nvPr/>
        </p:nvSpPr>
        <p:spPr>
          <a:xfrm>
            <a:off x="548640" y="1115568"/>
            <a:ext cx="10972800" cy="22860"/>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5394960" cy="5120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394960" cy="64008"/>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5029200" cy="502920"/>
          </a:xfrm>
          <a:prstGeom prst="rect">
            <a:avLst/>
          </a:prstGeom>
          <a:noFill/>
        </p:spPr>
        <p:txBody>
          <a:bodyPr wrap="square">
            <a:spAutoFit/>
          </a:bodyPr>
          <a:lstStyle/>
          <a:p>
            <a:pPr algn="l"/>
            <a:r>
              <a:rPr sz="1400" b="1" i="0">
                <a:solidFill>
                  <a:srgbClr val="FFFFFF"/>
                </a:solidFill>
                <a:latin typeface="Calibri"/>
              </a:rPr>
              <a:t>🎙️  AI Meeting Transcription</a:t>
            </a:r>
          </a:p>
        </p:txBody>
      </p:sp>
      <p:sp>
        <p:nvSpPr>
          <p:cNvPr id="9" name="TextBox 8"/>
          <p:cNvSpPr txBox="1"/>
          <p:nvPr/>
        </p:nvSpPr>
        <p:spPr>
          <a:xfrm>
            <a:off x="548640" y="2121408"/>
            <a:ext cx="5029200" cy="320040"/>
          </a:xfrm>
          <a:prstGeom prst="rect">
            <a:avLst/>
          </a:prstGeom>
          <a:noFill/>
        </p:spPr>
        <p:txBody>
          <a:bodyPr wrap="square">
            <a:spAutoFit/>
          </a:bodyPr>
          <a:lstStyle/>
          <a:p>
            <a:pPr algn="l"/>
            <a:r>
              <a:rPr sz="1100" b="1" i="0">
                <a:solidFill>
                  <a:srgbClr val="A85CFF"/>
                </a:solidFill>
                <a:latin typeface="Calibri"/>
              </a:rPr>
              <a:t>How it works:</a:t>
            </a:r>
          </a:p>
        </p:txBody>
      </p:sp>
      <p:sp>
        <p:nvSpPr>
          <p:cNvPr id="10" name="TextBox 9"/>
          <p:cNvSpPr txBox="1"/>
          <p:nvPr/>
        </p:nvSpPr>
        <p:spPr>
          <a:xfrm>
            <a:off x="548640" y="2542032"/>
            <a:ext cx="5120640" cy="502920"/>
          </a:xfrm>
          <a:prstGeom prst="rect">
            <a:avLst/>
          </a:prstGeom>
          <a:noFill/>
        </p:spPr>
        <p:txBody>
          <a:bodyPr wrap="square">
            <a:spAutoFit/>
          </a:bodyPr>
          <a:lstStyle/>
          <a:p>
            <a:pPr algn="l"/>
            <a:r>
              <a:rPr sz="1050" b="0" i="0">
                <a:solidFill>
                  <a:srgbClr val="CBD5E1"/>
                </a:solidFill>
                <a:latin typeface="Calibri"/>
              </a:rPr>
              <a:t>① Manager clicks 'Start Recording' inside the meeting room</a:t>
            </a:r>
          </a:p>
        </p:txBody>
      </p:sp>
      <p:sp>
        <p:nvSpPr>
          <p:cNvPr id="11" name="TextBox 10"/>
          <p:cNvSpPr txBox="1"/>
          <p:nvPr/>
        </p:nvSpPr>
        <p:spPr>
          <a:xfrm>
            <a:off x="548640" y="3145536"/>
            <a:ext cx="5120640" cy="502920"/>
          </a:xfrm>
          <a:prstGeom prst="rect">
            <a:avLst/>
          </a:prstGeom>
          <a:noFill/>
        </p:spPr>
        <p:txBody>
          <a:bodyPr wrap="square">
            <a:spAutoFit/>
          </a:bodyPr>
          <a:lstStyle/>
          <a:p>
            <a:pPr algn="l"/>
            <a:r>
              <a:rPr sz="1050" b="0" i="0">
                <a:solidFill>
                  <a:srgbClr val="CBD5E1"/>
                </a:solidFill>
                <a:latin typeface="Calibri"/>
              </a:rPr>
              <a:t>② Browser microphone captures the live session audio</a:t>
            </a:r>
          </a:p>
        </p:txBody>
      </p:sp>
      <p:sp>
        <p:nvSpPr>
          <p:cNvPr id="12" name="TextBox 11"/>
          <p:cNvSpPr txBox="1"/>
          <p:nvPr/>
        </p:nvSpPr>
        <p:spPr>
          <a:xfrm>
            <a:off x="548640" y="3749039"/>
            <a:ext cx="5120640" cy="502920"/>
          </a:xfrm>
          <a:prstGeom prst="rect">
            <a:avLst/>
          </a:prstGeom>
          <a:noFill/>
        </p:spPr>
        <p:txBody>
          <a:bodyPr wrap="square">
            <a:spAutoFit/>
          </a:bodyPr>
          <a:lstStyle/>
          <a:p>
            <a:pPr algn="l"/>
            <a:r>
              <a:rPr sz="1050" b="0" i="0">
                <a:solidFill>
                  <a:srgbClr val="CBD5E1"/>
                </a:solidFill>
                <a:latin typeface="Calibri"/>
              </a:rPr>
              <a:t>③ Audio is sent to Google Gemini 1.5 Flash for processing</a:t>
            </a:r>
          </a:p>
        </p:txBody>
      </p:sp>
      <p:sp>
        <p:nvSpPr>
          <p:cNvPr id="13" name="TextBox 12"/>
          <p:cNvSpPr txBox="1"/>
          <p:nvPr/>
        </p:nvSpPr>
        <p:spPr>
          <a:xfrm>
            <a:off x="548640" y="4352544"/>
            <a:ext cx="5120640" cy="502920"/>
          </a:xfrm>
          <a:prstGeom prst="rect">
            <a:avLst/>
          </a:prstGeom>
          <a:noFill/>
        </p:spPr>
        <p:txBody>
          <a:bodyPr wrap="square">
            <a:spAutoFit/>
          </a:bodyPr>
          <a:lstStyle/>
          <a:p>
            <a:pPr algn="l"/>
            <a:r>
              <a:rPr sz="1050" b="0" i="0">
                <a:solidFill>
                  <a:srgbClr val="CBD5E1"/>
                </a:solidFill>
                <a:latin typeface="Calibri"/>
              </a:rPr>
              <a:t>④ Gemini returns: Meeting Summary + Action Point List</a:t>
            </a:r>
          </a:p>
        </p:txBody>
      </p:sp>
      <p:sp>
        <p:nvSpPr>
          <p:cNvPr id="14" name="TextBox 13"/>
          <p:cNvSpPr txBox="1"/>
          <p:nvPr/>
        </p:nvSpPr>
        <p:spPr>
          <a:xfrm>
            <a:off x="548640" y="4956048"/>
            <a:ext cx="5120640" cy="502920"/>
          </a:xfrm>
          <a:prstGeom prst="rect">
            <a:avLst/>
          </a:prstGeom>
          <a:noFill/>
        </p:spPr>
        <p:txBody>
          <a:bodyPr wrap="square">
            <a:spAutoFit/>
          </a:bodyPr>
          <a:lstStyle/>
          <a:p>
            <a:pPr algn="l"/>
            <a:r>
              <a:rPr sz="1050" b="0" i="0">
                <a:solidFill>
                  <a:srgbClr val="CBD5E1"/>
                </a:solidFill>
                <a:latin typeface="Calibri"/>
              </a:rPr>
              <a:t>⑤ Each action point includes: assignee suggestion, due date, priority &amp; AI execution guidance</a:t>
            </a:r>
          </a:p>
        </p:txBody>
      </p:sp>
      <p:sp>
        <p:nvSpPr>
          <p:cNvPr id="15" name="TextBox 14"/>
          <p:cNvSpPr txBox="1"/>
          <p:nvPr/>
        </p:nvSpPr>
        <p:spPr>
          <a:xfrm>
            <a:off x="548640" y="5559552"/>
            <a:ext cx="5120640" cy="502920"/>
          </a:xfrm>
          <a:prstGeom prst="rect">
            <a:avLst/>
          </a:prstGeom>
          <a:noFill/>
        </p:spPr>
        <p:txBody>
          <a:bodyPr wrap="square">
            <a:spAutoFit/>
          </a:bodyPr>
          <a:lstStyle/>
          <a:p>
            <a:pPr algn="l"/>
            <a:r>
              <a:rPr sz="1050" b="0" i="0">
                <a:solidFill>
                  <a:srgbClr val="CBD5E1"/>
                </a:solidFill>
                <a:latin typeface="Calibri"/>
              </a:rPr>
              <a:t>⑥ Items are auto-created on the task board and emails dispatched</a:t>
            </a:r>
          </a:p>
        </p:txBody>
      </p:sp>
      <p:sp>
        <p:nvSpPr>
          <p:cNvPr id="16" name="Rectangle 15"/>
          <p:cNvSpPr/>
          <p:nvPr/>
        </p:nvSpPr>
        <p:spPr>
          <a:xfrm>
            <a:off x="6309360" y="1371600"/>
            <a:ext cx="5486400" cy="5120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1371600"/>
            <a:ext cx="548640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508760"/>
            <a:ext cx="5120640" cy="502920"/>
          </a:xfrm>
          <a:prstGeom prst="rect">
            <a:avLst/>
          </a:prstGeom>
          <a:noFill/>
        </p:spPr>
        <p:txBody>
          <a:bodyPr wrap="square">
            <a:spAutoFit/>
          </a:bodyPr>
          <a:lstStyle/>
          <a:p>
            <a:pPr algn="l"/>
            <a:r>
              <a:rPr sz="1400" b="1" i="0">
                <a:solidFill>
                  <a:srgbClr val="FFFFFF"/>
                </a:solidFill>
                <a:latin typeface="Calibri"/>
              </a:rPr>
              <a:t>🤖  AI Co-Pilot Assistant</a:t>
            </a:r>
          </a:p>
        </p:txBody>
      </p:sp>
      <p:sp>
        <p:nvSpPr>
          <p:cNvPr id="19" name="TextBox 18"/>
          <p:cNvSpPr txBox="1"/>
          <p:nvPr/>
        </p:nvSpPr>
        <p:spPr>
          <a:xfrm>
            <a:off x="6492240" y="2121408"/>
            <a:ext cx="5120640" cy="320040"/>
          </a:xfrm>
          <a:prstGeom prst="rect">
            <a:avLst/>
          </a:prstGeom>
          <a:noFill/>
        </p:spPr>
        <p:txBody>
          <a:bodyPr wrap="square">
            <a:spAutoFit/>
          </a:bodyPr>
          <a:lstStyle/>
          <a:p>
            <a:pPr algn="l"/>
            <a:r>
              <a:rPr sz="1100" b="1" i="0">
                <a:solidFill>
                  <a:srgbClr val="0EA5E9"/>
                </a:solidFill>
                <a:latin typeface="Calibri"/>
              </a:rPr>
              <a:t>What staff members get:</a:t>
            </a:r>
          </a:p>
        </p:txBody>
      </p:sp>
      <p:sp>
        <p:nvSpPr>
          <p:cNvPr id="20" name="Rectangle 19"/>
          <p:cNvSpPr/>
          <p:nvPr/>
        </p:nvSpPr>
        <p:spPr>
          <a:xfrm>
            <a:off x="6492240" y="2542032"/>
            <a:ext cx="36576" cy="7772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2542032"/>
            <a:ext cx="4937760" cy="347472"/>
          </a:xfrm>
          <a:prstGeom prst="rect">
            <a:avLst/>
          </a:prstGeom>
          <a:noFill/>
        </p:spPr>
        <p:txBody>
          <a:bodyPr wrap="square">
            <a:spAutoFit/>
          </a:bodyPr>
          <a:lstStyle/>
          <a:p>
            <a:pPr algn="l"/>
            <a:r>
              <a:rPr sz="1100" b="1" i="0">
                <a:solidFill>
                  <a:srgbClr val="FFFFFF"/>
                </a:solidFill>
                <a:latin typeface="Calibri"/>
              </a:rPr>
              <a:t>Step-by-step execution plan</a:t>
            </a:r>
          </a:p>
        </p:txBody>
      </p:sp>
      <p:sp>
        <p:nvSpPr>
          <p:cNvPr id="22" name="TextBox 21"/>
          <p:cNvSpPr txBox="1"/>
          <p:nvPr/>
        </p:nvSpPr>
        <p:spPr>
          <a:xfrm>
            <a:off x="6629400" y="2907791"/>
            <a:ext cx="4937760" cy="548640"/>
          </a:xfrm>
          <a:prstGeom prst="rect">
            <a:avLst/>
          </a:prstGeom>
          <a:noFill/>
        </p:spPr>
        <p:txBody>
          <a:bodyPr wrap="square">
            <a:spAutoFit/>
          </a:bodyPr>
          <a:lstStyle/>
          <a:p>
            <a:pPr algn="l"/>
            <a:r>
              <a:rPr sz="1000" b="0" i="0">
                <a:solidFill>
                  <a:srgbClr val="94A3B8"/>
                </a:solidFill>
                <a:latin typeface="Calibri"/>
              </a:rPr>
              <a:t>Breaks down the task into clear, actionable sub-steps tailored to the specific deliverable.</a:t>
            </a:r>
          </a:p>
        </p:txBody>
      </p:sp>
      <p:sp>
        <p:nvSpPr>
          <p:cNvPr id="23" name="Rectangle 22"/>
          <p:cNvSpPr/>
          <p:nvPr/>
        </p:nvSpPr>
        <p:spPr>
          <a:xfrm>
            <a:off x="6492240" y="3593591"/>
            <a:ext cx="36576" cy="7772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3593591"/>
            <a:ext cx="4937760" cy="347472"/>
          </a:xfrm>
          <a:prstGeom prst="rect">
            <a:avLst/>
          </a:prstGeom>
          <a:noFill/>
        </p:spPr>
        <p:txBody>
          <a:bodyPr wrap="square">
            <a:spAutoFit/>
          </a:bodyPr>
          <a:lstStyle/>
          <a:p>
            <a:pPr algn="l"/>
            <a:r>
              <a:rPr sz="1100" b="1" i="0">
                <a:solidFill>
                  <a:srgbClr val="FFFFFF"/>
                </a:solidFill>
                <a:latin typeface="Calibri"/>
              </a:rPr>
              <a:t>Research &amp; best practices</a:t>
            </a:r>
          </a:p>
        </p:txBody>
      </p:sp>
      <p:sp>
        <p:nvSpPr>
          <p:cNvPr id="25" name="TextBox 24"/>
          <p:cNvSpPr txBox="1"/>
          <p:nvPr/>
        </p:nvSpPr>
        <p:spPr>
          <a:xfrm>
            <a:off x="6629400" y="3959352"/>
            <a:ext cx="4937760" cy="548640"/>
          </a:xfrm>
          <a:prstGeom prst="rect">
            <a:avLst/>
          </a:prstGeom>
          <a:noFill/>
        </p:spPr>
        <p:txBody>
          <a:bodyPr wrap="square">
            <a:spAutoFit/>
          </a:bodyPr>
          <a:lstStyle/>
          <a:p>
            <a:pPr algn="l"/>
            <a:r>
              <a:rPr sz="1000" b="0" i="0">
                <a:solidFill>
                  <a:srgbClr val="94A3B8"/>
                </a:solidFill>
                <a:latin typeface="Calibri"/>
              </a:rPr>
              <a:t>Pulls relevant frameworks, templates and evidence-based approaches for the task domain.</a:t>
            </a:r>
          </a:p>
        </p:txBody>
      </p:sp>
      <p:sp>
        <p:nvSpPr>
          <p:cNvPr id="26" name="Rectangle 25"/>
          <p:cNvSpPr/>
          <p:nvPr/>
        </p:nvSpPr>
        <p:spPr>
          <a:xfrm>
            <a:off x="6492240" y="4645152"/>
            <a:ext cx="36576" cy="7772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4645152"/>
            <a:ext cx="4937760" cy="347472"/>
          </a:xfrm>
          <a:prstGeom prst="rect">
            <a:avLst/>
          </a:prstGeom>
          <a:noFill/>
        </p:spPr>
        <p:txBody>
          <a:bodyPr wrap="square">
            <a:spAutoFit/>
          </a:bodyPr>
          <a:lstStyle/>
          <a:p>
            <a:pPr algn="l"/>
            <a:r>
              <a:rPr sz="1100" b="1" i="0">
                <a:solidFill>
                  <a:srgbClr val="FFFFFF"/>
                </a:solidFill>
                <a:latin typeface="Calibri"/>
              </a:rPr>
              <a:t>Risk identification</a:t>
            </a:r>
          </a:p>
        </p:txBody>
      </p:sp>
      <p:sp>
        <p:nvSpPr>
          <p:cNvPr id="28" name="TextBox 27"/>
          <p:cNvSpPr txBox="1"/>
          <p:nvPr/>
        </p:nvSpPr>
        <p:spPr>
          <a:xfrm>
            <a:off x="6629400" y="5010912"/>
            <a:ext cx="4937760" cy="548640"/>
          </a:xfrm>
          <a:prstGeom prst="rect">
            <a:avLst/>
          </a:prstGeom>
          <a:noFill/>
        </p:spPr>
        <p:txBody>
          <a:bodyPr wrap="square">
            <a:spAutoFit/>
          </a:bodyPr>
          <a:lstStyle/>
          <a:p>
            <a:pPr algn="l"/>
            <a:r>
              <a:rPr sz="1000" b="0" i="0">
                <a:solidFill>
                  <a:srgbClr val="94A3B8"/>
                </a:solidFill>
                <a:latin typeface="Calibri"/>
              </a:rPr>
              <a:t>Flags common blockers and suggests mitigation strategies before they become issues.</a:t>
            </a:r>
          </a:p>
        </p:txBody>
      </p:sp>
      <p:sp>
        <p:nvSpPr>
          <p:cNvPr id="29" name="Rectangle 28"/>
          <p:cNvSpPr/>
          <p:nvPr/>
        </p:nvSpPr>
        <p:spPr>
          <a:xfrm>
            <a:off x="6492240" y="5696712"/>
            <a:ext cx="36576" cy="7772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5696712"/>
            <a:ext cx="4937760" cy="347472"/>
          </a:xfrm>
          <a:prstGeom prst="rect">
            <a:avLst/>
          </a:prstGeom>
          <a:noFill/>
        </p:spPr>
        <p:txBody>
          <a:bodyPr wrap="square">
            <a:spAutoFit/>
          </a:bodyPr>
          <a:lstStyle/>
          <a:p>
            <a:pPr algn="l"/>
            <a:r>
              <a:rPr sz="1100" b="1" i="0">
                <a:solidFill>
                  <a:srgbClr val="FFFFFF"/>
                </a:solidFill>
                <a:latin typeface="Calibri"/>
              </a:rPr>
              <a:t>Draft communications</a:t>
            </a:r>
          </a:p>
        </p:txBody>
      </p:sp>
      <p:sp>
        <p:nvSpPr>
          <p:cNvPr id="31" name="TextBox 30"/>
          <p:cNvSpPr txBox="1"/>
          <p:nvPr/>
        </p:nvSpPr>
        <p:spPr>
          <a:xfrm>
            <a:off x="6629400" y="6062472"/>
            <a:ext cx="4937760" cy="548640"/>
          </a:xfrm>
          <a:prstGeom prst="rect">
            <a:avLst/>
          </a:prstGeom>
          <a:noFill/>
        </p:spPr>
        <p:txBody>
          <a:bodyPr wrap="square">
            <a:spAutoFit/>
          </a:bodyPr>
          <a:lstStyle/>
          <a:p>
            <a:pPr algn="l"/>
            <a:r>
              <a:rPr sz="1000" b="0" i="0">
                <a:solidFill>
                  <a:srgbClr val="94A3B8"/>
                </a:solidFill>
                <a:latin typeface="Calibri"/>
              </a:rPr>
              <a:t>Generates email drafts, report outlines or stakeholder update templates on demand.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9144000" cy="548640"/>
          </a:xfrm>
          <a:prstGeom prst="rect">
            <a:avLst/>
          </a:prstGeom>
          <a:noFill/>
        </p:spPr>
        <p:txBody>
          <a:bodyPr wrap="square">
            <a:spAutoFit/>
          </a:bodyPr>
          <a:lstStyle/>
          <a:p>
            <a:pPr algn="l"/>
            <a:r>
              <a:rPr sz="2800" b="1" i="0">
                <a:solidFill>
                  <a:srgbClr val="FFFFFF"/>
                </a:solidFill>
                <a:latin typeface="Calibri"/>
              </a:rPr>
              <a:t>Automated Email &amp; Notification System</a:t>
            </a:r>
          </a:p>
        </p:txBody>
      </p:sp>
      <p:sp>
        <p:nvSpPr>
          <p:cNvPr id="4" name="TextBox 3"/>
          <p:cNvSpPr txBox="1"/>
          <p:nvPr/>
        </p:nvSpPr>
        <p:spPr>
          <a:xfrm>
            <a:off x="548640" y="749808"/>
            <a:ext cx="10972800" cy="365760"/>
          </a:xfrm>
          <a:prstGeom prst="rect">
            <a:avLst/>
          </a:prstGeom>
          <a:noFill/>
        </p:spPr>
        <p:txBody>
          <a:bodyPr wrap="square">
            <a:spAutoFit/>
          </a:bodyPr>
          <a:lstStyle/>
          <a:p>
            <a:pPr algn="l"/>
            <a:r>
              <a:rPr sz="1300" b="0" i="0">
                <a:solidFill>
                  <a:srgbClr val="94A3B8"/>
                </a:solidFill>
                <a:latin typeface="Calibri"/>
              </a:rPr>
              <a:t>Zero manual follow-up — every trigger sends the right email to the right person automatically</a:t>
            </a:r>
          </a:p>
        </p:txBody>
      </p:sp>
      <p:sp>
        <p:nvSpPr>
          <p:cNvPr id="5" name="Rectangle 4"/>
          <p:cNvSpPr/>
          <p:nvPr/>
        </p:nvSpPr>
        <p:spPr>
          <a:xfrm>
            <a:off x="548640" y="1115568"/>
            <a:ext cx="10972800" cy="228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557784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557784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5212080" cy="457200"/>
          </a:xfrm>
          <a:prstGeom prst="rect">
            <a:avLst/>
          </a:prstGeom>
          <a:noFill/>
        </p:spPr>
        <p:txBody>
          <a:bodyPr wrap="square">
            <a:spAutoFit/>
          </a:bodyPr>
          <a:lstStyle/>
          <a:p>
            <a:pPr algn="l"/>
            <a:r>
              <a:rPr sz="1400" b="1" i="0">
                <a:solidFill>
                  <a:srgbClr val="FFFFFF"/>
                </a:solidFill>
                <a:latin typeface="Calibri"/>
              </a:rPr>
              <a:t>📩  Meeting Invitation</a:t>
            </a:r>
          </a:p>
        </p:txBody>
      </p:sp>
      <p:sp>
        <p:nvSpPr>
          <p:cNvPr id="9" name="TextBox 8"/>
          <p:cNvSpPr txBox="1"/>
          <p:nvPr/>
        </p:nvSpPr>
        <p:spPr>
          <a:xfrm>
            <a:off x="548640" y="2130552"/>
            <a:ext cx="5212080" cy="1234440"/>
          </a:xfrm>
          <a:prstGeom prst="rect">
            <a:avLst/>
          </a:prstGeom>
          <a:noFill/>
        </p:spPr>
        <p:txBody>
          <a:bodyPr wrap="square">
            <a:spAutoFit/>
          </a:bodyPr>
          <a:lstStyle/>
          <a:p>
            <a:pPr algn="l"/>
            <a:r>
              <a:rPr sz="1050" b="0" i="0">
                <a:solidFill>
                  <a:srgbClr val="CBD5E1"/>
                </a:solidFill>
                <a:latin typeface="Calibri"/>
              </a:rPr>
              <a:t>Sent to all selected attendees the moment a meeting is created. Includes: meeting title, date &amp; time, organiser, project and a direct link to the workspace.</a:t>
            </a:r>
          </a:p>
        </p:txBody>
      </p:sp>
      <p:sp>
        <p:nvSpPr>
          <p:cNvPr id="10" name="Rectangle 9"/>
          <p:cNvSpPr/>
          <p:nvPr/>
        </p:nvSpPr>
        <p:spPr>
          <a:xfrm>
            <a:off x="6309360" y="1417320"/>
            <a:ext cx="557784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417320"/>
            <a:ext cx="5577840"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00200"/>
            <a:ext cx="5212080" cy="457200"/>
          </a:xfrm>
          <a:prstGeom prst="rect">
            <a:avLst/>
          </a:prstGeom>
          <a:noFill/>
        </p:spPr>
        <p:txBody>
          <a:bodyPr wrap="square">
            <a:spAutoFit/>
          </a:bodyPr>
          <a:lstStyle/>
          <a:p>
            <a:pPr algn="l"/>
            <a:r>
              <a:rPr sz="1400" b="1" i="0">
                <a:solidFill>
                  <a:srgbClr val="FFFFFF"/>
                </a:solidFill>
                <a:latin typeface="Calibri"/>
              </a:rPr>
              <a:t>📌  Task Assignment Alert</a:t>
            </a:r>
          </a:p>
        </p:txBody>
      </p:sp>
      <p:sp>
        <p:nvSpPr>
          <p:cNvPr id="13" name="TextBox 12"/>
          <p:cNvSpPr txBox="1"/>
          <p:nvPr/>
        </p:nvSpPr>
        <p:spPr>
          <a:xfrm>
            <a:off x="6492240" y="2130552"/>
            <a:ext cx="5212080" cy="1234440"/>
          </a:xfrm>
          <a:prstGeom prst="rect">
            <a:avLst/>
          </a:prstGeom>
          <a:noFill/>
        </p:spPr>
        <p:txBody>
          <a:bodyPr wrap="square">
            <a:spAutoFit/>
          </a:bodyPr>
          <a:lstStyle/>
          <a:p>
            <a:pPr algn="l"/>
            <a:r>
              <a:rPr sz="1050" b="0" i="0">
                <a:solidFill>
                  <a:srgbClr val="CBD5E1"/>
                </a:solidFill>
                <a:latin typeface="Calibri"/>
              </a:rPr>
              <a:t>Sent when an action point is assigned. Includes: task title, due date, priority, assigned-by name, AI guidance summary and a direct link to submit proof.</a:t>
            </a:r>
          </a:p>
        </p:txBody>
      </p:sp>
      <p:sp>
        <p:nvSpPr>
          <p:cNvPr id="14" name="Rectangle 13"/>
          <p:cNvSpPr/>
          <p:nvPr/>
        </p:nvSpPr>
        <p:spPr>
          <a:xfrm>
            <a:off x="365760" y="3794760"/>
            <a:ext cx="557784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794760"/>
            <a:ext cx="557784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77640"/>
            <a:ext cx="5212080" cy="457200"/>
          </a:xfrm>
          <a:prstGeom prst="rect">
            <a:avLst/>
          </a:prstGeom>
          <a:noFill/>
        </p:spPr>
        <p:txBody>
          <a:bodyPr wrap="square">
            <a:spAutoFit/>
          </a:bodyPr>
          <a:lstStyle/>
          <a:p>
            <a:pPr algn="l"/>
            <a:r>
              <a:rPr sz="1400" b="1" i="0">
                <a:solidFill>
                  <a:srgbClr val="FFFFFF"/>
                </a:solidFill>
                <a:latin typeface="Calibri"/>
              </a:rPr>
              <a:t>⏰  Deadline Reminder</a:t>
            </a:r>
          </a:p>
        </p:txBody>
      </p:sp>
      <p:sp>
        <p:nvSpPr>
          <p:cNvPr id="17" name="TextBox 16"/>
          <p:cNvSpPr txBox="1"/>
          <p:nvPr/>
        </p:nvSpPr>
        <p:spPr>
          <a:xfrm>
            <a:off x="548640" y="4507992"/>
            <a:ext cx="5212080" cy="1234440"/>
          </a:xfrm>
          <a:prstGeom prst="rect">
            <a:avLst/>
          </a:prstGeom>
          <a:noFill/>
        </p:spPr>
        <p:txBody>
          <a:bodyPr wrap="square">
            <a:spAutoFit/>
          </a:bodyPr>
          <a:lstStyle/>
          <a:p>
            <a:pPr algn="l"/>
            <a:r>
              <a:rPr sz="1050" b="0" i="0">
                <a:solidFill>
                  <a:srgbClr val="CBD5E1"/>
                </a:solidFill>
                <a:latin typeface="Calibri"/>
              </a:rPr>
              <a:t>Automated cron-triggered email when a task approaches or passes its due date. Flags overdue items in red with urgency messaging.</a:t>
            </a:r>
          </a:p>
        </p:txBody>
      </p:sp>
      <p:sp>
        <p:nvSpPr>
          <p:cNvPr id="18" name="Rectangle 17"/>
          <p:cNvSpPr/>
          <p:nvPr/>
        </p:nvSpPr>
        <p:spPr>
          <a:xfrm>
            <a:off x="6309360" y="3794760"/>
            <a:ext cx="5577840" cy="2148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3794760"/>
            <a:ext cx="557784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977640"/>
            <a:ext cx="5212080" cy="457200"/>
          </a:xfrm>
          <a:prstGeom prst="rect">
            <a:avLst/>
          </a:prstGeom>
          <a:noFill/>
        </p:spPr>
        <p:txBody>
          <a:bodyPr wrap="square">
            <a:spAutoFit/>
          </a:bodyPr>
          <a:lstStyle/>
          <a:p>
            <a:pPr algn="l"/>
            <a:r>
              <a:rPr sz="1400" b="1" i="0">
                <a:solidFill>
                  <a:srgbClr val="FFFFFF"/>
                </a:solidFill>
                <a:latin typeface="Calibri"/>
              </a:rPr>
              <a:t>🔑  Staff Welcome Email</a:t>
            </a:r>
          </a:p>
        </p:txBody>
      </p:sp>
      <p:sp>
        <p:nvSpPr>
          <p:cNvPr id="21" name="TextBox 20"/>
          <p:cNvSpPr txBox="1"/>
          <p:nvPr/>
        </p:nvSpPr>
        <p:spPr>
          <a:xfrm>
            <a:off x="6492240" y="4507992"/>
            <a:ext cx="5212080" cy="1234440"/>
          </a:xfrm>
          <a:prstGeom prst="rect">
            <a:avLst/>
          </a:prstGeom>
          <a:noFill/>
        </p:spPr>
        <p:txBody>
          <a:bodyPr wrap="square">
            <a:spAutoFit/>
          </a:bodyPr>
          <a:lstStyle/>
          <a:p>
            <a:pPr algn="l"/>
            <a:r>
              <a:rPr sz="1050" b="0" i="0">
                <a:solidFill>
                  <a:srgbClr val="CBD5E1"/>
                </a:solidFill>
                <a:latin typeface="Calibri"/>
              </a:rPr>
              <a:t>Sent when a Principal onboards a new team member. Contains temporary credentials, role, project assignment and sign-in instructions.</a:t>
            </a:r>
          </a:p>
        </p:txBody>
      </p:sp>
      <p:sp>
        <p:nvSpPr>
          <p:cNvPr id="22" name="Rectangle 21"/>
          <p:cNvSpPr/>
          <p:nvPr/>
        </p:nvSpPr>
        <p:spPr>
          <a:xfrm>
            <a:off x="365760" y="6035040"/>
            <a:ext cx="11430000" cy="658368"/>
          </a:xfrm>
          <a:prstGeom prst="rect">
            <a:avLst/>
          </a:prstGeom>
          <a:solidFill>
            <a:srgbClr val="0C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6035040"/>
            <a:ext cx="54864" cy="65836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6126480"/>
            <a:ext cx="11064240" cy="457200"/>
          </a:xfrm>
          <a:prstGeom prst="rect">
            <a:avLst/>
          </a:prstGeom>
          <a:noFill/>
        </p:spPr>
        <p:txBody>
          <a:bodyPr wrap="square">
            <a:spAutoFit/>
          </a:bodyPr>
          <a:lstStyle/>
          <a:p>
            <a:pPr algn="l"/>
            <a:r>
              <a:rPr sz="950" b="0" i="0">
                <a:solidFill>
                  <a:srgbClr val="94A3B8"/>
                </a:solidFill>
                <a:latin typeface="Calibri"/>
              </a:rPr>
              <a:t>Powered by EmailJS — all emails route directly to recipients' real inboxes. The template is fully configurable with dynamic variables ({{to_email}}, {{subject}}, {{{message_html}}}) so every email is personalised and beautifully formatted.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8229600" cy="548640"/>
          </a:xfrm>
          <a:prstGeom prst="rect">
            <a:avLst/>
          </a:prstGeom>
          <a:noFill/>
        </p:spPr>
        <p:txBody>
          <a:bodyPr wrap="square">
            <a:spAutoFit/>
          </a:bodyPr>
          <a:lstStyle/>
          <a:p>
            <a:pPr algn="l"/>
            <a:r>
              <a:rPr sz="2800" b="1" i="0">
                <a:solidFill>
                  <a:srgbClr val="FFFFFF"/>
                </a:solidFill>
                <a:latin typeface="Calibri"/>
              </a:rPr>
              <a:t>Proof of Work &amp; Verification</a:t>
            </a:r>
          </a:p>
        </p:txBody>
      </p:sp>
      <p:sp>
        <p:nvSpPr>
          <p:cNvPr id="4" name="TextBox 3"/>
          <p:cNvSpPr txBox="1"/>
          <p:nvPr/>
        </p:nvSpPr>
        <p:spPr>
          <a:xfrm>
            <a:off x="548640" y="749808"/>
            <a:ext cx="9144000" cy="365760"/>
          </a:xfrm>
          <a:prstGeom prst="rect">
            <a:avLst/>
          </a:prstGeom>
          <a:noFill/>
        </p:spPr>
        <p:txBody>
          <a:bodyPr wrap="square">
            <a:spAutoFit/>
          </a:bodyPr>
          <a:lstStyle/>
          <a:p>
            <a:pPr algn="l"/>
            <a:r>
              <a:rPr sz="1300" b="0" i="0">
                <a:solidFill>
                  <a:srgbClr val="94A3B8"/>
                </a:solidFill>
                <a:latin typeface="Calibri"/>
              </a:rPr>
              <a:t>A structured submission and manager review cycle with full audit trail</a:t>
            </a:r>
          </a:p>
        </p:txBody>
      </p:sp>
      <p:sp>
        <p:nvSpPr>
          <p:cNvPr id="5" name="Rectangle 4"/>
          <p:cNvSpPr/>
          <p:nvPr/>
        </p:nvSpPr>
        <p:spPr>
          <a:xfrm>
            <a:off x="548640" y="1115568"/>
            <a:ext cx="10972800"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103120"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777240" cy="2560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84248"/>
            <a:ext cx="685800" cy="256032"/>
          </a:xfrm>
          <a:prstGeom prst="rect">
            <a:avLst/>
          </a:prstGeom>
          <a:noFill/>
        </p:spPr>
        <p:txBody>
          <a:bodyPr wrap="square">
            <a:spAutoFit/>
          </a:bodyPr>
          <a:lstStyle/>
          <a:p>
            <a:pPr algn="ctr"/>
            <a:r>
              <a:rPr sz="800" b="1" i="0">
                <a:solidFill>
                  <a:srgbClr val="FFFFFF"/>
                </a:solidFill>
                <a:latin typeface="Calibri"/>
              </a:rPr>
              <a:t>STEP 1</a:t>
            </a:r>
          </a:p>
        </p:txBody>
      </p:sp>
      <p:sp>
        <p:nvSpPr>
          <p:cNvPr id="10" name="TextBox 9"/>
          <p:cNvSpPr txBox="1"/>
          <p:nvPr/>
        </p:nvSpPr>
        <p:spPr>
          <a:xfrm>
            <a:off x="566928" y="2331720"/>
            <a:ext cx="1920240" cy="548640"/>
          </a:xfrm>
          <a:prstGeom prst="rect">
            <a:avLst/>
          </a:prstGeom>
          <a:noFill/>
        </p:spPr>
        <p:txBody>
          <a:bodyPr wrap="square">
            <a:spAutoFit/>
          </a:bodyPr>
          <a:lstStyle/>
          <a:p>
            <a:pPr algn="l"/>
            <a:r>
              <a:rPr sz="1200" b="1" i="0">
                <a:solidFill>
                  <a:srgbClr val="FFFFFF"/>
                </a:solidFill>
                <a:latin typeface="Calibri"/>
              </a:rPr>
              <a:t>Task
Assigned</a:t>
            </a:r>
          </a:p>
        </p:txBody>
      </p:sp>
      <p:sp>
        <p:nvSpPr>
          <p:cNvPr id="11" name="TextBox 10"/>
          <p:cNvSpPr txBox="1"/>
          <p:nvPr/>
        </p:nvSpPr>
        <p:spPr>
          <a:xfrm>
            <a:off x="566928" y="2907791"/>
            <a:ext cx="1920240" cy="658368"/>
          </a:xfrm>
          <a:prstGeom prst="rect">
            <a:avLst/>
          </a:prstGeom>
          <a:noFill/>
        </p:spPr>
        <p:txBody>
          <a:bodyPr wrap="square">
            <a:spAutoFit/>
          </a:bodyPr>
          <a:lstStyle/>
          <a:p>
            <a:pPr algn="l"/>
            <a:r>
              <a:rPr sz="900" b="0" i="0">
                <a:solidFill>
                  <a:srgbClr val="94A3B8"/>
                </a:solidFill>
                <a:latin typeface="Calibri"/>
              </a:rPr>
              <a:t>Manager assigns action point to staff member. Email sent immediately with task details and AI guidance.</a:t>
            </a:r>
          </a:p>
        </p:txBody>
      </p:sp>
      <p:sp>
        <p:nvSpPr>
          <p:cNvPr id="12" name="TextBox 11"/>
          <p:cNvSpPr txBox="1"/>
          <p:nvPr/>
        </p:nvSpPr>
        <p:spPr>
          <a:xfrm>
            <a:off x="2487168" y="2542032"/>
            <a:ext cx="365760" cy="365760"/>
          </a:xfrm>
          <a:prstGeom prst="rect">
            <a:avLst/>
          </a:prstGeom>
          <a:noFill/>
        </p:spPr>
        <p:txBody>
          <a:bodyPr wrap="square">
            <a:spAutoFit/>
          </a:bodyPr>
          <a:lstStyle/>
          <a:p>
            <a:pPr algn="ctr"/>
            <a:r>
              <a:rPr sz="1400" b="0" i="0">
                <a:solidFill>
                  <a:srgbClr val="334155"/>
                </a:solidFill>
                <a:latin typeface="Calibri"/>
              </a:rPr>
              <a:t>▶</a:t>
            </a:r>
          </a:p>
        </p:txBody>
      </p:sp>
      <p:sp>
        <p:nvSpPr>
          <p:cNvPr id="13" name="Rectangle 12"/>
          <p:cNvSpPr/>
          <p:nvPr/>
        </p:nvSpPr>
        <p:spPr>
          <a:xfrm>
            <a:off x="2788920" y="182880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88920" y="1828800"/>
            <a:ext cx="210312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0360" y="1965960"/>
            <a:ext cx="777240" cy="25603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79" y="1984248"/>
            <a:ext cx="685800" cy="256032"/>
          </a:xfrm>
          <a:prstGeom prst="rect">
            <a:avLst/>
          </a:prstGeom>
          <a:noFill/>
        </p:spPr>
        <p:txBody>
          <a:bodyPr wrap="square">
            <a:spAutoFit/>
          </a:bodyPr>
          <a:lstStyle/>
          <a:p>
            <a:pPr algn="ctr"/>
            <a:r>
              <a:rPr sz="800" b="1" i="0">
                <a:solidFill>
                  <a:srgbClr val="FFFFFF"/>
                </a:solidFill>
                <a:latin typeface="Calibri"/>
              </a:rPr>
              <a:t>STEP 2</a:t>
            </a:r>
          </a:p>
        </p:txBody>
      </p:sp>
      <p:sp>
        <p:nvSpPr>
          <p:cNvPr id="17" name="TextBox 16"/>
          <p:cNvSpPr txBox="1"/>
          <p:nvPr/>
        </p:nvSpPr>
        <p:spPr>
          <a:xfrm>
            <a:off x="2898648" y="2331720"/>
            <a:ext cx="1920240" cy="548640"/>
          </a:xfrm>
          <a:prstGeom prst="rect">
            <a:avLst/>
          </a:prstGeom>
          <a:noFill/>
        </p:spPr>
        <p:txBody>
          <a:bodyPr wrap="square">
            <a:spAutoFit/>
          </a:bodyPr>
          <a:lstStyle/>
          <a:p>
            <a:pPr algn="l"/>
            <a:r>
              <a:rPr sz="1200" b="1" i="0">
                <a:solidFill>
                  <a:srgbClr val="FFFFFF"/>
                </a:solidFill>
                <a:latin typeface="Calibri"/>
              </a:rPr>
              <a:t>Staff
Executes</a:t>
            </a:r>
          </a:p>
        </p:txBody>
      </p:sp>
      <p:sp>
        <p:nvSpPr>
          <p:cNvPr id="18" name="TextBox 17"/>
          <p:cNvSpPr txBox="1"/>
          <p:nvPr/>
        </p:nvSpPr>
        <p:spPr>
          <a:xfrm>
            <a:off x="2898648" y="2907791"/>
            <a:ext cx="1920240" cy="658368"/>
          </a:xfrm>
          <a:prstGeom prst="rect">
            <a:avLst/>
          </a:prstGeom>
          <a:noFill/>
        </p:spPr>
        <p:txBody>
          <a:bodyPr wrap="square">
            <a:spAutoFit/>
          </a:bodyPr>
          <a:lstStyle/>
          <a:p>
            <a:pPr algn="l"/>
            <a:r>
              <a:rPr sz="900" b="0" i="0">
                <a:solidFill>
                  <a:srgbClr val="94A3B8"/>
                </a:solidFill>
                <a:latin typeface="Calibri"/>
              </a:rPr>
              <a:t>Staff member works on the task, uses AI Co-Pilot if needed, and prepares their evidence of completion.</a:t>
            </a:r>
          </a:p>
        </p:txBody>
      </p:sp>
      <p:sp>
        <p:nvSpPr>
          <p:cNvPr id="19" name="TextBox 18"/>
          <p:cNvSpPr txBox="1"/>
          <p:nvPr/>
        </p:nvSpPr>
        <p:spPr>
          <a:xfrm>
            <a:off x="4818888" y="2542032"/>
            <a:ext cx="365760" cy="365760"/>
          </a:xfrm>
          <a:prstGeom prst="rect">
            <a:avLst/>
          </a:prstGeom>
          <a:noFill/>
        </p:spPr>
        <p:txBody>
          <a:bodyPr wrap="square">
            <a:spAutoFit/>
          </a:bodyPr>
          <a:lstStyle/>
          <a:p>
            <a:pPr algn="ctr"/>
            <a:r>
              <a:rPr sz="1400" b="0" i="0">
                <a:solidFill>
                  <a:srgbClr val="334155"/>
                </a:solidFill>
                <a:latin typeface="Calibri"/>
              </a:rPr>
              <a:t>▶</a:t>
            </a:r>
          </a:p>
        </p:txBody>
      </p:sp>
      <p:sp>
        <p:nvSpPr>
          <p:cNvPr id="20" name="Rectangle 19"/>
          <p:cNvSpPr/>
          <p:nvPr/>
        </p:nvSpPr>
        <p:spPr>
          <a:xfrm>
            <a:off x="5120640" y="182880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1828800"/>
            <a:ext cx="21031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9" y="1965960"/>
            <a:ext cx="777240" cy="2560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799" y="1984248"/>
            <a:ext cx="685800" cy="256032"/>
          </a:xfrm>
          <a:prstGeom prst="rect">
            <a:avLst/>
          </a:prstGeom>
          <a:noFill/>
        </p:spPr>
        <p:txBody>
          <a:bodyPr wrap="square">
            <a:spAutoFit/>
          </a:bodyPr>
          <a:lstStyle/>
          <a:p>
            <a:pPr algn="ctr"/>
            <a:r>
              <a:rPr sz="800" b="1" i="0">
                <a:solidFill>
                  <a:srgbClr val="FFFFFF"/>
                </a:solidFill>
                <a:latin typeface="Calibri"/>
              </a:rPr>
              <a:t>STEP 3</a:t>
            </a:r>
          </a:p>
        </p:txBody>
      </p:sp>
      <p:sp>
        <p:nvSpPr>
          <p:cNvPr id="24" name="TextBox 23"/>
          <p:cNvSpPr txBox="1"/>
          <p:nvPr/>
        </p:nvSpPr>
        <p:spPr>
          <a:xfrm>
            <a:off x="5230368" y="2331720"/>
            <a:ext cx="1920240" cy="548640"/>
          </a:xfrm>
          <a:prstGeom prst="rect">
            <a:avLst/>
          </a:prstGeom>
          <a:noFill/>
        </p:spPr>
        <p:txBody>
          <a:bodyPr wrap="square">
            <a:spAutoFit/>
          </a:bodyPr>
          <a:lstStyle/>
          <a:p>
            <a:pPr algn="l"/>
            <a:r>
              <a:rPr sz="1200" b="1" i="0">
                <a:solidFill>
                  <a:srgbClr val="FFFFFF"/>
                </a:solidFill>
                <a:latin typeface="Calibri"/>
              </a:rPr>
              <a:t>Proof
Submitted</a:t>
            </a:r>
          </a:p>
        </p:txBody>
      </p:sp>
      <p:sp>
        <p:nvSpPr>
          <p:cNvPr id="25" name="TextBox 24"/>
          <p:cNvSpPr txBox="1"/>
          <p:nvPr/>
        </p:nvSpPr>
        <p:spPr>
          <a:xfrm>
            <a:off x="5230368" y="2907791"/>
            <a:ext cx="1920240" cy="658368"/>
          </a:xfrm>
          <a:prstGeom prst="rect">
            <a:avLst/>
          </a:prstGeom>
          <a:noFill/>
        </p:spPr>
        <p:txBody>
          <a:bodyPr wrap="square">
            <a:spAutoFit/>
          </a:bodyPr>
          <a:lstStyle/>
          <a:p>
            <a:pPr algn="l"/>
            <a:r>
              <a:rPr sz="900" b="0" i="0">
                <a:solidFill>
                  <a:srgbClr val="94A3B8"/>
                </a:solidFill>
                <a:latin typeface="Calibri"/>
              </a:rPr>
              <a:t>Staff uploads file link or notes as proof of work through the submission portal in their dashboard.</a:t>
            </a:r>
          </a:p>
        </p:txBody>
      </p:sp>
      <p:sp>
        <p:nvSpPr>
          <p:cNvPr id="26" name="TextBox 25"/>
          <p:cNvSpPr txBox="1"/>
          <p:nvPr/>
        </p:nvSpPr>
        <p:spPr>
          <a:xfrm>
            <a:off x="7150608" y="2542032"/>
            <a:ext cx="365760" cy="365760"/>
          </a:xfrm>
          <a:prstGeom prst="rect">
            <a:avLst/>
          </a:prstGeom>
          <a:noFill/>
        </p:spPr>
        <p:txBody>
          <a:bodyPr wrap="square">
            <a:spAutoFit/>
          </a:bodyPr>
          <a:lstStyle/>
          <a:p>
            <a:pPr algn="ctr"/>
            <a:r>
              <a:rPr sz="1400" b="0" i="0">
                <a:solidFill>
                  <a:srgbClr val="334155"/>
                </a:solidFill>
                <a:latin typeface="Calibri"/>
              </a:rPr>
              <a:t>▶</a:t>
            </a:r>
          </a:p>
        </p:txBody>
      </p:sp>
      <p:sp>
        <p:nvSpPr>
          <p:cNvPr id="27" name="Rectangle 26"/>
          <p:cNvSpPr/>
          <p:nvPr/>
        </p:nvSpPr>
        <p:spPr>
          <a:xfrm>
            <a:off x="7452359" y="182880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52359" y="1828800"/>
            <a:ext cx="210312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43799" y="1965960"/>
            <a:ext cx="777240" cy="2560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19" y="1984248"/>
            <a:ext cx="685800" cy="256032"/>
          </a:xfrm>
          <a:prstGeom prst="rect">
            <a:avLst/>
          </a:prstGeom>
          <a:noFill/>
        </p:spPr>
        <p:txBody>
          <a:bodyPr wrap="square">
            <a:spAutoFit/>
          </a:bodyPr>
          <a:lstStyle/>
          <a:p>
            <a:pPr algn="ctr"/>
            <a:r>
              <a:rPr sz="800" b="1" i="0">
                <a:solidFill>
                  <a:srgbClr val="FFFFFF"/>
                </a:solidFill>
                <a:latin typeface="Calibri"/>
              </a:rPr>
              <a:t>STEP 4</a:t>
            </a:r>
          </a:p>
        </p:txBody>
      </p:sp>
      <p:sp>
        <p:nvSpPr>
          <p:cNvPr id="31" name="TextBox 30"/>
          <p:cNvSpPr txBox="1"/>
          <p:nvPr/>
        </p:nvSpPr>
        <p:spPr>
          <a:xfrm>
            <a:off x="7562087" y="2331720"/>
            <a:ext cx="1920240" cy="548640"/>
          </a:xfrm>
          <a:prstGeom prst="rect">
            <a:avLst/>
          </a:prstGeom>
          <a:noFill/>
        </p:spPr>
        <p:txBody>
          <a:bodyPr wrap="square">
            <a:spAutoFit/>
          </a:bodyPr>
          <a:lstStyle/>
          <a:p>
            <a:pPr algn="l"/>
            <a:r>
              <a:rPr sz="1200" b="1" i="0">
                <a:solidFill>
                  <a:srgbClr val="FFFFFF"/>
                </a:solidFill>
                <a:latin typeface="Calibri"/>
              </a:rPr>
              <a:t>Manager
Reviews</a:t>
            </a:r>
          </a:p>
        </p:txBody>
      </p:sp>
      <p:sp>
        <p:nvSpPr>
          <p:cNvPr id="32" name="TextBox 31"/>
          <p:cNvSpPr txBox="1"/>
          <p:nvPr/>
        </p:nvSpPr>
        <p:spPr>
          <a:xfrm>
            <a:off x="7562087" y="2907791"/>
            <a:ext cx="1920240" cy="658368"/>
          </a:xfrm>
          <a:prstGeom prst="rect">
            <a:avLst/>
          </a:prstGeom>
          <a:noFill/>
        </p:spPr>
        <p:txBody>
          <a:bodyPr wrap="square">
            <a:spAutoFit/>
          </a:bodyPr>
          <a:lstStyle/>
          <a:p>
            <a:pPr algn="l"/>
            <a:r>
              <a:rPr sz="900" b="0" i="0">
                <a:solidFill>
                  <a:srgbClr val="94A3B8"/>
                </a:solidFill>
                <a:latin typeface="Calibri"/>
              </a:rPr>
              <a:t>Manager views submitted proof, leaves feedback notes and clicks Approve or Reject with a single click.</a:t>
            </a:r>
          </a:p>
        </p:txBody>
      </p:sp>
      <p:sp>
        <p:nvSpPr>
          <p:cNvPr id="33" name="TextBox 32"/>
          <p:cNvSpPr txBox="1"/>
          <p:nvPr/>
        </p:nvSpPr>
        <p:spPr>
          <a:xfrm>
            <a:off x="9482328" y="2542032"/>
            <a:ext cx="365760" cy="365760"/>
          </a:xfrm>
          <a:prstGeom prst="rect">
            <a:avLst/>
          </a:prstGeom>
          <a:noFill/>
        </p:spPr>
        <p:txBody>
          <a:bodyPr wrap="square">
            <a:spAutoFit/>
          </a:bodyPr>
          <a:lstStyle/>
          <a:p>
            <a:pPr algn="ctr"/>
            <a:r>
              <a:rPr sz="1400" b="0" i="0">
                <a:solidFill>
                  <a:srgbClr val="334155"/>
                </a:solidFill>
                <a:latin typeface="Calibri"/>
              </a:rPr>
              <a:t>▶</a:t>
            </a:r>
          </a:p>
        </p:txBody>
      </p:sp>
      <p:sp>
        <p:nvSpPr>
          <p:cNvPr id="34" name="Rectangle 33"/>
          <p:cNvSpPr/>
          <p:nvPr/>
        </p:nvSpPr>
        <p:spPr>
          <a:xfrm>
            <a:off x="9784080" y="1828800"/>
            <a:ext cx="21031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1828800"/>
            <a:ext cx="2103120" cy="6400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75519" y="1965960"/>
            <a:ext cx="777240" cy="25603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21240" y="1984248"/>
            <a:ext cx="685800" cy="256032"/>
          </a:xfrm>
          <a:prstGeom prst="rect">
            <a:avLst/>
          </a:prstGeom>
          <a:noFill/>
        </p:spPr>
        <p:txBody>
          <a:bodyPr wrap="square">
            <a:spAutoFit/>
          </a:bodyPr>
          <a:lstStyle/>
          <a:p>
            <a:pPr algn="ctr"/>
            <a:r>
              <a:rPr sz="800" b="1" i="0">
                <a:solidFill>
                  <a:srgbClr val="FFFFFF"/>
                </a:solidFill>
                <a:latin typeface="Calibri"/>
              </a:rPr>
              <a:t>STEP 5</a:t>
            </a:r>
          </a:p>
        </p:txBody>
      </p:sp>
      <p:sp>
        <p:nvSpPr>
          <p:cNvPr id="38" name="TextBox 37"/>
          <p:cNvSpPr txBox="1"/>
          <p:nvPr/>
        </p:nvSpPr>
        <p:spPr>
          <a:xfrm>
            <a:off x="9893807" y="2331720"/>
            <a:ext cx="1920240" cy="548640"/>
          </a:xfrm>
          <a:prstGeom prst="rect">
            <a:avLst/>
          </a:prstGeom>
          <a:noFill/>
        </p:spPr>
        <p:txBody>
          <a:bodyPr wrap="square">
            <a:spAutoFit/>
          </a:bodyPr>
          <a:lstStyle/>
          <a:p>
            <a:pPr algn="l"/>
            <a:r>
              <a:rPr sz="1200" b="1" i="0">
                <a:solidFill>
                  <a:srgbClr val="FFFFFF"/>
                </a:solidFill>
                <a:latin typeface="Calibri"/>
              </a:rPr>
              <a:t>Audit
Logged</a:t>
            </a:r>
          </a:p>
        </p:txBody>
      </p:sp>
      <p:sp>
        <p:nvSpPr>
          <p:cNvPr id="39" name="TextBox 38"/>
          <p:cNvSpPr txBox="1"/>
          <p:nvPr/>
        </p:nvSpPr>
        <p:spPr>
          <a:xfrm>
            <a:off x="9893807" y="2907791"/>
            <a:ext cx="1920240" cy="658368"/>
          </a:xfrm>
          <a:prstGeom prst="rect">
            <a:avLst/>
          </a:prstGeom>
          <a:noFill/>
        </p:spPr>
        <p:txBody>
          <a:bodyPr wrap="square">
            <a:spAutoFit/>
          </a:bodyPr>
          <a:lstStyle/>
          <a:p>
            <a:pPr algn="l"/>
            <a:r>
              <a:rPr sz="900" b="0" i="0">
                <a:solidFill>
                  <a:srgbClr val="94A3B8"/>
                </a:solidFill>
                <a:latin typeface="Calibri"/>
              </a:rPr>
              <a:t>Every action — submission, approval, rejection — is timestamped and stored in an immutable audit trail.</a:t>
            </a:r>
          </a:p>
        </p:txBody>
      </p:sp>
      <p:sp>
        <p:nvSpPr>
          <p:cNvPr id="40" name="Rectangle 39"/>
          <p:cNvSpPr/>
          <p:nvPr/>
        </p:nvSpPr>
        <p:spPr>
          <a:xfrm>
            <a:off x="365760" y="3931920"/>
            <a:ext cx="11430000" cy="3657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114800"/>
            <a:ext cx="3200400" cy="320040"/>
          </a:xfrm>
          <a:prstGeom prst="rect">
            <a:avLst/>
          </a:prstGeom>
          <a:noFill/>
        </p:spPr>
        <p:txBody>
          <a:bodyPr wrap="square">
            <a:spAutoFit/>
          </a:bodyPr>
          <a:lstStyle/>
          <a:p>
            <a:pPr algn="l"/>
            <a:r>
              <a:rPr sz="1200" b="1" i="0">
                <a:solidFill>
                  <a:srgbClr val="FFFFFF"/>
                </a:solidFill>
                <a:latin typeface="Calibri"/>
              </a:rPr>
              <a:t>Task Statuses Tracked:</a:t>
            </a:r>
          </a:p>
        </p:txBody>
      </p:sp>
      <p:sp>
        <p:nvSpPr>
          <p:cNvPr id="42" name="Rectangle 41"/>
          <p:cNvSpPr/>
          <p:nvPr/>
        </p:nvSpPr>
        <p:spPr>
          <a:xfrm>
            <a:off x="548640" y="4617720"/>
            <a:ext cx="2011680" cy="41148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4617720"/>
            <a:ext cx="45720" cy="41148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4663440"/>
            <a:ext cx="1828800" cy="320040"/>
          </a:xfrm>
          <a:prstGeom prst="rect">
            <a:avLst/>
          </a:prstGeom>
          <a:noFill/>
        </p:spPr>
        <p:txBody>
          <a:bodyPr wrap="square">
            <a:spAutoFit/>
          </a:bodyPr>
          <a:lstStyle/>
          <a:p>
            <a:pPr algn="l"/>
            <a:r>
              <a:rPr sz="1100" b="1" i="0">
                <a:solidFill>
                  <a:srgbClr val="6B7280"/>
                </a:solidFill>
                <a:latin typeface="Calibri"/>
              </a:rPr>
              <a:t>PENDING</a:t>
            </a:r>
          </a:p>
        </p:txBody>
      </p:sp>
      <p:sp>
        <p:nvSpPr>
          <p:cNvPr id="45" name="Rectangle 44"/>
          <p:cNvSpPr/>
          <p:nvPr/>
        </p:nvSpPr>
        <p:spPr>
          <a:xfrm>
            <a:off x="2788920" y="4617720"/>
            <a:ext cx="2011680" cy="4114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788920" y="4617720"/>
            <a:ext cx="45720" cy="4114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6080" y="4663440"/>
            <a:ext cx="1828800" cy="320040"/>
          </a:xfrm>
          <a:prstGeom prst="rect">
            <a:avLst/>
          </a:prstGeom>
          <a:noFill/>
        </p:spPr>
        <p:txBody>
          <a:bodyPr wrap="square">
            <a:spAutoFit/>
          </a:bodyPr>
          <a:lstStyle/>
          <a:p>
            <a:pPr algn="l"/>
            <a:r>
              <a:rPr sz="1100" b="1" i="0">
                <a:solidFill>
                  <a:srgbClr val="4F46E5"/>
                </a:solidFill>
                <a:latin typeface="Calibri"/>
              </a:rPr>
              <a:t>IN PROGRESS</a:t>
            </a:r>
          </a:p>
        </p:txBody>
      </p:sp>
      <p:sp>
        <p:nvSpPr>
          <p:cNvPr id="48" name="Rectangle 47"/>
          <p:cNvSpPr/>
          <p:nvPr/>
        </p:nvSpPr>
        <p:spPr>
          <a:xfrm>
            <a:off x="5029200" y="4617720"/>
            <a:ext cx="2011680" cy="411480"/>
          </a:xfrm>
          <a:prstGeom prst="rect">
            <a:avLst/>
          </a:prstGeom>
          <a:solidFill>
            <a:srgbClr val="2D2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4617720"/>
            <a:ext cx="4572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66360" y="4663440"/>
            <a:ext cx="1828800" cy="320040"/>
          </a:xfrm>
          <a:prstGeom prst="rect">
            <a:avLst/>
          </a:prstGeom>
          <a:noFill/>
        </p:spPr>
        <p:txBody>
          <a:bodyPr wrap="square">
            <a:spAutoFit/>
          </a:bodyPr>
          <a:lstStyle/>
          <a:p>
            <a:pPr algn="l"/>
            <a:r>
              <a:rPr sz="1100" b="1" i="0">
                <a:solidFill>
                  <a:srgbClr val="F59E0B"/>
                </a:solidFill>
                <a:latin typeface="Calibri"/>
              </a:rPr>
              <a:t>SUBMITTED</a:t>
            </a:r>
          </a:p>
        </p:txBody>
      </p:sp>
      <p:sp>
        <p:nvSpPr>
          <p:cNvPr id="51" name="Rectangle 50"/>
          <p:cNvSpPr/>
          <p:nvPr/>
        </p:nvSpPr>
        <p:spPr>
          <a:xfrm>
            <a:off x="7269480" y="4617720"/>
            <a:ext cx="2011680" cy="411480"/>
          </a:xfrm>
          <a:prstGeom prst="rect">
            <a:avLst/>
          </a:prstGeom>
          <a:solidFill>
            <a:srgbClr val="062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269480" y="4617720"/>
            <a:ext cx="4572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06640" y="4663440"/>
            <a:ext cx="1828800" cy="320040"/>
          </a:xfrm>
          <a:prstGeom prst="rect">
            <a:avLst/>
          </a:prstGeom>
          <a:noFill/>
        </p:spPr>
        <p:txBody>
          <a:bodyPr wrap="square">
            <a:spAutoFit/>
          </a:bodyPr>
          <a:lstStyle/>
          <a:p>
            <a:pPr algn="l"/>
            <a:r>
              <a:rPr sz="1100" b="1" i="0">
                <a:solidFill>
                  <a:srgbClr val="10B981"/>
                </a:solidFill>
                <a:latin typeface="Calibri"/>
              </a:rPr>
              <a:t>APPROVED ✓</a:t>
            </a:r>
          </a:p>
        </p:txBody>
      </p:sp>
      <p:sp>
        <p:nvSpPr>
          <p:cNvPr id="54" name="Rectangle 53"/>
          <p:cNvSpPr/>
          <p:nvPr/>
        </p:nvSpPr>
        <p:spPr>
          <a:xfrm>
            <a:off x="9509760" y="4617720"/>
            <a:ext cx="2011680" cy="411480"/>
          </a:xfrm>
          <a:prstGeom prst="rect">
            <a:avLst/>
          </a:prstGeom>
          <a:solidFill>
            <a:srgbClr val="2D0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509760" y="4617720"/>
            <a:ext cx="45720" cy="41148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46920" y="4663440"/>
            <a:ext cx="1828800" cy="320040"/>
          </a:xfrm>
          <a:prstGeom prst="rect">
            <a:avLst/>
          </a:prstGeom>
          <a:noFill/>
        </p:spPr>
        <p:txBody>
          <a:bodyPr wrap="square">
            <a:spAutoFit/>
          </a:bodyPr>
          <a:lstStyle/>
          <a:p>
            <a:pPr algn="l"/>
            <a:r>
              <a:rPr sz="1100" b="1" i="0">
                <a:solidFill>
                  <a:srgbClr val="F43F5E"/>
                </a:solidFill>
                <a:latin typeface="Calibri"/>
              </a:rPr>
              <a:t>REJECTED ✗</a:t>
            </a:r>
          </a:p>
        </p:txBody>
      </p:sp>
      <p:sp>
        <p:nvSpPr>
          <p:cNvPr id="57" name="Rectangle 56"/>
          <p:cNvSpPr/>
          <p:nvPr/>
        </p:nvSpPr>
        <p:spPr>
          <a:xfrm>
            <a:off x="365760" y="5257800"/>
            <a:ext cx="11430000" cy="1371600"/>
          </a:xfrm>
          <a:prstGeom prst="rect">
            <a:avLst/>
          </a:prstGeom>
          <a:solidFill>
            <a:srgbClr val="062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65760" y="5257800"/>
            <a:ext cx="54864"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5376672"/>
            <a:ext cx="4572000" cy="365760"/>
          </a:xfrm>
          <a:prstGeom prst="rect">
            <a:avLst/>
          </a:prstGeom>
          <a:noFill/>
        </p:spPr>
        <p:txBody>
          <a:bodyPr wrap="square">
            <a:spAutoFit/>
          </a:bodyPr>
          <a:lstStyle/>
          <a:p>
            <a:pPr algn="l"/>
            <a:r>
              <a:rPr sz="1300" b="1" i="0">
                <a:solidFill>
                  <a:srgbClr val="10B981"/>
                </a:solidFill>
                <a:latin typeface="Calibri"/>
              </a:rPr>
              <a:t>🔒  Full Audit Trail</a:t>
            </a:r>
          </a:p>
        </p:txBody>
      </p:sp>
      <p:sp>
        <p:nvSpPr>
          <p:cNvPr id="60" name="TextBox 59"/>
          <p:cNvSpPr txBox="1"/>
          <p:nvPr/>
        </p:nvSpPr>
        <p:spPr>
          <a:xfrm>
            <a:off x="594360" y="5760720"/>
            <a:ext cx="10972800" cy="777240"/>
          </a:xfrm>
          <a:prstGeom prst="rect">
            <a:avLst/>
          </a:prstGeom>
          <a:noFill/>
        </p:spPr>
        <p:txBody>
          <a:bodyPr wrap="square">
            <a:spAutoFit/>
          </a:bodyPr>
          <a:lstStyle/>
          <a:p>
            <a:pPr algn="l"/>
            <a:r>
              <a:rPr sz="1000" b="0" i="0">
                <a:solidFill>
                  <a:srgbClr val="CBD5E1"/>
                </a:solidFill>
                <a:latin typeface="Calibri"/>
              </a:rPr>
              <a:t>Every submission, approval and rejection is permanently logged with timestamp, actor name and notes. This provides complete accountability and can be referenced in performance reviews, donor reports or compliance audits. Nothing can be altered retrospectively — the system maintains a tamper-evident record of all delivery activities.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48640"/>
          </a:xfrm>
          <a:prstGeom prst="rect">
            <a:avLst/>
          </a:prstGeom>
          <a:noFill/>
        </p:spPr>
        <p:txBody>
          <a:bodyPr wrap="square">
            <a:spAutoFit/>
          </a:bodyPr>
          <a:lstStyle/>
          <a:p>
            <a:pPr algn="l"/>
            <a:r>
              <a:rPr sz="2800" b="1" i="0">
                <a:solidFill>
                  <a:srgbClr val="FFFFFF"/>
                </a:solidFill>
                <a:latin typeface="Calibri"/>
              </a:rPr>
              <a:t>Technology Stack</a:t>
            </a:r>
          </a:p>
        </p:txBody>
      </p:sp>
      <p:sp>
        <p:nvSpPr>
          <p:cNvPr id="4" name="TextBox 3"/>
          <p:cNvSpPr txBox="1"/>
          <p:nvPr/>
        </p:nvSpPr>
        <p:spPr>
          <a:xfrm>
            <a:off x="548640" y="749808"/>
            <a:ext cx="9144000" cy="365760"/>
          </a:xfrm>
          <a:prstGeom prst="rect">
            <a:avLst/>
          </a:prstGeom>
          <a:noFill/>
        </p:spPr>
        <p:txBody>
          <a:bodyPr wrap="square">
            <a:spAutoFit/>
          </a:bodyPr>
          <a:lstStyle/>
          <a:p>
            <a:pPr algn="l"/>
            <a:r>
              <a:rPr sz="1300" b="0" i="0">
                <a:solidFill>
                  <a:srgbClr val="94A3B8"/>
                </a:solidFill>
                <a:latin typeface="Calibri"/>
              </a:rPr>
              <a:t>Enterprise-grade technologies — all on free tiers, ready to scale</a:t>
            </a:r>
          </a:p>
        </p:txBody>
      </p:sp>
      <p:sp>
        <p:nvSpPr>
          <p:cNvPr id="5" name="Rectangle 4"/>
          <p:cNvSpPr/>
          <p:nvPr/>
        </p:nvSpPr>
        <p:spPr>
          <a:xfrm>
            <a:off x="548640" y="1115568"/>
            <a:ext cx="10972800" cy="228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37033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370332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554480"/>
            <a:ext cx="502920" cy="502920"/>
          </a:xfrm>
          <a:prstGeom prst="rect">
            <a:avLst/>
          </a:prstGeom>
          <a:noFill/>
        </p:spPr>
        <p:txBody>
          <a:bodyPr wrap="square">
            <a:spAutoFit/>
          </a:bodyPr>
          <a:lstStyle/>
          <a:p>
            <a:pPr algn="l"/>
            <a:r>
              <a:rPr sz="1800" b="0" i="0">
                <a:solidFill>
                  <a:srgbClr val="FFFFFF"/>
                </a:solidFill>
                <a:latin typeface="Calibri"/>
              </a:rPr>
              <a:t>⚡</a:t>
            </a:r>
          </a:p>
        </p:txBody>
      </p:sp>
      <p:sp>
        <p:nvSpPr>
          <p:cNvPr id="9" name="TextBox 8"/>
          <p:cNvSpPr txBox="1"/>
          <p:nvPr/>
        </p:nvSpPr>
        <p:spPr>
          <a:xfrm>
            <a:off x="1051560" y="1536192"/>
            <a:ext cx="2834640" cy="384048"/>
          </a:xfrm>
          <a:prstGeom prst="rect">
            <a:avLst/>
          </a:prstGeom>
          <a:noFill/>
        </p:spPr>
        <p:txBody>
          <a:bodyPr wrap="square">
            <a:spAutoFit/>
          </a:bodyPr>
          <a:lstStyle/>
          <a:p>
            <a:pPr algn="l"/>
            <a:r>
              <a:rPr sz="1300" b="1" i="0">
                <a:solidFill>
                  <a:srgbClr val="FFFFFF"/>
                </a:solidFill>
                <a:latin typeface="Calibri"/>
              </a:rPr>
              <a:t>Next.js 14</a:t>
            </a:r>
          </a:p>
        </p:txBody>
      </p:sp>
      <p:sp>
        <p:nvSpPr>
          <p:cNvPr id="10" name="Rectangle 9"/>
          <p:cNvSpPr/>
          <p:nvPr/>
        </p:nvSpPr>
        <p:spPr>
          <a:xfrm>
            <a:off x="1051560" y="1901952"/>
            <a:ext cx="1920240" cy="24688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1828800" cy="246888"/>
          </a:xfrm>
          <a:prstGeom prst="rect">
            <a:avLst/>
          </a:prstGeom>
          <a:noFill/>
        </p:spPr>
        <p:txBody>
          <a:bodyPr wrap="square">
            <a:spAutoFit/>
          </a:bodyPr>
          <a:lstStyle/>
          <a:p>
            <a:pPr algn="ctr"/>
            <a:r>
              <a:rPr sz="800" b="1" i="0">
                <a:solidFill>
                  <a:srgbClr val="FFFFFF"/>
                </a:solidFill>
                <a:latin typeface="Calibri"/>
              </a:rPr>
              <a:t>Frontend Framework</a:t>
            </a:r>
          </a:p>
        </p:txBody>
      </p:sp>
      <p:sp>
        <p:nvSpPr>
          <p:cNvPr id="12" name="TextBox 11"/>
          <p:cNvSpPr txBox="1"/>
          <p:nvPr/>
        </p:nvSpPr>
        <p:spPr>
          <a:xfrm>
            <a:off x="530352" y="2304288"/>
            <a:ext cx="3383280" cy="548640"/>
          </a:xfrm>
          <a:prstGeom prst="rect">
            <a:avLst/>
          </a:prstGeom>
          <a:noFill/>
        </p:spPr>
        <p:txBody>
          <a:bodyPr wrap="square">
            <a:spAutoFit/>
          </a:bodyPr>
          <a:lstStyle/>
          <a:p>
            <a:pPr algn="l"/>
            <a:r>
              <a:rPr sz="950" b="0" i="0">
                <a:solidFill>
                  <a:srgbClr val="94A3B8"/>
                </a:solidFill>
                <a:latin typeface="Calibri"/>
              </a:rPr>
              <a:t>React-based, server-side rendering, API routes — blazing fast</a:t>
            </a:r>
          </a:p>
        </p:txBody>
      </p:sp>
      <p:sp>
        <p:nvSpPr>
          <p:cNvPr id="13" name="Rectangle 12"/>
          <p:cNvSpPr/>
          <p:nvPr/>
        </p:nvSpPr>
        <p:spPr>
          <a:xfrm>
            <a:off x="4297680" y="1371600"/>
            <a:ext cx="37033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371600"/>
            <a:ext cx="370332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554480"/>
            <a:ext cx="502920" cy="502920"/>
          </a:xfrm>
          <a:prstGeom prst="rect">
            <a:avLst/>
          </a:prstGeom>
          <a:noFill/>
        </p:spPr>
        <p:txBody>
          <a:bodyPr wrap="square">
            <a:spAutoFit/>
          </a:bodyPr>
          <a:lstStyle/>
          <a:p>
            <a:pPr algn="l"/>
            <a:r>
              <a:rPr sz="1800" b="0" i="0">
                <a:solidFill>
                  <a:srgbClr val="FFFFFF"/>
                </a:solidFill>
                <a:latin typeface="Calibri"/>
              </a:rPr>
              <a:t>🗄️</a:t>
            </a:r>
          </a:p>
        </p:txBody>
      </p:sp>
      <p:sp>
        <p:nvSpPr>
          <p:cNvPr id="16" name="TextBox 15"/>
          <p:cNvSpPr txBox="1"/>
          <p:nvPr/>
        </p:nvSpPr>
        <p:spPr>
          <a:xfrm>
            <a:off x="4983480" y="1536192"/>
            <a:ext cx="2834640" cy="384048"/>
          </a:xfrm>
          <a:prstGeom prst="rect">
            <a:avLst/>
          </a:prstGeom>
          <a:noFill/>
        </p:spPr>
        <p:txBody>
          <a:bodyPr wrap="square">
            <a:spAutoFit/>
          </a:bodyPr>
          <a:lstStyle/>
          <a:p>
            <a:pPr algn="l"/>
            <a:r>
              <a:rPr sz="1300" b="1" i="0">
                <a:solidFill>
                  <a:srgbClr val="FFFFFF"/>
                </a:solidFill>
                <a:latin typeface="Calibri"/>
              </a:rPr>
              <a:t>Supabase</a:t>
            </a:r>
          </a:p>
        </p:txBody>
      </p:sp>
      <p:sp>
        <p:nvSpPr>
          <p:cNvPr id="17" name="Rectangle 16"/>
          <p:cNvSpPr/>
          <p:nvPr/>
        </p:nvSpPr>
        <p:spPr>
          <a:xfrm>
            <a:off x="4983480" y="1901952"/>
            <a:ext cx="1920240" cy="2468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1920240"/>
            <a:ext cx="1828800" cy="246888"/>
          </a:xfrm>
          <a:prstGeom prst="rect">
            <a:avLst/>
          </a:prstGeom>
          <a:noFill/>
        </p:spPr>
        <p:txBody>
          <a:bodyPr wrap="square">
            <a:spAutoFit/>
          </a:bodyPr>
          <a:lstStyle/>
          <a:p>
            <a:pPr algn="ctr"/>
            <a:r>
              <a:rPr sz="800" b="1" i="0">
                <a:solidFill>
                  <a:srgbClr val="FFFFFF"/>
                </a:solidFill>
                <a:latin typeface="Calibri"/>
              </a:rPr>
              <a:t>Database &amp; Auth</a:t>
            </a:r>
          </a:p>
        </p:txBody>
      </p:sp>
      <p:sp>
        <p:nvSpPr>
          <p:cNvPr id="19" name="TextBox 18"/>
          <p:cNvSpPr txBox="1"/>
          <p:nvPr/>
        </p:nvSpPr>
        <p:spPr>
          <a:xfrm>
            <a:off x="4462272" y="2304288"/>
            <a:ext cx="3383280" cy="548640"/>
          </a:xfrm>
          <a:prstGeom prst="rect">
            <a:avLst/>
          </a:prstGeom>
          <a:noFill/>
        </p:spPr>
        <p:txBody>
          <a:bodyPr wrap="square">
            <a:spAutoFit/>
          </a:bodyPr>
          <a:lstStyle/>
          <a:p>
            <a:pPr algn="l"/>
            <a:r>
              <a:rPr sz="950" b="0" i="0">
                <a:solidFill>
                  <a:srgbClr val="94A3B8"/>
                </a:solidFill>
                <a:latin typeface="Calibri"/>
              </a:rPr>
              <a:t>PostgreSQL + Row Level Security + real-time subscriptions</a:t>
            </a:r>
          </a:p>
        </p:txBody>
      </p:sp>
      <p:sp>
        <p:nvSpPr>
          <p:cNvPr id="20" name="Rectangle 19"/>
          <p:cNvSpPr/>
          <p:nvPr/>
        </p:nvSpPr>
        <p:spPr>
          <a:xfrm>
            <a:off x="8229600" y="3154680"/>
            <a:ext cx="37033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154680"/>
            <a:ext cx="37033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94192" y="3337560"/>
            <a:ext cx="502920" cy="502920"/>
          </a:xfrm>
          <a:prstGeom prst="rect">
            <a:avLst/>
          </a:prstGeom>
          <a:noFill/>
        </p:spPr>
        <p:txBody>
          <a:bodyPr wrap="square">
            <a:spAutoFit/>
          </a:bodyPr>
          <a:lstStyle/>
          <a:p>
            <a:pPr algn="l"/>
            <a:r>
              <a:rPr sz="1800" b="0" i="0">
                <a:solidFill>
                  <a:srgbClr val="FFFFFF"/>
                </a:solidFill>
                <a:latin typeface="Calibri"/>
              </a:rPr>
              <a:t>🤖</a:t>
            </a:r>
          </a:p>
        </p:txBody>
      </p:sp>
      <p:sp>
        <p:nvSpPr>
          <p:cNvPr id="23" name="TextBox 22"/>
          <p:cNvSpPr txBox="1"/>
          <p:nvPr/>
        </p:nvSpPr>
        <p:spPr>
          <a:xfrm>
            <a:off x="8915400" y="3319272"/>
            <a:ext cx="2834640" cy="384048"/>
          </a:xfrm>
          <a:prstGeom prst="rect">
            <a:avLst/>
          </a:prstGeom>
          <a:noFill/>
        </p:spPr>
        <p:txBody>
          <a:bodyPr wrap="square">
            <a:spAutoFit/>
          </a:bodyPr>
          <a:lstStyle/>
          <a:p>
            <a:pPr algn="l"/>
            <a:r>
              <a:rPr sz="1300" b="1" i="0">
                <a:solidFill>
                  <a:srgbClr val="FFFFFF"/>
                </a:solidFill>
                <a:latin typeface="Calibri"/>
              </a:rPr>
              <a:t>Google Gemini</a:t>
            </a:r>
          </a:p>
        </p:txBody>
      </p:sp>
      <p:sp>
        <p:nvSpPr>
          <p:cNvPr id="24" name="Rectangle 23"/>
          <p:cNvSpPr/>
          <p:nvPr/>
        </p:nvSpPr>
        <p:spPr>
          <a:xfrm>
            <a:off x="8915400" y="3685032"/>
            <a:ext cx="1920240" cy="2468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0" y="3703320"/>
            <a:ext cx="1828800" cy="246888"/>
          </a:xfrm>
          <a:prstGeom prst="rect">
            <a:avLst/>
          </a:prstGeom>
          <a:noFill/>
        </p:spPr>
        <p:txBody>
          <a:bodyPr wrap="square">
            <a:spAutoFit/>
          </a:bodyPr>
          <a:lstStyle/>
          <a:p>
            <a:pPr algn="ctr"/>
            <a:r>
              <a:rPr sz="800" b="1" i="0">
                <a:solidFill>
                  <a:srgbClr val="FFFFFF"/>
                </a:solidFill>
                <a:latin typeface="Calibri"/>
              </a:rPr>
              <a:t>AI Engine</a:t>
            </a:r>
          </a:p>
        </p:txBody>
      </p:sp>
      <p:sp>
        <p:nvSpPr>
          <p:cNvPr id="26" name="TextBox 25"/>
          <p:cNvSpPr txBox="1"/>
          <p:nvPr/>
        </p:nvSpPr>
        <p:spPr>
          <a:xfrm>
            <a:off x="8394192" y="4087368"/>
            <a:ext cx="3383280" cy="548640"/>
          </a:xfrm>
          <a:prstGeom prst="rect">
            <a:avLst/>
          </a:prstGeom>
          <a:noFill/>
        </p:spPr>
        <p:txBody>
          <a:bodyPr wrap="square">
            <a:spAutoFit/>
          </a:bodyPr>
          <a:lstStyle/>
          <a:p>
            <a:pPr algn="l"/>
            <a:r>
              <a:rPr sz="950" b="0" i="0">
                <a:solidFill>
                  <a:srgbClr val="94A3B8"/>
                </a:solidFill>
                <a:latin typeface="Calibri"/>
              </a:rPr>
              <a:t>1.5 Flash — transcription, action extraction &amp; co-pilot</a:t>
            </a:r>
          </a:p>
        </p:txBody>
      </p:sp>
      <p:sp>
        <p:nvSpPr>
          <p:cNvPr id="27" name="Rectangle 26"/>
          <p:cNvSpPr/>
          <p:nvPr/>
        </p:nvSpPr>
        <p:spPr>
          <a:xfrm>
            <a:off x="365760" y="3154680"/>
            <a:ext cx="37033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154680"/>
            <a:ext cx="37033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337560"/>
            <a:ext cx="502920" cy="502920"/>
          </a:xfrm>
          <a:prstGeom prst="rect">
            <a:avLst/>
          </a:prstGeom>
          <a:noFill/>
        </p:spPr>
        <p:txBody>
          <a:bodyPr wrap="square">
            <a:spAutoFit/>
          </a:bodyPr>
          <a:lstStyle/>
          <a:p>
            <a:pPr algn="l"/>
            <a:r>
              <a:rPr sz="1800" b="0" i="0">
                <a:solidFill>
                  <a:srgbClr val="FFFFFF"/>
                </a:solidFill>
                <a:latin typeface="Calibri"/>
              </a:rPr>
              <a:t>📧</a:t>
            </a:r>
          </a:p>
        </p:txBody>
      </p:sp>
      <p:sp>
        <p:nvSpPr>
          <p:cNvPr id="30" name="TextBox 29"/>
          <p:cNvSpPr txBox="1"/>
          <p:nvPr/>
        </p:nvSpPr>
        <p:spPr>
          <a:xfrm>
            <a:off x="1051560" y="3319272"/>
            <a:ext cx="2834640" cy="384048"/>
          </a:xfrm>
          <a:prstGeom prst="rect">
            <a:avLst/>
          </a:prstGeom>
          <a:noFill/>
        </p:spPr>
        <p:txBody>
          <a:bodyPr wrap="square">
            <a:spAutoFit/>
          </a:bodyPr>
          <a:lstStyle/>
          <a:p>
            <a:pPr algn="l"/>
            <a:r>
              <a:rPr sz="1300" b="1" i="0">
                <a:solidFill>
                  <a:srgbClr val="FFFFFF"/>
                </a:solidFill>
                <a:latin typeface="Calibri"/>
              </a:rPr>
              <a:t>EmailJS</a:t>
            </a:r>
          </a:p>
        </p:txBody>
      </p:sp>
      <p:sp>
        <p:nvSpPr>
          <p:cNvPr id="31" name="Rectangle 30"/>
          <p:cNvSpPr/>
          <p:nvPr/>
        </p:nvSpPr>
        <p:spPr>
          <a:xfrm>
            <a:off x="1051560" y="3685032"/>
            <a:ext cx="1920240" cy="2468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3703320"/>
            <a:ext cx="1828800" cy="246888"/>
          </a:xfrm>
          <a:prstGeom prst="rect">
            <a:avLst/>
          </a:prstGeom>
          <a:noFill/>
        </p:spPr>
        <p:txBody>
          <a:bodyPr wrap="square">
            <a:spAutoFit/>
          </a:bodyPr>
          <a:lstStyle/>
          <a:p>
            <a:pPr algn="ctr"/>
            <a:r>
              <a:rPr sz="800" b="1" i="0">
                <a:solidFill>
                  <a:srgbClr val="FFFFFF"/>
                </a:solidFill>
                <a:latin typeface="Calibri"/>
              </a:rPr>
              <a:t>Email Delivery</a:t>
            </a:r>
          </a:p>
        </p:txBody>
      </p:sp>
      <p:sp>
        <p:nvSpPr>
          <p:cNvPr id="33" name="TextBox 32"/>
          <p:cNvSpPr txBox="1"/>
          <p:nvPr/>
        </p:nvSpPr>
        <p:spPr>
          <a:xfrm>
            <a:off x="530352" y="4087368"/>
            <a:ext cx="3383280" cy="548640"/>
          </a:xfrm>
          <a:prstGeom prst="rect">
            <a:avLst/>
          </a:prstGeom>
          <a:noFill/>
        </p:spPr>
        <p:txBody>
          <a:bodyPr wrap="square">
            <a:spAutoFit/>
          </a:bodyPr>
          <a:lstStyle/>
          <a:p>
            <a:pPr algn="l"/>
            <a:r>
              <a:rPr sz="950" b="0" i="0">
                <a:solidFill>
                  <a:srgbClr val="94A3B8"/>
                </a:solidFill>
                <a:latin typeface="Calibri"/>
              </a:rPr>
              <a:t>Template-based transactional emails — 200/month free</a:t>
            </a:r>
          </a:p>
        </p:txBody>
      </p:sp>
      <p:sp>
        <p:nvSpPr>
          <p:cNvPr id="34" name="Rectangle 33"/>
          <p:cNvSpPr/>
          <p:nvPr/>
        </p:nvSpPr>
        <p:spPr>
          <a:xfrm>
            <a:off x="4297680" y="4937760"/>
            <a:ext cx="37033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297680" y="4937760"/>
            <a:ext cx="370332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2272" y="5120640"/>
            <a:ext cx="502920" cy="502920"/>
          </a:xfrm>
          <a:prstGeom prst="rect">
            <a:avLst/>
          </a:prstGeom>
          <a:noFill/>
        </p:spPr>
        <p:txBody>
          <a:bodyPr wrap="square">
            <a:spAutoFit/>
          </a:bodyPr>
          <a:lstStyle/>
          <a:p>
            <a:pPr algn="l"/>
            <a:r>
              <a:rPr sz="1800" b="0" i="0">
                <a:solidFill>
                  <a:srgbClr val="FFFFFF"/>
                </a:solidFill>
                <a:latin typeface="Calibri"/>
              </a:rPr>
              <a:t>☁️</a:t>
            </a:r>
          </a:p>
        </p:txBody>
      </p:sp>
      <p:sp>
        <p:nvSpPr>
          <p:cNvPr id="37" name="TextBox 36"/>
          <p:cNvSpPr txBox="1"/>
          <p:nvPr/>
        </p:nvSpPr>
        <p:spPr>
          <a:xfrm>
            <a:off x="4983480" y="5102352"/>
            <a:ext cx="2834640" cy="384048"/>
          </a:xfrm>
          <a:prstGeom prst="rect">
            <a:avLst/>
          </a:prstGeom>
          <a:noFill/>
        </p:spPr>
        <p:txBody>
          <a:bodyPr wrap="square">
            <a:spAutoFit/>
          </a:bodyPr>
          <a:lstStyle/>
          <a:p>
            <a:pPr algn="l"/>
            <a:r>
              <a:rPr sz="1300" b="1" i="0">
                <a:solidFill>
                  <a:srgbClr val="FFFFFF"/>
                </a:solidFill>
                <a:latin typeface="Calibri"/>
              </a:rPr>
              <a:t>Vercel</a:t>
            </a:r>
          </a:p>
        </p:txBody>
      </p:sp>
      <p:sp>
        <p:nvSpPr>
          <p:cNvPr id="38" name="Rectangle 37"/>
          <p:cNvSpPr/>
          <p:nvPr/>
        </p:nvSpPr>
        <p:spPr>
          <a:xfrm>
            <a:off x="4983480" y="5468112"/>
            <a:ext cx="1920240" cy="24688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0" y="5486400"/>
            <a:ext cx="1828800" cy="246888"/>
          </a:xfrm>
          <a:prstGeom prst="rect">
            <a:avLst/>
          </a:prstGeom>
          <a:noFill/>
        </p:spPr>
        <p:txBody>
          <a:bodyPr wrap="square">
            <a:spAutoFit/>
          </a:bodyPr>
          <a:lstStyle/>
          <a:p>
            <a:pPr algn="ctr"/>
            <a:r>
              <a:rPr sz="800" b="1" i="0">
                <a:solidFill>
                  <a:srgbClr val="FFFFFF"/>
                </a:solidFill>
                <a:latin typeface="Calibri"/>
              </a:rPr>
              <a:t>Cloud Hosting</a:t>
            </a:r>
          </a:p>
        </p:txBody>
      </p:sp>
      <p:sp>
        <p:nvSpPr>
          <p:cNvPr id="40" name="TextBox 39"/>
          <p:cNvSpPr txBox="1"/>
          <p:nvPr/>
        </p:nvSpPr>
        <p:spPr>
          <a:xfrm>
            <a:off x="4462272" y="5870448"/>
            <a:ext cx="3383280" cy="548640"/>
          </a:xfrm>
          <a:prstGeom prst="rect">
            <a:avLst/>
          </a:prstGeom>
          <a:noFill/>
        </p:spPr>
        <p:txBody>
          <a:bodyPr wrap="square">
            <a:spAutoFit/>
          </a:bodyPr>
          <a:lstStyle/>
          <a:p>
            <a:pPr algn="l"/>
            <a:r>
              <a:rPr sz="950" b="0" i="0">
                <a:solidFill>
                  <a:srgbClr val="94A3B8"/>
                </a:solidFill>
                <a:latin typeface="Calibri"/>
              </a:rPr>
              <a:t>Zero-config deployment, edge functions, cron jobs</a:t>
            </a:r>
          </a:p>
        </p:txBody>
      </p:sp>
      <p:sp>
        <p:nvSpPr>
          <p:cNvPr id="41" name="Rectangle 40"/>
          <p:cNvSpPr/>
          <p:nvPr/>
        </p:nvSpPr>
        <p:spPr>
          <a:xfrm>
            <a:off x="8229600" y="4937760"/>
            <a:ext cx="37033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29600" y="4937760"/>
            <a:ext cx="3703320" cy="54864"/>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94192" y="5120640"/>
            <a:ext cx="502920" cy="502920"/>
          </a:xfrm>
          <a:prstGeom prst="rect">
            <a:avLst/>
          </a:prstGeom>
          <a:noFill/>
        </p:spPr>
        <p:txBody>
          <a:bodyPr wrap="square">
            <a:spAutoFit/>
          </a:bodyPr>
          <a:lstStyle/>
          <a:p>
            <a:pPr algn="l"/>
            <a:r>
              <a:rPr sz="1800" b="0" i="0">
                <a:solidFill>
                  <a:srgbClr val="FFFFFF"/>
                </a:solidFill>
                <a:latin typeface="Calibri"/>
              </a:rPr>
              <a:t>🔒</a:t>
            </a:r>
          </a:p>
        </p:txBody>
      </p:sp>
      <p:sp>
        <p:nvSpPr>
          <p:cNvPr id="44" name="TextBox 43"/>
          <p:cNvSpPr txBox="1"/>
          <p:nvPr/>
        </p:nvSpPr>
        <p:spPr>
          <a:xfrm>
            <a:off x="8915400" y="5102352"/>
            <a:ext cx="2834640" cy="384048"/>
          </a:xfrm>
          <a:prstGeom prst="rect">
            <a:avLst/>
          </a:prstGeom>
          <a:noFill/>
        </p:spPr>
        <p:txBody>
          <a:bodyPr wrap="square">
            <a:spAutoFit/>
          </a:bodyPr>
          <a:lstStyle/>
          <a:p>
            <a:pPr algn="l"/>
            <a:r>
              <a:rPr sz="1300" b="1" i="0">
                <a:solidFill>
                  <a:srgbClr val="FFFFFF"/>
                </a:solidFill>
                <a:latin typeface="Calibri"/>
              </a:rPr>
              <a:t>Supabase Auth</a:t>
            </a:r>
          </a:p>
        </p:txBody>
      </p:sp>
      <p:sp>
        <p:nvSpPr>
          <p:cNvPr id="45" name="Rectangle 44"/>
          <p:cNvSpPr/>
          <p:nvPr/>
        </p:nvSpPr>
        <p:spPr>
          <a:xfrm>
            <a:off x="8915400" y="5468112"/>
            <a:ext cx="1920240" cy="246888"/>
          </a:xfrm>
          <a:prstGeom prst="rect">
            <a:avLst/>
          </a:prstGeom>
          <a:solidFill>
            <a:srgbClr val="A8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0" y="5486400"/>
            <a:ext cx="1828800" cy="246888"/>
          </a:xfrm>
          <a:prstGeom prst="rect">
            <a:avLst/>
          </a:prstGeom>
          <a:noFill/>
        </p:spPr>
        <p:txBody>
          <a:bodyPr wrap="square">
            <a:spAutoFit/>
          </a:bodyPr>
          <a:lstStyle/>
          <a:p>
            <a:pPr algn="ctr"/>
            <a:r>
              <a:rPr sz="800" b="1" i="0">
                <a:solidFill>
                  <a:srgbClr val="FFFFFF"/>
                </a:solidFill>
                <a:latin typeface="Calibri"/>
              </a:rPr>
              <a:t>Security</a:t>
            </a:r>
          </a:p>
        </p:txBody>
      </p:sp>
      <p:sp>
        <p:nvSpPr>
          <p:cNvPr id="47" name="TextBox 46"/>
          <p:cNvSpPr txBox="1"/>
          <p:nvPr/>
        </p:nvSpPr>
        <p:spPr>
          <a:xfrm>
            <a:off x="8394192" y="5870448"/>
            <a:ext cx="3383280" cy="548640"/>
          </a:xfrm>
          <a:prstGeom prst="rect">
            <a:avLst/>
          </a:prstGeom>
          <a:noFill/>
        </p:spPr>
        <p:txBody>
          <a:bodyPr wrap="square">
            <a:spAutoFit/>
          </a:bodyPr>
          <a:lstStyle/>
          <a:p>
            <a:pPr algn="l"/>
            <a:r>
              <a:rPr sz="950" b="0" i="0">
                <a:solidFill>
                  <a:srgbClr val="94A3B8"/>
                </a:solidFill>
                <a:latin typeface="Calibri"/>
              </a:rPr>
              <a:t>JWT sessions, RLS policies — data isolated per user/role</a:t>
            </a:r>
          </a:p>
        </p:txBody>
      </p:sp>
      <p:sp>
        <p:nvSpPr>
          <p:cNvPr id="48" name="Rectangle 47"/>
          <p:cNvSpPr/>
          <p:nvPr/>
        </p:nvSpPr>
        <p:spPr>
          <a:xfrm>
            <a:off x="365760" y="6446520"/>
            <a:ext cx="11430000" cy="320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6473952"/>
            <a:ext cx="10972800" cy="256032"/>
          </a:xfrm>
          <a:prstGeom prst="rect">
            <a:avLst/>
          </a:prstGeom>
          <a:noFill/>
        </p:spPr>
        <p:txBody>
          <a:bodyPr wrap="square">
            <a:spAutoFit/>
          </a:bodyPr>
          <a:lstStyle/>
          <a:p>
            <a:pPr algn="ctr"/>
            <a:r>
              <a:rPr sz="1100" b="1" i="0">
                <a:solidFill>
                  <a:srgbClr val="10B981"/>
                </a:solidFill>
                <a:latin typeface="Calibri"/>
              </a:rPr>
              <a:t>💰  Total Infrastructure Cost: $0 / month on current free tiers  ·  Scales to paid tiers seamlessly as usage grows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48640"/>
          </a:xfrm>
          <a:prstGeom prst="rect">
            <a:avLst/>
          </a:prstGeom>
          <a:noFill/>
        </p:spPr>
        <p:txBody>
          <a:bodyPr wrap="square">
            <a:spAutoFit/>
          </a:bodyPr>
          <a:lstStyle/>
          <a:p>
            <a:pPr algn="l"/>
            <a:r>
              <a:rPr sz="2800" b="1" i="0">
                <a:solidFill>
                  <a:srgbClr val="FFFFFF"/>
                </a:solidFill>
                <a:latin typeface="Calibri"/>
              </a:rPr>
              <a:t>Impact &amp; Benefits</a:t>
            </a:r>
          </a:p>
        </p:txBody>
      </p:sp>
      <p:sp>
        <p:nvSpPr>
          <p:cNvPr id="4" name="TextBox 3"/>
          <p:cNvSpPr txBox="1"/>
          <p:nvPr/>
        </p:nvSpPr>
        <p:spPr>
          <a:xfrm>
            <a:off x="548640" y="749808"/>
            <a:ext cx="9144000" cy="365760"/>
          </a:xfrm>
          <a:prstGeom prst="rect">
            <a:avLst/>
          </a:prstGeom>
          <a:noFill/>
        </p:spPr>
        <p:txBody>
          <a:bodyPr wrap="square">
            <a:spAutoFit/>
          </a:bodyPr>
          <a:lstStyle/>
          <a:p>
            <a:pPr algn="l"/>
            <a:r>
              <a:rPr sz="1300" b="0" i="0">
                <a:solidFill>
                  <a:srgbClr val="94A3B8"/>
                </a:solidFill>
                <a:latin typeface="Calibri"/>
              </a:rPr>
              <a:t>What SCIDaR gains from implementing this system</a:t>
            </a:r>
          </a:p>
        </p:txBody>
      </p:sp>
      <p:sp>
        <p:nvSpPr>
          <p:cNvPr id="5" name="Rectangle 4"/>
          <p:cNvSpPr/>
          <p:nvPr/>
        </p:nvSpPr>
        <p:spPr>
          <a:xfrm>
            <a:off x="548640" y="1115568"/>
            <a:ext cx="10972800" cy="228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2743200" cy="2194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274320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08760"/>
            <a:ext cx="2514600" cy="777240"/>
          </a:xfrm>
          <a:prstGeom prst="rect">
            <a:avLst/>
          </a:prstGeom>
          <a:noFill/>
        </p:spPr>
        <p:txBody>
          <a:bodyPr wrap="square">
            <a:spAutoFit/>
          </a:bodyPr>
          <a:lstStyle/>
          <a:p>
            <a:pPr algn="ctr"/>
            <a:r>
              <a:rPr sz="3200" b="1" i="0">
                <a:solidFill>
                  <a:srgbClr val="10B981"/>
                </a:solidFill>
                <a:latin typeface="Calibri"/>
              </a:rPr>
              <a:t>0</a:t>
            </a:r>
          </a:p>
        </p:txBody>
      </p:sp>
      <p:sp>
        <p:nvSpPr>
          <p:cNvPr id="9" name="TextBox 8"/>
          <p:cNvSpPr txBox="1"/>
          <p:nvPr/>
        </p:nvSpPr>
        <p:spPr>
          <a:xfrm>
            <a:off x="502920" y="2331720"/>
            <a:ext cx="2514600" cy="457200"/>
          </a:xfrm>
          <a:prstGeom prst="rect">
            <a:avLst/>
          </a:prstGeom>
          <a:noFill/>
        </p:spPr>
        <p:txBody>
          <a:bodyPr wrap="square">
            <a:spAutoFit/>
          </a:bodyPr>
          <a:lstStyle/>
          <a:p>
            <a:pPr algn="ctr"/>
            <a:r>
              <a:rPr sz="1100" b="1" i="0">
                <a:solidFill>
                  <a:srgbClr val="FFFFFF"/>
                </a:solidFill>
                <a:latin typeface="Calibri"/>
              </a:rPr>
              <a:t>Lost Action
Points</a:t>
            </a:r>
          </a:p>
        </p:txBody>
      </p:sp>
      <p:sp>
        <p:nvSpPr>
          <p:cNvPr id="10" name="TextBox 9"/>
          <p:cNvSpPr txBox="1"/>
          <p:nvPr/>
        </p:nvSpPr>
        <p:spPr>
          <a:xfrm>
            <a:off x="502920" y="2852928"/>
            <a:ext cx="2514600" cy="594360"/>
          </a:xfrm>
          <a:prstGeom prst="rect">
            <a:avLst/>
          </a:prstGeom>
          <a:noFill/>
        </p:spPr>
        <p:txBody>
          <a:bodyPr wrap="square">
            <a:spAutoFit/>
          </a:bodyPr>
          <a:lstStyle/>
          <a:p>
            <a:pPr algn="ctr"/>
            <a:r>
              <a:rPr sz="900" b="0" i="0">
                <a:solidFill>
                  <a:srgbClr val="94A3B8"/>
                </a:solidFill>
                <a:latin typeface="Calibri"/>
              </a:rPr>
              <a:t>Every decision from every meeting is captured, assigned and tracked to completion.</a:t>
            </a:r>
          </a:p>
        </p:txBody>
      </p:sp>
      <p:sp>
        <p:nvSpPr>
          <p:cNvPr id="11" name="Rectangle 10"/>
          <p:cNvSpPr/>
          <p:nvPr/>
        </p:nvSpPr>
        <p:spPr>
          <a:xfrm>
            <a:off x="3291840" y="1371600"/>
            <a:ext cx="2743200" cy="2194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371600"/>
            <a:ext cx="274320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508760"/>
            <a:ext cx="2514600" cy="777240"/>
          </a:xfrm>
          <a:prstGeom prst="rect">
            <a:avLst/>
          </a:prstGeom>
          <a:noFill/>
        </p:spPr>
        <p:txBody>
          <a:bodyPr wrap="square">
            <a:spAutoFit/>
          </a:bodyPr>
          <a:lstStyle/>
          <a:p>
            <a:pPr algn="ctr"/>
            <a:r>
              <a:rPr sz="3200" b="1" i="0">
                <a:solidFill>
                  <a:srgbClr val="0EA5E9"/>
                </a:solidFill>
                <a:latin typeface="Calibri"/>
              </a:rPr>
              <a:t>∞</a:t>
            </a:r>
          </a:p>
        </p:txBody>
      </p:sp>
      <p:sp>
        <p:nvSpPr>
          <p:cNvPr id="14" name="TextBox 13"/>
          <p:cNvSpPr txBox="1"/>
          <p:nvPr/>
        </p:nvSpPr>
        <p:spPr>
          <a:xfrm>
            <a:off x="3429000" y="2331720"/>
            <a:ext cx="2514600" cy="457200"/>
          </a:xfrm>
          <a:prstGeom prst="rect">
            <a:avLst/>
          </a:prstGeom>
          <a:noFill/>
        </p:spPr>
        <p:txBody>
          <a:bodyPr wrap="square">
            <a:spAutoFit/>
          </a:bodyPr>
          <a:lstStyle/>
          <a:p>
            <a:pPr algn="ctr"/>
            <a:r>
              <a:rPr sz="1100" b="1" i="0">
                <a:solidFill>
                  <a:srgbClr val="FFFFFF"/>
                </a:solidFill>
                <a:latin typeface="Calibri"/>
              </a:rPr>
              <a:t>Meetings
Tracked</a:t>
            </a:r>
          </a:p>
        </p:txBody>
      </p:sp>
      <p:sp>
        <p:nvSpPr>
          <p:cNvPr id="15" name="TextBox 14"/>
          <p:cNvSpPr txBox="1"/>
          <p:nvPr/>
        </p:nvSpPr>
        <p:spPr>
          <a:xfrm>
            <a:off x="3429000" y="2852928"/>
            <a:ext cx="2514600" cy="594360"/>
          </a:xfrm>
          <a:prstGeom prst="rect">
            <a:avLst/>
          </a:prstGeom>
          <a:noFill/>
        </p:spPr>
        <p:txBody>
          <a:bodyPr wrap="square">
            <a:spAutoFit/>
          </a:bodyPr>
          <a:lstStyle/>
          <a:p>
            <a:pPr algn="ctr"/>
            <a:r>
              <a:rPr sz="900" b="0" i="0">
                <a:solidFill>
                  <a:srgbClr val="94A3B8"/>
                </a:solidFill>
                <a:latin typeface="Calibri"/>
              </a:rPr>
              <a:t>Unlimited meeting history with full transcripts, action points and completion records.</a:t>
            </a:r>
          </a:p>
        </p:txBody>
      </p:sp>
      <p:sp>
        <p:nvSpPr>
          <p:cNvPr id="16" name="Rectangle 15"/>
          <p:cNvSpPr/>
          <p:nvPr/>
        </p:nvSpPr>
        <p:spPr>
          <a:xfrm>
            <a:off x="6217920" y="1371600"/>
            <a:ext cx="2743200" cy="2194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71600"/>
            <a:ext cx="2743200"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508760"/>
            <a:ext cx="2514600" cy="777240"/>
          </a:xfrm>
          <a:prstGeom prst="rect">
            <a:avLst/>
          </a:prstGeom>
          <a:noFill/>
        </p:spPr>
        <p:txBody>
          <a:bodyPr wrap="square">
            <a:spAutoFit/>
          </a:bodyPr>
          <a:lstStyle/>
          <a:p>
            <a:pPr algn="ctr"/>
            <a:r>
              <a:rPr sz="3200" b="1" i="0">
                <a:solidFill>
                  <a:srgbClr val="4F46E5"/>
                </a:solidFill>
                <a:latin typeface="Calibri"/>
              </a:rPr>
              <a:t>&lt; 60s</a:t>
            </a:r>
          </a:p>
        </p:txBody>
      </p:sp>
      <p:sp>
        <p:nvSpPr>
          <p:cNvPr id="19" name="TextBox 18"/>
          <p:cNvSpPr txBox="1"/>
          <p:nvPr/>
        </p:nvSpPr>
        <p:spPr>
          <a:xfrm>
            <a:off x="6355080" y="2331720"/>
            <a:ext cx="2514600" cy="457200"/>
          </a:xfrm>
          <a:prstGeom prst="rect">
            <a:avLst/>
          </a:prstGeom>
          <a:noFill/>
        </p:spPr>
        <p:txBody>
          <a:bodyPr wrap="square">
            <a:spAutoFit/>
          </a:bodyPr>
          <a:lstStyle/>
          <a:p>
            <a:pPr algn="ctr"/>
            <a:r>
              <a:rPr sz="1100" b="1" i="0">
                <a:solidFill>
                  <a:srgbClr val="FFFFFF"/>
                </a:solidFill>
                <a:latin typeface="Calibri"/>
              </a:rPr>
              <a:t>From Voice
to Task Board</a:t>
            </a:r>
          </a:p>
        </p:txBody>
      </p:sp>
      <p:sp>
        <p:nvSpPr>
          <p:cNvPr id="20" name="TextBox 19"/>
          <p:cNvSpPr txBox="1"/>
          <p:nvPr/>
        </p:nvSpPr>
        <p:spPr>
          <a:xfrm>
            <a:off x="6355080" y="2852928"/>
            <a:ext cx="2514600" cy="594360"/>
          </a:xfrm>
          <a:prstGeom prst="rect">
            <a:avLst/>
          </a:prstGeom>
          <a:noFill/>
        </p:spPr>
        <p:txBody>
          <a:bodyPr wrap="square">
            <a:spAutoFit/>
          </a:bodyPr>
          <a:lstStyle/>
          <a:p>
            <a:pPr algn="ctr"/>
            <a:r>
              <a:rPr sz="900" b="0" i="0">
                <a:solidFill>
                  <a:srgbClr val="94A3B8"/>
                </a:solidFill>
                <a:latin typeface="Calibri"/>
              </a:rPr>
              <a:t>AI extracts and assigns action points from live audio in under a minute.</a:t>
            </a:r>
          </a:p>
        </p:txBody>
      </p:sp>
      <p:sp>
        <p:nvSpPr>
          <p:cNvPr id="21" name="Rectangle 20"/>
          <p:cNvSpPr/>
          <p:nvPr/>
        </p:nvSpPr>
        <p:spPr>
          <a:xfrm>
            <a:off x="9144000" y="1371600"/>
            <a:ext cx="2743200" cy="2194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371600"/>
            <a:ext cx="274320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60" y="1508760"/>
            <a:ext cx="2514600" cy="777240"/>
          </a:xfrm>
          <a:prstGeom prst="rect">
            <a:avLst/>
          </a:prstGeom>
          <a:noFill/>
        </p:spPr>
        <p:txBody>
          <a:bodyPr wrap="square">
            <a:spAutoFit/>
          </a:bodyPr>
          <a:lstStyle/>
          <a:p>
            <a:pPr algn="ctr"/>
            <a:r>
              <a:rPr sz="3200" b="1" i="0">
                <a:solidFill>
                  <a:srgbClr val="F59E0B"/>
                </a:solidFill>
                <a:latin typeface="Calibri"/>
              </a:rPr>
              <a:t>100%</a:t>
            </a:r>
          </a:p>
        </p:txBody>
      </p:sp>
      <p:sp>
        <p:nvSpPr>
          <p:cNvPr id="24" name="TextBox 23"/>
          <p:cNvSpPr txBox="1"/>
          <p:nvPr/>
        </p:nvSpPr>
        <p:spPr>
          <a:xfrm>
            <a:off x="9281160" y="2331720"/>
            <a:ext cx="2514600" cy="457200"/>
          </a:xfrm>
          <a:prstGeom prst="rect">
            <a:avLst/>
          </a:prstGeom>
          <a:noFill/>
        </p:spPr>
        <p:txBody>
          <a:bodyPr wrap="square">
            <a:spAutoFit/>
          </a:bodyPr>
          <a:lstStyle/>
          <a:p>
            <a:pPr algn="ctr"/>
            <a:r>
              <a:rPr sz="1100" b="1" i="0">
                <a:solidFill>
                  <a:srgbClr val="FFFFFF"/>
                </a:solidFill>
                <a:latin typeface="Calibri"/>
              </a:rPr>
              <a:t>Delivery
Accountability</a:t>
            </a:r>
          </a:p>
        </p:txBody>
      </p:sp>
      <p:sp>
        <p:nvSpPr>
          <p:cNvPr id="25" name="TextBox 24"/>
          <p:cNvSpPr txBox="1"/>
          <p:nvPr/>
        </p:nvSpPr>
        <p:spPr>
          <a:xfrm>
            <a:off x="9281160" y="2852928"/>
            <a:ext cx="2514600" cy="594360"/>
          </a:xfrm>
          <a:prstGeom prst="rect">
            <a:avLst/>
          </a:prstGeom>
          <a:noFill/>
        </p:spPr>
        <p:txBody>
          <a:bodyPr wrap="square">
            <a:spAutoFit/>
          </a:bodyPr>
          <a:lstStyle/>
          <a:p>
            <a:pPr algn="ctr"/>
            <a:r>
              <a:rPr sz="900" b="0" i="0">
                <a:solidFill>
                  <a:srgbClr val="94A3B8"/>
                </a:solidFill>
                <a:latin typeface="Calibri"/>
              </a:rPr>
              <a:t>Every task has a named owner, deadline and verified completion — no exceptions.</a:t>
            </a:r>
          </a:p>
        </p:txBody>
      </p:sp>
      <p:sp>
        <p:nvSpPr>
          <p:cNvPr id="26" name="Rectangle 25"/>
          <p:cNvSpPr/>
          <p:nvPr/>
        </p:nvSpPr>
        <p:spPr>
          <a:xfrm>
            <a:off x="365760" y="3794760"/>
            <a:ext cx="5669280" cy="749808"/>
          </a:xfrm>
          <a:prstGeom prst="rect">
            <a:avLst/>
          </a:prstGeom>
          <a:solidFill>
            <a:srgbClr val="0F2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3794760"/>
            <a:ext cx="45720"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867912"/>
            <a:ext cx="2011680" cy="320040"/>
          </a:xfrm>
          <a:prstGeom prst="rect">
            <a:avLst/>
          </a:prstGeom>
          <a:noFill/>
        </p:spPr>
        <p:txBody>
          <a:bodyPr wrap="square">
            <a:spAutoFit/>
          </a:bodyPr>
          <a:lstStyle/>
          <a:p>
            <a:pPr algn="l"/>
            <a:r>
              <a:rPr sz="1100" b="1" i="0">
                <a:solidFill>
                  <a:srgbClr val="FFFFFF"/>
                </a:solidFill>
                <a:latin typeface="Calibri"/>
              </a:rPr>
              <a:t>🕐 Time Saved</a:t>
            </a:r>
          </a:p>
        </p:txBody>
      </p:sp>
      <p:sp>
        <p:nvSpPr>
          <p:cNvPr id="29" name="TextBox 28"/>
          <p:cNvSpPr txBox="1"/>
          <p:nvPr/>
        </p:nvSpPr>
        <p:spPr>
          <a:xfrm>
            <a:off x="548640" y="4178808"/>
            <a:ext cx="5349240" cy="292608"/>
          </a:xfrm>
          <a:prstGeom prst="rect">
            <a:avLst/>
          </a:prstGeom>
          <a:noFill/>
        </p:spPr>
        <p:txBody>
          <a:bodyPr wrap="square">
            <a:spAutoFit/>
          </a:bodyPr>
          <a:lstStyle/>
          <a:p>
            <a:pPr algn="l"/>
            <a:r>
              <a:rPr sz="950" b="0" i="0">
                <a:solidFill>
                  <a:srgbClr val="94A3B8"/>
                </a:solidFill>
                <a:latin typeface="Calibri"/>
              </a:rPr>
              <a:t>Eliminates hours of manual follow-up emails, reminder calls and status check-ins every week.</a:t>
            </a:r>
          </a:p>
        </p:txBody>
      </p:sp>
      <p:sp>
        <p:nvSpPr>
          <p:cNvPr id="30" name="Rectangle 29"/>
          <p:cNvSpPr/>
          <p:nvPr/>
        </p:nvSpPr>
        <p:spPr>
          <a:xfrm>
            <a:off x="6309360" y="3794760"/>
            <a:ext cx="5669280" cy="749808"/>
          </a:xfrm>
          <a:prstGeom prst="rect">
            <a:avLst/>
          </a:prstGeom>
          <a:solidFill>
            <a:srgbClr val="0F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09360" y="3794760"/>
            <a:ext cx="45720" cy="7498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3867912"/>
            <a:ext cx="2011680" cy="320040"/>
          </a:xfrm>
          <a:prstGeom prst="rect">
            <a:avLst/>
          </a:prstGeom>
          <a:noFill/>
        </p:spPr>
        <p:txBody>
          <a:bodyPr wrap="square">
            <a:spAutoFit/>
          </a:bodyPr>
          <a:lstStyle/>
          <a:p>
            <a:pPr algn="l"/>
            <a:r>
              <a:rPr sz="1100" b="1" i="0">
                <a:solidFill>
                  <a:srgbClr val="FFFFFF"/>
                </a:solidFill>
                <a:latin typeface="Calibri"/>
              </a:rPr>
              <a:t>🎯 Clarity</a:t>
            </a:r>
          </a:p>
        </p:txBody>
      </p:sp>
      <p:sp>
        <p:nvSpPr>
          <p:cNvPr id="33" name="TextBox 32"/>
          <p:cNvSpPr txBox="1"/>
          <p:nvPr/>
        </p:nvSpPr>
        <p:spPr>
          <a:xfrm>
            <a:off x="6492240" y="4178808"/>
            <a:ext cx="5349240" cy="292608"/>
          </a:xfrm>
          <a:prstGeom prst="rect">
            <a:avLst/>
          </a:prstGeom>
          <a:noFill/>
        </p:spPr>
        <p:txBody>
          <a:bodyPr wrap="square">
            <a:spAutoFit/>
          </a:bodyPr>
          <a:lstStyle/>
          <a:p>
            <a:pPr algn="l"/>
            <a:r>
              <a:rPr sz="950" b="0" i="0">
                <a:solidFill>
                  <a:srgbClr val="94A3B8"/>
                </a:solidFill>
                <a:latin typeface="Calibri"/>
              </a:rPr>
              <a:t>Every staff member knows exactly what is expected of them, by when, and at what priority level.</a:t>
            </a:r>
          </a:p>
        </p:txBody>
      </p:sp>
      <p:sp>
        <p:nvSpPr>
          <p:cNvPr id="34" name="Rectangle 33"/>
          <p:cNvSpPr/>
          <p:nvPr/>
        </p:nvSpPr>
        <p:spPr>
          <a:xfrm>
            <a:off x="365760" y="4663440"/>
            <a:ext cx="5669280" cy="749808"/>
          </a:xfrm>
          <a:prstGeom prst="rect">
            <a:avLst/>
          </a:prstGeom>
          <a:solidFill>
            <a:srgbClr val="0F2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4663440"/>
            <a:ext cx="45720"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736592"/>
            <a:ext cx="2011680" cy="320040"/>
          </a:xfrm>
          <a:prstGeom prst="rect">
            <a:avLst/>
          </a:prstGeom>
          <a:noFill/>
        </p:spPr>
        <p:txBody>
          <a:bodyPr wrap="square">
            <a:spAutoFit/>
          </a:bodyPr>
          <a:lstStyle/>
          <a:p>
            <a:pPr algn="l"/>
            <a:r>
              <a:rPr sz="1100" b="1" i="0">
                <a:solidFill>
                  <a:srgbClr val="FFFFFF"/>
                </a:solidFill>
                <a:latin typeface="Calibri"/>
              </a:rPr>
              <a:t>📊 Donor Reporting</a:t>
            </a:r>
          </a:p>
        </p:txBody>
      </p:sp>
      <p:sp>
        <p:nvSpPr>
          <p:cNvPr id="37" name="TextBox 36"/>
          <p:cNvSpPr txBox="1"/>
          <p:nvPr/>
        </p:nvSpPr>
        <p:spPr>
          <a:xfrm>
            <a:off x="548640" y="5047488"/>
            <a:ext cx="5349240" cy="292608"/>
          </a:xfrm>
          <a:prstGeom prst="rect">
            <a:avLst/>
          </a:prstGeom>
          <a:noFill/>
        </p:spPr>
        <p:txBody>
          <a:bodyPr wrap="square">
            <a:spAutoFit/>
          </a:bodyPr>
          <a:lstStyle/>
          <a:p>
            <a:pPr algn="l"/>
            <a:r>
              <a:rPr sz="950" b="0" i="0">
                <a:solidFill>
                  <a:srgbClr val="94A3B8"/>
                </a:solidFill>
                <a:latin typeface="Calibri"/>
              </a:rPr>
              <a:t>Auto-generated delivery records provide ready evidence for donor reporting and grant accountability.</a:t>
            </a:r>
          </a:p>
        </p:txBody>
      </p:sp>
      <p:sp>
        <p:nvSpPr>
          <p:cNvPr id="38" name="Rectangle 37"/>
          <p:cNvSpPr/>
          <p:nvPr/>
        </p:nvSpPr>
        <p:spPr>
          <a:xfrm>
            <a:off x="6309360" y="4663440"/>
            <a:ext cx="5669280" cy="749808"/>
          </a:xfrm>
          <a:prstGeom prst="rect">
            <a:avLst/>
          </a:prstGeom>
          <a:solidFill>
            <a:srgbClr val="0F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09360" y="4663440"/>
            <a:ext cx="45720" cy="7498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4736592"/>
            <a:ext cx="2011680" cy="320040"/>
          </a:xfrm>
          <a:prstGeom prst="rect">
            <a:avLst/>
          </a:prstGeom>
          <a:noFill/>
        </p:spPr>
        <p:txBody>
          <a:bodyPr wrap="square">
            <a:spAutoFit/>
          </a:bodyPr>
          <a:lstStyle/>
          <a:p>
            <a:pPr algn="l"/>
            <a:r>
              <a:rPr sz="1100" b="1" i="0">
                <a:solidFill>
                  <a:srgbClr val="FFFFFF"/>
                </a:solidFill>
                <a:latin typeface="Calibri"/>
              </a:rPr>
              <a:t>🔄 Transparency</a:t>
            </a:r>
          </a:p>
        </p:txBody>
      </p:sp>
      <p:sp>
        <p:nvSpPr>
          <p:cNvPr id="41" name="TextBox 40"/>
          <p:cNvSpPr txBox="1"/>
          <p:nvPr/>
        </p:nvSpPr>
        <p:spPr>
          <a:xfrm>
            <a:off x="6492240" y="5047488"/>
            <a:ext cx="5349240" cy="292608"/>
          </a:xfrm>
          <a:prstGeom prst="rect">
            <a:avLst/>
          </a:prstGeom>
          <a:noFill/>
        </p:spPr>
        <p:txBody>
          <a:bodyPr wrap="square">
            <a:spAutoFit/>
          </a:bodyPr>
          <a:lstStyle/>
          <a:p>
            <a:pPr algn="l"/>
            <a:r>
              <a:rPr sz="950" b="0" i="0">
                <a:solidFill>
                  <a:srgbClr val="94A3B8"/>
                </a:solidFill>
                <a:latin typeface="Calibri"/>
              </a:rPr>
              <a:t>Managers and principals have real-time visibility into all projects without attending every meeting.</a:t>
            </a:r>
          </a:p>
        </p:txBody>
      </p:sp>
      <p:sp>
        <p:nvSpPr>
          <p:cNvPr id="42" name="Rectangle 41"/>
          <p:cNvSpPr/>
          <p:nvPr/>
        </p:nvSpPr>
        <p:spPr>
          <a:xfrm>
            <a:off x="365760" y="5532120"/>
            <a:ext cx="5669280" cy="749808"/>
          </a:xfrm>
          <a:prstGeom prst="rect">
            <a:avLst/>
          </a:prstGeom>
          <a:solidFill>
            <a:srgbClr val="0F2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5532120"/>
            <a:ext cx="45720"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605272"/>
            <a:ext cx="2011680" cy="320040"/>
          </a:xfrm>
          <a:prstGeom prst="rect">
            <a:avLst/>
          </a:prstGeom>
          <a:noFill/>
        </p:spPr>
        <p:txBody>
          <a:bodyPr wrap="square">
            <a:spAutoFit/>
          </a:bodyPr>
          <a:lstStyle/>
          <a:p>
            <a:pPr algn="l"/>
            <a:r>
              <a:rPr sz="1100" b="1" i="0">
                <a:solidFill>
                  <a:srgbClr val="FFFFFF"/>
                </a:solidFill>
                <a:latin typeface="Calibri"/>
              </a:rPr>
              <a:t>🚀 Faster Delivery</a:t>
            </a:r>
          </a:p>
        </p:txBody>
      </p:sp>
      <p:sp>
        <p:nvSpPr>
          <p:cNvPr id="45" name="TextBox 44"/>
          <p:cNvSpPr txBox="1"/>
          <p:nvPr/>
        </p:nvSpPr>
        <p:spPr>
          <a:xfrm>
            <a:off x="548640" y="5916168"/>
            <a:ext cx="5349240" cy="292608"/>
          </a:xfrm>
          <a:prstGeom prst="rect">
            <a:avLst/>
          </a:prstGeom>
          <a:noFill/>
        </p:spPr>
        <p:txBody>
          <a:bodyPr wrap="square">
            <a:spAutoFit/>
          </a:bodyPr>
          <a:lstStyle/>
          <a:p>
            <a:pPr algn="l"/>
            <a:r>
              <a:rPr sz="950" b="0" i="0">
                <a:solidFill>
                  <a:srgbClr val="94A3B8"/>
                </a:solidFill>
                <a:latin typeface="Calibri"/>
              </a:rPr>
              <a:t>AI guidance reduces the time staff spend figuring out how to complete tasks — execution starts faster.</a:t>
            </a:r>
          </a:p>
        </p:txBody>
      </p:sp>
      <p:sp>
        <p:nvSpPr>
          <p:cNvPr id="46" name="Rectangle 45"/>
          <p:cNvSpPr/>
          <p:nvPr/>
        </p:nvSpPr>
        <p:spPr>
          <a:xfrm>
            <a:off x="6309360" y="5532120"/>
            <a:ext cx="5669280" cy="749808"/>
          </a:xfrm>
          <a:prstGeom prst="rect">
            <a:avLst/>
          </a:prstGeom>
          <a:solidFill>
            <a:srgbClr val="0F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5532120"/>
            <a:ext cx="45720" cy="7498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92240" y="5605272"/>
            <a:ext cx="2011680" cy="320040"/>
          </a:xfrm>
          <a:prstGeom prst="rect">
            <a:avLst/>
          </a:prstGeom>
          <a:noFill/>
        </p:spPr>
        <p:txBody>
          <a:bodyPr wrap="square">
            <a:spAutoFit/>
          </a:bodyPr>
          <a:lstStyle/>
          <a:p>
            <a:pPr algn="l"/>
            <a:r>
              <a:rPr sz="1100" b="1" i="0">
                <a:solidFill>
                  <a:srgbClr val="FFFFFF"/>
                </a:solidFill>
                <a:latin typeface="Calibri"/>
              </a:rPr>
              <a:t>🔒 Compliance</a:t>
            </a:r>
          </a:p>
        </p:txBody>
      </p:sp>
      <p:sp>
        <p:nvSpPr>
          <p:cNvPr id="49" name="TextBox 48"/>
          <p:cNvSpPr txBox="1"/>
          <p:nvPr/>
        </p:nvSpPr>
        <p:spPr>
          <a:xfrm>
            <a:off x="6492240" y="5916168"/>
            <a:ext cx="5349240" cy="292608"/>
          </a:xfrm>
          <a:prstGeom prst="rect">
            <a:avLst/>
          </a:prstGeom>
          <a:noFill/>
        </p:spPr>
        <p:txBody>
          <a:bodyPr wrap="square">
            <a:spAutoFit/>
          </a:bodyPr>
          <a:lstStyle/>
          <a:p>
            <a:pPr algn="l"/>
            <a:r>
              <a:rPr sz="950" b="0" i="0">
                <a:solidFill>
                  <a:srgbClr val="94A3B8"/>
                </a:solidFill>
                <a:latin typeface="Calibri"/>
              </a:rPr>
              <a:t>Immutable audit logs protect the organisation from disputes and support internal performance reviews.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3657600"/>
            <a:ext cx="4572000" cy="4572000"/>
          </a:xfrm>
          <a:prstGeom prst="ellipse">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0" y="-914400"/>
            <a:ext cx="4572000" cy="4572000"/>
          </a:xfrm>
          <a:prstGeom prst="ellipse">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66360" y="274320"/>
            <a:ext cx="1828800"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0" y="292608"/>
            <a:ext cx="1737360" cy="365760"/>
          </a:xfrm>
          <a:prstGeom prst="rect">
            <a:avLst/>
          </a:prstGeom>
          <a:noFill/>
        </p:spPr>
        <p:txBody>
          <a:bodyPr wrap="square">
            <a:spAutoFit/>
          </a:bodyPr>
          <a:lstStyle/>
          <a:p>
            <a:pPr algn="ctr"/>
            <a:r>
              <a:rPr sz="1200" b="1" i="0">
                <a:solidFill>
                  <a:srgbClr val="FFFFFF"/>
                </a:solidFill>
                <a:latin typeface="Calibri"/>
              </a:rPr>
              <a:t>SCIDaR</a:t>
            </a:r>
          </a:p>
        </p:txBody>
      </p:sp>
      <p:sp>
        <p:nvSpPr>
          <p:cNvPr id="8" name="TextBox 7"/>
          <p:cNvSpPr txBox="1"/>
          <p:nvPr/>
        </p:nvSpPr>
        <p:spPr>
          <a:xfrm>
            <a:off x="0" y="1097280"/>
            <a:ext cx="12188952" cy="1097280"/>
          </a:xfrm>
          <a:prstGeom prst="rect">
            <a:avLst/>
          </a:prstGeom>
          <a:noFill/>
        </p:spPr>
        <p:txBody>
          <a:bodyPr wrap="square">
            <a:spAutoFit/>
          </a:bodyPr>
          <a:lstStyle/>
          <a:p>
            <a:pPr algn="ctr"/>
            <a:r>
              <a:rPr sz="5200" b="1" i="0">
                <a:solidFill>
                  <a:srgbClr val="FFFFFF"/>
                </a:solidFill>
                <a:latin typeface="Calibri"/>
              </a:rPr>
              <a:t>Thank You</a:t>
            </a:r>
          </a:p>
        </p:txBody>
      </p:sp>
      <p:sp>
        <p:nvSpPr>
          <p:cNvPr id="9" name="TextBox 8"/>
          <p:cNvSpPr txBox="1"/>
          <p:nvPr/>
        </p:nvSpPr>
        <p:spPr>
          <a:xfrm>
            <a:off x="0" y="2331720"/>
            <a:ext cx="12188952" cy="502920"/>
          </a:xfrm>
          <a:prstGeom prst="rect">
            <a:avLst/>
          </a:prstGeom>
          <a:noFill/>
        </p:spPr>
        <p:txBody>
          <a:bodyPr wrap="square">
            <a:spAutoFit/>
          </a:bodyPr>
          <a:lstStyle/>
          <a:p>
            <a:pPr algn="ctr"/>
            <a:r>
              <a:rPr sz="1800" b="0" i="0">
                <a:solidFill>
                  <a:srgbClr val="0EA5E9"/>
                </a:solidFill>
                <a:latin typeface="Calibri"/>
              </a:rPr>
              <a:t>AI Meeting Action Point Tracker &amp; Execution Verifier</a:t>
            </a:r>
          </a:p>
        </p:txBody>
      </p:sp>
      <p:sp>
        <p:nvSpPr>
          <p:cNvPr id="10" name="Rectangle 9"/>
          <p:cNvSpPr/>
          <p:nvPr/>
        </p:nvSpPr>
        <p:spPr>
          <a:xfrm>
            <a:off x="3657600" y="2971800"/>
            <a:ext cx="4873752"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0" y="3154680"/>
            <a:ext cx="12188952" cy="365760"/>
          </a:xfrm>
          <a:prstGeom prst="rect">
            <a:avLst/>
          </a:prstGeom>
          <a:noFill/>
        </p:spPr>
        <p:txBody>
          <a:bodyPr wrap="square">
            <a:spAutoFit/>
          </a:bodyPr>
          <a:lstStyle/>
          <a:p>
            <a:pPr algn="ctr"/>
            <a:r>
              <a:rPr sz="1300" b="0" i="1">
                <a:solidFill>
                  <a:srgbClr val="94A3B8"/>
                </a:solidFill>
                <a:latin typeface="Calibri"/>
              </a:rPr>
              <a:t>Automating accountability across all SCIDaR projects</a:t>
            </a:r>
          </a:p>
        </p:txBody>
      </p:sp>
      <p:sp>
        <p:nvSpPr>
          <p:cNvPr id="12" name="Rectangle 11"/>
          <p:cNvSpPr/>
          <p:nvPr/>
        </p:nvSpPr>
        <p:spPr>
          <a:xfrm>
            <a:off x="1645920" y="3749039"/>
            <a:ext cx="2880360"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645920" y="3749039"/>
            <a:ext cx="2880360"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3886200"/>
            <a:ext cx="548640" cy="502920"/>
          </a:xfrm>
          <a:prstGeom prst="rect">
            <a:avLst/>
          </a:prstGeom>
          <a:noFill/>
        </p:spPr>
        <p:txBody>
          <a:bodyPr wrap="square">
            <a:spAutoFit/>
          </a:bodyPr>
          <a:lstStyle/>
          <a:p>
            <a:pPr algn="l"/>
            <a:r>
              <a:rPr sz="2000" b="0" i="0">
                <a:solidFill>
                  <a:srgbClr val="FFFFFF"/>
                </a:solidFill>
                <a:latin typeface="Calibri"/>
              </a:rPr>
              <a:t>🙋</a:t>
            </a:r>
          </a:p>
        </p:txBody>
      </p:sp>
      <p:sp>
        <p:nvSpPr>
          <p:cNvPr id="15" name="TextBox 14"/>
          <p:cNvSpPr txBox="1"/>
          <p:nvPr/>
        </p:nvSpPr>
        <p:spPr>
          <a:xfrm>
            <a:off x="2423160" y="3913632"/>
            <a:ext cx="1920240" cy="411480"/>
          </a:xfrm>
          <a:prstGeom prst="rect">
            <a:avLst/>
          </a:prstGeom>
          <a:noFill/>
        </p:spPr>
        <p:txBody>
          <a:bodyPr wrap="square">
            <a:spAutoFit/>
          </a:bodyPr>
          <a:lstStyle/>
          <a:p>
            <a:pPr algn="l"/>
            <a:r>
              <a:rPr sz="1400" b="1" i="0">
                <a:solidFill>
                  <a:srgbClr val="FFFFFF"/>
                </a:solidFill>
                <a:latin typeface="Calibri"/>
              </a:rPr>
              <a:t>Questions?</a:t>
            </a:r>
          </a:p>
        </p:txBody>
      </p:sp>
      <p:sp>
        <p:nvSpPr>
          <p:cNvPr id="16" name="TextBox 15"/>
          <p:cNvSpPr txBox="1"/>
          <p:nvPr/>
        </p:nvSpPr>
        <p:spPr>
          <a:xfrm>
            <a:off x="1828800" y="4434840"/>
            <a:ext cx="2560320" cy="1097280"/>
          </a:xfrm>
          <a:prstGeom prst="rect">
            <a:avLst/>
          </a:prstGeom>
          <a:noFill/>
        </p:spPr>
        <p:txBody>
          <a:bodyPr wrap="square">
            <a:spAutoFit/>
          </a:bodyPr>
          <a:lstStyle/>
          <a:p>
            <a:pPr algn="l"/>
            <a:r>
              <a:rPr sz="1050" b="0" i="0">
                <a:solidFill>
                  <a:srgbClr val="94A3B8"/>
                </a:solidFill>
                <a:latin typeface="Calibri"/>
              </a:rPr>
              <a:t>Open the floor for discussion and
demonstration walkthroughs.</a:t>
            </a:r>
          </a:p>
        </p:txBody>
      </p:sp>
      <p:sp>
        <p:nvSpPr>
          <p:cNvPr id="17" name="Rectangle 16"/>
          <p:cNvSpPr/>
          <p:nvPr/>
        </p:nvSpPr>
        <p:spPr>
          <a:xfrm>
            <a:off x="4800600" y="3749039"/>
            <a:ext cx="2880360"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00600" y="3749039"/>
            <a:ext cx="288036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83480" y="3886200"/>
            <a:ext cx="548640" cy="502920"/>
          </a:xfrm>
          <a:prstGeom prst="rect">
            <a:avLst/>
          </a:prstGeom>
          <a:noFill/>
        </p:spPr>
        <p:txBody>
          <a:bodyPr wrap="square">
            <a:spAutoFit/>
          </a:bodyPr>
          <a:lstStyle/>
          <a:p>
            <a:pPr algn="l"/>
            <a:r>
              <a:rPr sz="2000" b="0" i="0">
                <a:solidFill>
                  <a:srgbClr val="FFFFFF"/>
                </a:solidFill>
                <a:latin typeface="Calibri"/>
              </a:rPr>
              <a:t>🚀</a:t>
            </a:r>
          </a:p>
        </p:txBody>
      </p:sp>
      <p:sp>
        <p:nvSpPr>
          <p:cNvPr id="20" name="TextBox 19"/>
          <p:cNvSpPr txBox="1"/>
          <p:nvPr/>
        </p:nvSpPr>
        <p:spPr>
          <a:xfrm>
            <a:off x="5577840" y="3913632"/>
            <a:ext cx="1920240" cy="411480"/>
          </a:xfrm>
          <a:prstGeom prst="rect">
            <a:avLst/>
          </a:prstGeom>
          <a:noFill/>
        </p:spPr>
        <p:txBody>
          <a:bodyPr wrap="square">
            <a:spAutoFit/>
          </a:bodyPr>
          <a:lstStyle/>
          <a:p>
            <a:pPr algn="l"/>
            <a:r>
              <a:rPr sz="1400" b="1" i="0">
                <a:solidFill>
                  <a:srgbClr val="FFFFFF"/>
                </a:solidFill>
                <a:latin typeface="Calibri"/>
              </a:rPr>
              <a:t>Next Steps</a:t>
            </a:r>
          </a:p>
        </p:txBody>
      </p:sp>
      <p:sp>
        <p:nvSpPr>
          <p:cNvPr id="21" name="TextBox 20"/>
          <p:cNvSpPr txBox="1"/>
          <p:nvPr/>
        </p:nvSpPr>
        <p:spPr>
          <a:xfrm>
            <a:off x="4983480" y="4434840"/>
            <a:ext cx="2560320" cy="1097280"/>
          </a:xfrm>
          <a:prstGeom prst="rect">
            <a:avLst/>
          </a:prstGeom>
          <a:noFill/>
        </p:spPr>
        <p:txBody>
          <a:bodyPr wrap="square">
            <a:spAutoFit/>
          </a:bodyPr>
          <a:lstStyle/>
          <a:p>
            <a:pPr algn="l"/>
            <a:r>
              <a:rPr sz="1050" b="0" i="0">
                <a:solidFill>
                  <a:srgbClr val="94A3B8"/>
                </a:solidFill>
                <a:latin typeface="Calibri"/>
              </a:rPr>
              <a:t>Finalise deployment, onboard all
project teams and go live.</a:t>
            </a:r>
          </a:p>
        </p:txBody>
      </p:sp>
      <p:sp>
        <p:nvSpPr>
          <p:cNvPr id="22" name="Rectangle 21"/>
          <p:cNvSpPr/>
          <p:nvPr/>
        </p:nvSpPr>
        <p:spPr>
          <a:xfrm>
            <a:off x="7955280" y="3749039"/>
            <a:ext cx="2880360"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55280" y="3749039"/>
            <a:ext cx="288036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3886200"/>
            <a:ext cx="548640" cy="502920"/>
          </a:xfrm>
          <a:prstGeom prst="rect">
            <a:avLst/>
          </a:prstGeom>
          <a:noFill/>
        </p:spPr>
        <p:txBody>
          <a:bodyPr wrap="square">
            <a:spAutoFit/>
          </a:bodyPr>
          <a:lstStyle/>
          <a:p>
            <a:pPr algn="l"/>
            <a:r>
              <a:rPr sz="2000" b="0" i="0">
                <a:solidFill>
                  <a:srgbClr val="FFFFFF"/>
                </a:solidFill>
                <a:latin typeface="Calibri"/>
              </a:rPr>
              <a:t>💬</a:t>
            </a:r>
          </a:p>
        </p:txBody>
      </p:sp>
      <p:sp>
        <p:nvSpPr>
          <p:cNvPr id="25" name="TextBox 24"/>
          <p:cNvSpPr txBox="1"/>
          <p:nvPr/>
        </p:nvSpPr>
        <p:spPr>
          <a:xfrm>
            <a:off x="8732520" y="3913632"/>
            <a:ext cx="1920240" cy="411480"/>
          </a:xfrm>
          <a:prstGeom prst="rect">
            <a:avLst/>
          </a:prstGeom>
          <a:noFill/>
        </p:spPr>
        <p:txBody>
          <a:bodyPr wrap="square">
            <a:spAutoFit/>
          </a:bodyPr>
          <a:lstStyle/>
          <a:p>
            <a:pPr algn="l"/>
            <a:r>
              <a:rPr sz="1400" b="1" i="0">
                <a:solidFill>
                  <a:srgbClr val="FFFFFF"/>
                </a:solidFill>
                <a:latin typeface="Calibri"/>
              </a:rPr>
              <a:t>Get in Touch</a:t>
            </a:r>
          </a:p>
        </p:txBody>
      </p:sp>
      <p:sp>
        <p:nvSpPr>
          <p:cNvPr id="26" name="TextBox 25"/>
          <p:cNvSpPr txBox="1"/>
          <p:nvPr/>
        </p:nvSpPr>
        <p:spPr>
          <a:xfrm>
            <a:off x="8138160" y="4434840"/>
            <a:ext cx="2560320" cy="1097280"/>
          </a:xfrm>
          <a:prstGeom prst="rect">
            <a:avLst/>
          </a:prstGeom>
          <a:noFill/>
        </p:spPr>
        <p:txBody>
          <a:bodyPr wrap="square">
            <a:spAutoFit/>
          </a:bodyPr>
          <a:lstStyle/>
          <a:p>
            <a:pPr algn="l"/>
            <a:r>
              <a:rPr sz="1050" b="0" i="0">
                <a:solidFill>
                  <a:srgbClr val="94A3B8"/>
                </a:solidFill>
                <a:latin typeface="Calibri"/>
              </a:rPr>
              <a:t>oluwatayo damilola
SCIDaR Innovation Team</a:t>
            </a:r>
          </a:p>
        </p:txBody>
      </p:sp>
      <p:sp>
        <p:nvSpPr>
          <p:cNvPr id="27" name="TextBox 26"/>
          <p:cNvSpPr txBox="1"/>
          <p:nvPr/>
        </p:nvSpPr>
        <p:spPr>
          <a:xfrm>
            <a:off x="0" y="6492240"/>
            <a:ext cx="12188952" cy="256032"/>
          </a:xfrm>
          <a:prstGeom prst="rect">
            <a:avLst/>
          </a:prstGeom>
          <a:noFill/>
        </p:spPr>
        <p:txBody>
          <a:bodyPr wrap="square">
            <a:spAutoFit/>
          </a:bodyPr>
          <a:lstStyle/>
          <a:p>
            <a:pPr algn="ctr"/>
            <a:r>
              <a:rPr sz="1000" b="0" i="0">
                <a:solidFill>
                  <a:srgbClr val="44556B"/>
                </a:solidFill>
                <a:latin typeface="Calibri"/>
              </a:rPr>
              <a:t>Presented by oluwatayo damilola  ·  SCIDaR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
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6073fb5-1952-fd27-c625-c32fc787f6e3}">
          <p14:sldIdLst>
            <p14:sldId id="256"/>
            <p14:sldId id="257"/>
            <p14:sldId id="258"/>
          </p14:sldIdLst>
        </p14:section>
        <p14:section name="The product" id="{f5b5d8d3-e28a-d58c-3c36-d9ecc42efd92}">
          <p14:sldIdLst>
            <p14:sldId id="259"/>
            <p14:sldId id="260"/>
            <p14:sldId id="261"/>
            <p14:sldId id="262"/>
            <p14:sldId id="263"/>
          </p14:sldIdLst>
        </p14:section>
        <p14:section name="Rollout" id="{f2f4b9d6-5bdf-416a-fdff-f4f58096e9db}">
          <p14:sldIdLst>
            <p14:sldId id="264"/>
            <p14:sldId id="265"/>
            <p14:sldId id="266"/>
            <p14:sldId id="267"/>
          </p14:sldIdLst>
        </p14:section>
        <p14:section name="Close" id="{7ea99fc5-348f-0b13-3ada-9bc00dd00dfc}">
          <p14:sldIdLst>
            <p14:sldId id="26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SyncLog: one place where every meeting decision becomes an owned task and is only closed once a manager verifies the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the live recording screen with action items detected in the transcript. Right: the AI summary and extracted action points, ready to assign.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 see only their own tasks. Copilot gives task-specific guidance so execution starts faster.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five task statuses are shown along the bottom. A rejected task goes back to the owner with the manager's feedback.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2011680"/>
            <a:ext cx="4937760" cy="118872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type="body" idx="101" hasCustomPrompt="1"/>
          </p:nvPr>
        </p:nvSpPr>
        <p:spPr>
          <a:xfrm>
            <a:off x="548640" y="3246120"/>
            <a:ext cx="4937760" cy="1371600"/>
          </a:xfrm>
          <a:prstGeom prst="rect">
            <a:avLst/>
          </a:prstGeom>
          <a:noFill/>
        </p:spPr>
        <p:txBody>
          <a:bodyPr wrap="square" rtlCol="0"/>
          <a:lstStyle>
            <a:lvl1pPr marL="0" indent="0">
              <a:buNone/>
              <a:defRPr lang="en-US" sz="2200" dirty="0">
                <a:solidFill>
                  <a:srgbClr val="CBD5E1"/>
                </a:solidFill>
              </a:defRPr>
            </a:lvl1pPr>
          </a:lstStyle>
          <a:p>
            <a:pPr marL="0" indent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type="body" idx="101" hasCustomPrompt="1"/>
          </p:nvPr>
        </p:nvSpPr>
        <p:spPr>
          <a:xfrm>
            <a:off x="548640" y="1115568"/>
            <a:ext cx="11091672" cy="411480"/>
          </a:xfrm>
          <a:prstGeom prst="rect">
            <a:avLst/>
          </a:prstGeom>
          <a:noFill/>
        </p:spPr>
        <p:txBody>
          <a:bodyPr wrap="square" rtlCol="0"/>
          <a:lstStyle>
            <a:lvl1pPr marL="0" indent="0">
              <a:buNone/>
              <a:defRPr lang="en-US" sz="1600" dirty="0">
                <a:solidFill>
                  <a:schemeClr val="accent6"/>
                </a:solidFill>
              </a:defRPr>
            </a:lvl1pPr>
          </a:lstStyle>
          <a:p>
            <a:pPr marL="0" indent="0">
              <a:buNone/>
            </a:pPr>
            <a:endParaRPr lang="en-US" sz="16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SyncLog  ·  SCIDaR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a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body" idx="100" hasCustomPrompt="1"/>
          </p:nvPr>
        </p:nvSpPr>
        <p:spPr>
          <a:xfrm>
            <a:off x="548640" y="685800"/>
            <a:ext cx="5120640" cy="320040"/>
          </a:xfrm>
          <a:prstGeom prst="rect">
            <a:avLst/>
          </a:prstGeom>
          <a:noFill/>
        </p:spPr>
        <p:txBody>
          <a:bodyPr wrap="square" rtlCol="0"/>
          <a:lstStyle>
            <a:lvl1pPr marL="0" indent="0">
              <a:buNone/>
              <a:defRPr lang="en-US" sz="1200" b="1" kern="0" spc="200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type="title" idx="101" hasCustomPrompt="1"/>
          </p:nvPr>
        </p:nvSpPr>
        <p:spPr>
          <a:xfrm>
            <a:off x="548640" y="1051560"/>
            <a:ext cx="5120640" cy="137160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SyncLog  ·  SCIDaR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ature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body" idx="100" hasCustomPrompt="1"/>
          </p:nvPr>
        </p:nvSpPr>
        <p:spPr>
          <a:xfrm>
            <a:off x="548640" y="685800"/>
            <a:ext cx="6949440" cy="320040"/>
          </a:xfrm>
          <a:prstGeom prst="rect">
            <a:avLst/>
          </a:prstGeom>
          <a:noFill/>
        </p:spPr>
        <p:txBody>
          <a:bodyPr wrap="square" rtlCol="0"/>
          <a:lstStyle>
            <a:lvl1pPr marL="0" indent="0">
              <a:buNone/>
              <a:defRPr lang="en-US" sz="1200" b="1" kern="0" spc="200" dirty="0">
                <a:solidFill>
                  <a:srgbClr val="7DD3FC"/>
                </a:solidFill>
              </a:defRPr>
            </a:lvl1pPr>
          </a:lstStyle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type="title" idx="101" hasCustomPrompt="1"/>
          </p:nvPr>
        </p:nvSpPr>
        <p:spPr>
          <a:xfrm>
            <a:off x="548640" y="1051560"/>
            <a:ext cx="6949440" cy="137160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SyncLog  ·  SCIDaR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5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36.png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3" Type="http://schemas.openxmlformats.org/officeDocument/2006/relationships/image" Target="../media/image14.png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3" Type="http://schemas.openxmlformats.org/officeDocument/2006/relationships/image" Target="../media/image14.png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image" Target="../media/image46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tile"/>
          <p:cNvSpPr/>
          <p:nvPr/>
        </p:nvSpPr>
        <p:spPr>
          <a:xfrm>
            <a:off x="548640" y="1234440"/>
            <a:ext cx="566928" cy="566928"/>
          </a:xfrm>
          <a:prstGeom prst="roundRect">
            <a:avLst>
              <a:gd name="adj" fmla="val 22581"/>
            </a:avLst>
          </a:prstGeom>
          <a:solidFill>
            <a:schemeClr val="accent2"/>
          </a:solidFill>
        </p:spPr>
      </p:sp>
      <p:pic>
        <p:nvPicPr>
          <p:cNvPr id="3" name="Logo icon" descr="SyncLog 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3350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98448" y="137160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DD3FC"/>
                </a:solidFill>
              </a:rPr>
              <a:t>SCIDaR  ·  INNOVATION TEAM</a:t>
            </a:r>
            <a:endParaRPr lang="en-US" sz="1300" dirty="0"/>
          </a:p>
        </p:txBody>
      </p:sp>
      <p:sp>
        <p:nvSpPr>
          <p:cNvPr id="5" name="Text 0"/>
          <p:cNvSpPr/>
          <p:nvPr>
            <p:ph type="title" idx="100" hasCustomPrompt="1"/>
          </p:nvPr>
        </p:nvSpPr>
        <p:spPr>
          <a:xfrm>
            <a:off x="548640" y="2011680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0" b="1" dirty="0">
                <a:solidFill>
                  <a:schemeClr val="bg1"/>
                </a:solidFill>
              </a:rPr>
              <a:t>SyncLog</a:t>
            </a:r>
            <a:endParaRPr lang="en-US" sz="6000" dirty="0"/>
          </a:p>
        </p:txBody>
      </p:sp>
      <p:sp>
        <p:nvSpPr>
          <p:cNvPr id="6" name="Text 0"/>
          <p:cNvSpPr/>
          <p:nvPr>
            <p:ph type="body" idx="101" hasCustomPrompt="1"/>
          </p:nvPr>
        </p:nvSpPr>
        <p:spPr>
          <a:xfrm>
            <a:off x="548640" y="3246120"/>
            <a:ext cx="493776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CBD5E1"/>
                </a:solidFill>
              </a:rPr>
              <a:t>From meeting to done. AI meeting capture, owned action items and verified delivery across every SCIDaR project.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98932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October 2026  ·  oluwatayo damilola</a:t>
            </a:r>
            <a:endParaRPr lang="en-US" sz="1400" dirty="0"/>
          </a:p>
        </p:txBody>
      </p:sp>
      <p:pic>
        <p:nvPicPr>
          <p:cNvPr id="8" name="Dashboard mockup" descr="SyncLog overview dashboar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417320"/>
            <a:ext cx="6263640" cy="40672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Meetings end, and the follow-through gets lost</a:t>
            </a:r>
            <a:endParaRPr lang="en-US" sz="3600" dirty="0"/>
          </a:p>
        </p:txBody>
      </p:sp>
      <p:sp>
        <p:nvSpPr>
          <p:cNvPr id="3" name="Text 0"/>
          <p:cNvSpPr/>
          <p:nvPr>
            <p:ph type="body" idx="101" hasCustomPrompt="1"/>
          </p:nvPr>
        </p:nvSpPr>
        <p:spPr>
          <a:xfrm>
            <a:off x="548640" y="1115568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</a:rPr>
              <a:t>What happens today without a shared system</a:t>
            </a:r>
            <a:endParaRPr lang="en-US" sz="1600" dirty="0"/>
          </a:p>
        </p:txBody>
      </p:sp>
      <p:sp>
        <p:nvSpPr>
          <p:cNvPr id="4" name="Lost action points card"/>
          <p:cNvSpPr/>
          <p:nvPr/>
        </p:nvSpPr>
        <p:spPr>
          <a:xfrm>
            <a:off x="548640" y="1874520"/>
            <a:ext cx="3511296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220">
                <a:alpha val="8000"/>
              </a:srgbClr>
            </a:outerShdw>
          </a:effectLst>
        </p:spPr>
      </p:sp>
      <p:sp>
        <p:nvSpPr>
          <p:cNvPr id="5" name="Lost action points circle"/>
          <p:cNvSpPr/>
          <p:nvPr/>
        </p:nvSpPr>
        <p:spPr>
          <a:xfrm>
            <a:off x="822960" y="2148840"/>
            <a:ext cx="548640" cy="548640"/>
          </a:xfrm>
          <a:prstGeom prst="ellipse">
            <a:avLst/>
          </a:prstGeom>
          <a:solidFill>
            <a:srgbClr val="FFE4E6"/>
          </a:solidFill>
        </p:spPr>
      </p:sp>
      <p:pic>
        <p:nvPicPr>
          <p:cNvPr id="6" name="Lost action points icon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296973"/>
            <a:ext cx="252374" cy="2523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834640"/>
            <a:ext cx="2962656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Lost action points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172968"/>
            <a:ext cx="2962656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Decisions sit in notebooks and email threads and are never followed up.</a:t>
            </a:r>
            <a:endParaRPr lang="en-US" sz="1400" dirty="0"/>
          </a:p>
        </p:txBody>
      </p:sp>
      <p:sp>
        <p:nvSpPr>
          <p:cNvPr id="9" name="No clear ownership card"/>
          <p:cNvSpPr/>
          <p:nvPr/>
        </p:nvSpPr>
        <p:spPr>
          <a:xfrm>
            <a:off x="4334256" y="1874520"/>
            <a:ext cx="3511296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220">
                <a:alpha val="8000"/>
              </a:srgbClr>
            </a:outerShdw>
          </a:effectLst>
        </p:spPr>
      </p:sp>
      <p:sp>
        <p:nvSpPr>
          <p:cNvPr id="10" name="No clear ownership circle"/>
          <p:cNvSpPr/>
          <p:nvPr/>
        </p:nvSpPr>
        <p:spPr>
          <a:xfrm>
            <a:off x="4608576" y="2148840"/>
            <a:ext cx="548640" cy="548640"/>
          </a:xfrm>
          <a:prstGeom prst="ellipse">
            <a:avLst/>
          </a:prstGeom>
          <a:solidFill>
            <a:srgbClr val="FFE4E6"/>
          </a:solidFill>
        </p:spPr>
      </p:sp>
      <p:pic>
        <p:nvPicPr>
          <p:cNvPr id="11" name="No clear ownership icon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709" y="2296973"/>
            <a:ext cx="252374" cy="25237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08576" y="2834640"/>
            <a:ext cx="2962656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No clear ownership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608576" y="3172968"/>
            <a:ext cx="2962656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Nobody records who is responsible for what, so tasks fall through the cracks.</a:t>
            </a:r>
            <a:endParaRPr lang="en-US" sz="1400" dirty="0"/>
          </a:p>
        </p:txBody>
      </p:sp>
      <p:sp>
        <p:nvSpPr>
          <p:cNvPr id="14" name="Hours of manual chasing card"/>
          <p:cNvSpPr/>
          <p:nvPr/>
        </p:nvSpPr>
        <p:spPr>
          <a:xfrm>
            <a:off x="8119872" y="1874520"/>
            <a:ext cx="3511296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220">
                <a:alpha val="8000"/>
              </a:srgbClr>
            </a:outerShdw>
          </a:effectLst>
        </p:spPr>
      </p:sp>
      <p:sp>
        <p:nvSpPr>
          <p:cNvPr id="15" name="Hours of manual chasing circle"/>
          <p:cNvSpPr/>
          <p:nvPr/>
        </p:nvSpPr>
        <p:spPr>
          <a:xfrm>
            <a:off x="8394192" y="2148840"/>
            <a:ext cx="548640" cy="548640"/>
          </a:xfrm>
          <a:prstGeom prst="ellipse">
            <a:avLst/>
          </a:prstGeom>
          <a:solidFill>
            <a:srgbClr val="FFE4E6"/>
          </a:solidFill>
        </p:spPr>
      </p:sp>
      <p:pic>
        <p:nvPicPr>
          <p:cNvPr id="16" name="Hours of manual chasing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2325" y="2296973"/>
            <a:ext cx="252374" cy="25237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94192" y="2834640"/>
            <a:ext cx="2962656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Hours of manual chasing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394192" y="3172968"/>
            <a:ext cx="2962656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Managers spend hours each week sending reminders and checking progress.</a:t>
            </a:r>
            <a:endParaRPr lang="en-US" sz="1400" dirty="0"/>
          </a:p>
        </p:txBody>
      </p:sp>
      <p:sp>
        <p:nvSpPr>
          <p:cNvPr id="19" name="No proof of work card"/>
          <p:cNvSpPr/>
          <p:nvPr/>
        </p:nvSpPr>
        <p:spPr>
          <a:xfrm>
            <a:off x="548640" y="4160520"/>
            <a:ext cx="3511296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220">
                <a:alpha val="8000"/>
              </a:srgbClr>
            </a:outerShdw>
          </a:effectLst>
        </p:spPr>
      </p:sp>
      <p:sp>
        <p:nvSpPr>
          <p:cNvPr id="20" name="No proof of work circle"/>
          <p:cNvSpPr/>
          <p:nvPr/>
        </p:nvSpPr>
        <p:spPr>
          <a:xfrm>
            <a:off x="822960" y="4434840"/>
            <a:ext cx="548640" cy="548640"/>
          </a:xfrm>
          <a:prstGeom prst="ellipse">
            <a:avLst/>
          </a:prstGeom>
          <a:solidFill>
            <a:srgbClr val="FFE4E6"/>
          </a:solidFill>
        </p:spPr>
      </p:sp>
      <p:pic>
        <p:nvPicPr>
          <p:cNvPr id="21" name="No proof of work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093" y="4582973"/>
            <a:ext cx="252374" cy="25237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22960" y="5120640"/>
            <a:ext cx="2962656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No proof of work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822960" y="5458968"/>
            <a:ext cx="2962656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"Done" is a claim, not evidence, and there is no formal sign-off.</a:t>
            </a:r>
            <a:endParaRPr lang="en-US" sz="1400" dirty="0"/>
          </a:p>
        </p:txBody>
      </p:sp>
      <p:sp>
        <p:nvSpPr>
          <p:cNvPr id="24" name="Siloed project teams card"/>
          <p:cNvSpPr/>
          <p:nvPr/>
        </p:nvSpPr>
        <p:spPr>
          <a:xfrm>
            <a:off x="4334256" y="4160520"/>
            <a:ext cx="3511296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220">
                <a:alpha val="8000"/>
              </a:srgbClr>
            </a:outerShdw>
          </a:effectLst>
        </p:spPr>
      </p:sp>
      <p:sp>
        <p:nvSpPr>
          <p:cNvPr id="25" name="Siloed project teams circle"/>
          <p:cNvSpPr/>
          <p:nvPr/>
        </p:nvSpPr>
        <p:spPr>
          <a:xfrm>
            <a:off x="4608576" y="4434840"/>
            <a:ext cx="548640" cy="548640"/>
          </a:xfrm>
          <a:prstGeom prst="ellipse">
            <a:avLst/>
          </a:prstGeom>
          <a:solidFill>
            <a:srgbClr val="FFE4E6"/>
          </a:solidFill>
        </p:spPr>
      </p:sp>
      <p:pic>
        <p:nvPicPr>
          <p:cNvPr id="26" name="Siloed project teams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6709" y="4582973"/>
            <a:ext cx="252374" cy="25237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608576" y="5120640"/>
            <a:ext cx="2962656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Siloed project teams</a:t>
            </a:r>
            <a:endParaRPr lang="en-US" sz="1800" dirty="0"/>
          </a:p>
        </p:txBody>
      </p:sp>
      <p:sp>
        <p:nvSpPr>
          <p:cNvPr id="28" name="Text 21"/>
          <p:cNvSpPr txBox="1"/>
          <p:nvPr/>
        </p:nvSpPr>
        <p:spPr>
          <a:xfrm>
            <a:off x="4608576" y="5458968"/>
            <a:ext cx="2962656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Each project tracks work its own way, with no shared view across teams.</a:t>
            </a:r>
            <a:endParaRPr lang="en-US" sz="1400" dirty="0"/>
          </a:p>
        </p:txBody>
      </p:sp>
      <p:sp>
        <p:nvSpPr>
          <p:cNvPr id="29" name="Slow meeting minutes card"/>
          <p:cNvSpPr/>
          <p:nvPr/>
        </p:nvSpPr>
        <p:spPr>
          <a:xfrm>
            <a:off x="8119872" y="4160520"/>
            <a:ext cx="3511296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220">
                <a:alpha val="8000"/>
              </a:srgbClr>
            </a:outerShdw>
          </a:effectLst>
        </p:spPr>
      </p:sp>
      <p:sp>
        <p:nvSpPr>
          <p:cNvPr id="30" name="Slow meeting minutes circle"/>
          <p:cNvSpPr/>
          <p:nvPr/>
        </p:nvSpPr>
        <p:spPr>
          <a:xfrm>
            <a:off x="8394192" y="4434840"/>
            <a:ext cx="548640" cy="548640"/>
          </a:xfrm>
          <a:prstGeom prst="ellipse">
            <a:avLst/>
          </a:prstGeom>
          <a:solidFill>
            <a:srgbClr val="FFE4E6"/>
          </a:solidFill>
        </p:spPr>
      </p:sp>
      <p:pic>
        <p:nvPicPr>
          <p:cNvPr id="31" name="Slow meeting minutes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2325" y="4582973"/>
            <a:ext cx="252374" cy="25237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394192" y="5120640"/>
            <a:ext cx="2962656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Slow meeting minutes</a:t>
            </a:r>
            <a:endParaRPr lang="en-US" sz="1800" dirty="0"/>
          </a:p>
        </p:txBody>
      </p:sp>
      <p:sp>
        <p:nvSpPr>
          <p:cNvPr id="33" name="Text 25"/>
          <p:cNvSpPr txBox="1"/>
          <p:nvPr/>
        </p:nvSpPr>
        <p:spPr>
          <a:xfrm>
            <a:off x="8394192" y="5458968"/>
            <a:ext cx="2962656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Minutes take 24–48 hours to circulate, so attendees act late.</a:t>
            </a:r>
            <a:endParaRPr lang="en-US" sz="14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Meet SyncLog</a:t>
            </a:r>
            <a:endParaRPr lang="en-US" sz="3600" dirty="0"/>
          </a:p>
        </p:txBody>
      </p:sp>
      <p:sp>
        <p:nvSpPr>
          <p:cNvPr id="3" name="Text 0"/>
          <p:cNvSpPr/>
          <p:nvPr>
            <p:ph type="body" idx="101" hasCustomPrompt="1"/>
          </p:nvPr>
        </p:nvSpPr>
        <p:spPr>
          <a:xfrm>
            <a:off x="548640" y="1115568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</a:rPr>
              <a:t>One workspace that takes every meeting from conversation to verified delivery</a:t>
            </a:r>
            <a:endParaRPr lang="en-US" sz="1600" dirty="0"/>
          </a:p>
        </p:txBody>
      </p:sp>
      <p:pic>
        <p:nvPicPr>
          <p:cNvPr id="4" name="Dashboard mockup" descr="SyncLog overview dashboar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691640"/>
            <a:ext cx="7040880" cy="4572000"/>
          </a:xfrm>
          <a:prstGeom prst="rect">
            <a:avLst/>
          </a:prstGeom>
        </p:spPr>
      </p:pic>
      <p:sp>
        <p:nvSpPr>
          <p:cNvPr id="5" name="Capture circle"/>
          <p:cNvSpPr/>
          <p:nvPr/>
        </p:nvSpPr>
        <p:spPr>
          <a:xfrm>
            <a:off x="7726680" y="2148840"/>
            <a:ext cx="548640" cy="548640"/>
          </a:xfrm>
          <a:prstGeom prst="ellipse">
            <a:avLst/>
          </a:prstGeom>
          <a:solidFill>
            <a:srgbClr val="E0F2FE"/>
          </a:solidFill>
        </p:spPr>
      </p:sp>
      <p:pic>
        <p:nvPicPr>
          <p:cNvPr id="6" name="Capture icon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813" y="2296973"/>
            <a:ext cx="252374" cy="25237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503920" y="2148840"/>
            <a:ext cx="315468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Capture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8503920" y="2496312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AI turns the live meeting into a summary, decisions and owned action items.</a:t>
            </a:r>
            <a:endParaRPr lang="en-US" sz="1400" dirty="0"/>
          </a:p>
        </p:txBody>
      </p:sp>
      <p:sp>
        <p:nvSpPr>
          <p:cNvPr id="9" name="Execute circle"/>
          <p:cNvSpPr/>
          <p:nvPr/>
        </p:nvSpPr>
        <p:spPr>
          <a:xfrm>
            <a:off x="7726680" y="3474720"/>
            <a:ext cx="548640" cy="548640"/>
          </a:xfrm>
          <a:prstGeom prst="ellipse">
            <a:avLst/>
          </a:prstGeom>
          <a:solidFill>
            <a:srgbClr val="EEF2FF"/>
          </a:solidFill>
        </p:spPr>
      </p:sp>
      <p:pic>
        <p:nvPicPr>
          <p:cNvPr id="10" name="Execute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813" y="3622853"/>
            <a:ext cx="252374" cy="25237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503920" y="3474720"/>
            <a:ext cx="315468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Execute</a:t>
            </a:r>
            <a:endParaRPr lang="en-US" sz="1800" dirty="0"/>
          </a:p>
        </p:txBody>
      </p:sp>
      <p:sp>
        <p:nvSpPr>
          <p:cNvPr id="12" name="Text 7"/>
          <p:cNvSpPr txBox="1"/>
          <p:nvPr/>
        </p:nvSpPr>
        <p:spPr>
          <a:xfrm>
            <a:off x="8503920" y="3822192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Every owner sees their tasks, due dates and AI help in one board.</a:t>
            </a:r>
            <a:endParaRPr lang="en-US" sz="1400" dirty="0"/>
          </a:p>
        </p:txBody>
      </p:sp>
      <p:sp>
        <p:nvSpPr>
          <p:cNvPr id="13" name="Verify circle"/>
          <p:cNvSpPr/>
          <p:nvPr/>
        </p:nvSpPr>
        <p:spPr>
          <a:xfrm>
            <a:off x="7726680" y="4800600"/>
            <a:ext cx="548640" cy="548640"/>
          </a:xfrm>
          <a:prstGeom prst="ellipse">
            <a:avLst/>
          </a:prstGeom>
          <a:solidFill>
            <a:srgbClr val="D1FAE5"/>
          </a:solidFill>
        </p:spPr>
      </p:sp>
      <p:pic>
        <p:nvPicPr>
          <p:cNvPr id="14" name="Verify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813" y="4948733"/>
            <a:ext cx="252374" cy="25237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503920" y="4800600"/>
            <a:ext cx="315468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Verify</a:t>
            </a:r>
            <a:endParaRPr lang="en-US" sz="1800" dirty="0"/>
          </a:p>
        </p:txBody>
      </p:sp>
      <p:sp>
        <p:nvSpPr>
          <p:cNvPr id="16" name="Text 10"/>
          <p:cNvSpPr txBox="1"/>
          <p:nvPr/>
        </p:nvSpPr>
        <p:spPr>
          <a:xfrm>
            <a:off x="8503920" y="5148072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Work is closed only when a manager approves the submitted evidence.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How it works</a:t>
            </a:r>
            <a:endParaRPr lang="en-US" sz="3600" dirty="0"/>
          </a:p>
        </p:txBody>
      </p:sp>
      <p:sp>
        <p:nvSpPr>
          <p:cNvPr id="3" name="Text 0"/>
          <p:cNvSpPr/>
          <p:nvPr>
            <p:ph type="body" idx="101" hasCustomPrompt="1"/>
          </p:nvPr>
        </p:nvSpPr>
        <p:spPr>
          <a:xfrm>
            <a:off x="548640" y="1115568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</a:rPr>
              <a:t>Six steps from the meeting room to verified delivery</a:t>
            </a:r>
            <a:endParaRPr lang="en-US" sz="1600" dirty="0"/>
          </a:p>
        </p:txBody>
      </p:sp>
      <p:sp>
        <p:nvSpPr>
          <p:cNvPr id="4" name="Step connector"/>
          <p:cNvSpPr/>
          <p:nvPr/>
        </p:nvSpPr>
        <p:spPr>
          <a:xfrm>
            <a:off x="1394460" y="2286000"/>
            <a:ext cx="9400032" cy="0"/>
          </a:xfrm>
          <a:prstGeom prst="line">
            <a:avLst/>
          </a:prstGeom>
          <a:noFill/>
          <a:ln w="25400">
            <a:solidFill>
              <a:srgbClr val="C7D2FE"/>
            </a:solidFill>
            <a:prstDash val="solid"/>
          </a:ln>
        </p:spPr>
      </p:sp>
      <p:sp>
        <p:nvSpPr>
          <p:cNvPr id="5" name="Step 1 marker"/>
          <p:cNvSpPr/>
          <p:nvPr/>
        </p:nvSpPr>
        <p:spPr>
          <a:xfrm>
            <a:off x="1028700" y="1920240"/>
            <a:ext cx="731520" cy="731520"/>
          </a:xfrm>
          <a:prstGeom prst="ellipse">
            <a:avLst/>
          </a:prstGeom>
          <a:solidFill>
            <a:schemeClr val="accent2"/>
          </a:solidFill>
          <a:ln w="50800">
            <a:solidFill>
              <a:srgbClr val="F6F8F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28700" y="192024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Step 1 card"/>
          <p:cNvSpPr/>
          <p:nvPr/>
        </p:nvSpPr>
        <p:spPr>
          <a:xfrm>
            <a:off x="548640" y="2880360"/>
            <a:ext cx="1691640" cy="2240280"/>
          </a:xfrm>
          <a:prstGeom prst="roundRect">
            <a:avLst>
              <a:gd name="adj" fmla="val 7568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22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31520" y="3063240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Schedule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456432"/>
            <a:ext cx="132588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Manager creates the meeting; invitations go out by email.</a:t>
            </a:r>
            <a:endParaRPr lang="en-US" sz="1400" dirty="0"/>
          </a:p>
        </p:txBody>
      </p:sp>
      <p:sp>
        <p:nvSpPr>
          <p:cNvPr id="10" name="Step 2 marker"/>
          <p:cNvSpPr/>
          <p:nvPr/>
        </p:nvSpPr>
        <p:spPr>
          <a:xfrm>
            <a:off x="2908706" y="1920240"/>
            <a:ext cx="731520" cy="731520"/>
          </a:xfrm>
          <a:prstGeom prst="ellipse">
            <a:avLst/>
          </a:prstGeom>
          <a:solidFill>
            <a:schemeClr val="accent2"/>
          </a:solidFill>
          <a:ln w="50800">
            <a:solidFill>
              <a:srgbClr val="F6F8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08706" y="192024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Step 2 card"/>
          <p:cNvSpPr/>
          <p:nvPr/>
        </p:nvSpPr>
        <p:spPr>
          <a:xfrm>
            <a:off x="2428646" y="2880360"/>
            <a:ext cx="1691640" cy="2240280"/>
          </a:xfrm>
          <a:prstGeom prst="roundRect">
            <a:avLst>
              <a:gd name="adj" fmla="val 7568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220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2611526" y="3063240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Record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611526" y="3456432"/>
            <a:ext cx="132588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The meeting is recorded and transcribed live by Gemini.</a:t>
            </a:r>
            <a:endParaRPr lang="en-US" sz="1400" dirty="0"/>
          </a:p>
        </p:txBody>
      </p:sp>
      <p:sp>
        <p:nvSpPr>
          <p:cNvPr id="15" name="Step 3 marker"/>
          <p:cNvSpPr/>
          <p:nvPr/>
        </p:nvSpPr>
        <p:spPr>
          <a:xfrm>
            <a:off x="4788713" y="1920240"/>
            <a:ext cx="731520" cy="731520"/>
          </a:xfrm>
          <a:prstGeom prst="ellipse">
            <a:avLst/>
          </a:prstGeom>
          <a:solidFill>
            <a:schemeClr val="accent2"/>
          </a:solidFill>
          <a:ln w="50800">
            <a:solidFill>
              <a:srgbClr val="F6F8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88713" y="192024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03</a:t>
            </a:r>
            <a:endParaRPr lang="en-US" sz="1800" dirty="0"/>
          </a:p>
        </p:txBody>
      </p:sp>
      <p:sp>
        <p:nvSpPr>
          <p:cNvPr id="17" name="Step 3 card"/>
          <p:cNvSpPr/>
          <p:nvPr/>
        </p:nvSpPr>
        <p:spPr>
          <a:xfrm>
            <a:off x="4308653" y="2880360"/>
            <a:ext cx="1691640" cy="2240280"/>
          </a:xfrm>
          <a:prstGeom prst="roundRect">
            <a:avLst>
              <a:gd name="adj" fmla="val 7568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220">
                <a:alpha val="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491533" y="3063240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Extract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491533" y="3456432"/>
            <a:ext cx="132588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AI drafts the summary, decisions, risks and action items.</a:t>
            </a:r>
            <a:endParaRPr lang="en-US" sz="1400" dirty="0"/>
          </a:p>
        </p:txBody>
      </p:sp>
      <p:sp>
        <p:nvSpPr>
          <p:cNvPr id="20" name="Step 4 marker"/>
          <p:cNvSpPr/>
          <p:nvPr/>
        </p:nvSpPr>
        <p:spPr>
          <a:xfrm>
            <a:off x="6668719" y="1920240"/>
            <a:ext cx="731520" cy="731520"/>
          </a:xfrm>
          <a:prstGeom prst="ellipse">
            <a:avLst/>
          </a:prstGeom>
          <a:solidFill>
            <a:schemeClr val="accent2"/>
          </a:solidFill>
          <a:ln w="50800">
            <a:solidFill>
              <a:srgbClr val="F6F8F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68719" y="192024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04</a:t>
            </a:r>
            <a:endParaRPr lang="en-US" sz="1800" dirty="0"/>
          </a:p>
        </p:txBody>
      </p:sp>
      <p:sp>
        <p:nvSpPr>
          <p:cNvPr id="22" name="Step 4 card"/>
          <p:cNvSpPr/>
          <p:nvPr/>
        </p:nvSpPr>
        <p:spPr>
          <a:xfrm>
            <a:off x="6188659" y="2880360"/>
            <a:ext cx="1691640" cy="2240280"/>
          </a:xfrm>
          <a:prstGeom prst="roundRect">
            <a:avLst>
              <a:gd name="adj" fmla="val 7568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220">
                <a:alpha val="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371539" y="3063240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Execute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371539" y="3456432"/>
            <a:ext cx="132588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Owners work their board, with Copilot guidance on each task.</a:t>
            </a:r>
            <a:endParaRPr lang="en-US" sz="1400" dirty="0"/>
          </a:p>
        </p:txBody>
      </p:sp>
      <p:sp>
        <p:nvSpPr>
          <p:cNvPr id="25" name="Step 5 marker"/>
          <p:cNvSpPr/>
          <p:nvPr/>
        </p:nvSpPr>
        <p:spPr>
          <a:xfrm>
            <a:off x="8548726" y="1920240"/>
            <a:ext cx="731520" cy="731520"/>
          </a:xfrm>
          <a:prstGeom prst="ellipse">
            <a:avLst/>
          </a:prstGeom>
          <a:solidFill>
            <a:schemeClr val="accent2"/>
          </a:solidFill>
          <a:ln w="50800">
            <a:solidFill>
              <a:srgbClr val="F6F8F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48726" y="192024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05</a:t>
            </a:r>
            <a:endParaRPr lang="en-US" sz="1800" dirty="0"/>
          </a:p>
        </p:txBody>
      </p:sp>
      <p:sp>
        <p:nvSpPr>
          <p:cNvPr id="27" name="Step 5 card"/>
          <p:cNvSpPr/>
          <p:nvPr/>
        </p:nvSpPr>
        <p:spPr>
          <a:xfrm>
            <a:off x="8068666" y="2880360"/>
            <a:ext cx="1691640" cy="2240280"/>
          </a:xfrm>
          <a:prstGeom prst="roundRect">
            <a:avLst>
              <a:gd name="adj" fmla="val 7568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220">
                <a:alpha val="8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8251546" y="3063240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Submit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8251546" y="3456432"/>
            <a:ext cx="132588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Owners upload files, links and a note as proof of work.</a:t>
            </a:r>
            <a:endParaRPr lang="en-US" sz="1400" dirty="0"/>
          </a:p>
        </p:txBody>
      </p:sp>
      <p:sp>
        <p:nvSpPr>
          <p:cNvPr id="30" name="Step 6 marker"/>
          <p:cNvSpPr/>
          <p:nvPr/>
        </p:nvSpPr>
        <p:spPr>
          <a:xfrm>
            <a:off x="10428732" y="1920240"/>
            <a:ext cx="731520" cy="731520"/>
          </a:xfrm>
          <a:prstGeom prst="ellipse">
            <a:avLst/>
          </a:prstGeom>
          <a:solidFill>
            <a:schemeClr val="accent3"/>
          </a:solidFill>
          <a:ln w="50800">
            <a:solidFill>
              <a:srgbClr val="F6F8F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428732" y="192024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06</a:t>
            </a:r>
            <a:endParaRPr lang="en-US" sz="1800" dirty="0"/>
          </a:p>
        </p:txBody>
      </p:sp>
      <p:sp>
        <p:nvSpPr>
          <p:cNvPr id="32" name="Step 6 card"/>
          <p:cNvSpPr/>
          <p:nvPr/>
        </p:nvSpPr>
        <p:spPr>
          <a:xfrm>
            <a:off x="9948672" y="2880360"/>
            <a:ext cx="1691640" cy="2240280"/>
          </a:xfrm>
          <a:prstGeom prst="roundRect">
            <a:avLst>
              <a:gd name="adj" fmla="val 7568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220">
                <a:alpha val="8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10131552" y="3063240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Verify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10131552" y="3456432"/>
            <a:ext cx="132588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Manager approves or sends back; the dashboard updates.</a:t>
            </a:r>
            <a:endParaRPr lang="en-US" sz="1400" dirty="0"/>
          </a:p>
        </p:txBody>
      </p:sp>
      <p:sp>
        <p:nvSpPr>
          <p:cNvPr id="35" name="Loop callout"/>
          <p:cNvSpPr/>
          <p:nvPr/>
        </p:nvSpPr>
        <p:spPr>
          <a:xfrm>
            <a:off x="548640" y="5440680"/>
            <a:ext cx="11091672" cy="685800"/>
          </a:xfrm>
          <a:prstGeom prst="roundRect">
            <a:avLst>
              <a:gd name="adj" fmla="val 18667"/>
            </a:avLst>
          </a:prstGeom>
          <a:solidFill>
            <a:srgbClr val="EEF2FF"/>
          </a:solidFill>
        </p:spPr>
      </p:sp>
      <p:pic>
        <p:nvPicPr>
          <p:cNvPr id="36" name="Loop icon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623560"/>
            <a:ext cx="320040" cy="320040"/>
          </a:xfrm>
          <a:prstGeom prst="rect">
            <a:avLst/>
          </a:prstGeom>
        </p:spPr>
      </p:pic>
      <p:sp>
        <p:nvSpPr>
          <p:cNvPr id="37" name="Text 34"/>
          <p:cNvSpPr txBox="1"/>
          <p:nvPr/>
        </p:nvSpPr>
        <p:spPr>
          <a:xfrm>
            <a:off x="1280160" y="5440680"/>
            <a:ext cx="101498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30A3"/>
                </a:solidFill>
              </a:rPr>
              <a:t>The whole loop runs inside SyncLog: no follow-up spreadsheets, no lost action points, no ambiguity about who owns what.</a:t>
            </a:r>
            <a:endParaRPr lang="en-US" sz="16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body" idx="100" hasCustomPrompt="1"/>
          </p:nvPr>
        </p:nvSpPr>
        <p:spPr>
          <a:xfrm>
            <a:off x="548640" y="68580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STEP 1  ·  CAPTURE</a:t>
            </a:r>
            <a:endParaRPr lang="en-US" sz="1200" dirty="0"/>
          </a:p>
        </p:txBody>
      </p:sp>
      <p:sp>
        <p:nvSpPr>
          <p:cNvPr id="3" name="Text 0"/>
          <p:cNvSpPr/>
          <p:nvPr>
            <p:ph type="title" idx="101" hasCustomPrompt="1"/>
          </p:nvPr>
        </p:nvSpPr>
        <p:spPr>
          <a:xfrm>
            <a:off x="548640" y="1051560"/>
            <a:ext cx="512064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Every decision is captured as it is spoken</a:t>
            </a:r>
            <a:endParaRPr lang="en-US" sz="3600" dirty="0"/>
          </a:p>
        </p:txBody>
      </p:sp>
      <p:sp>
        <p:nvSpPr>
          <p:cNvPr id="4" name="Record in the room circle"/>
          <p:cNvSpPr/>
          <p:nvPr/>
        </p:nvSpPr>
        <p:spPr>
          <a:xfrm>
            <a:off x="548640" y="2743200"/>
            <a:ext cx="548640" cy="548640"/>
          </a:xfrm>
          <a:prstGeom prst="ellipse">
            <a:avLst/>
          </a:prstGeom>
          <a:solidFill>
            <a:srgbClr val="E0F2FE"/>
          </a:solidFill>
        </p:spPr>
      </p:sp>
      <p:pic>
        <p:nvPicPr>
          <p:cNvPr id="5" name="Record in the room icon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3" y="2891333"/>
            <a:ext cx="252374" cy="25237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2743200"/>
            <a:ext cx="43434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Record in the room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3090672"/>
            <a:ext cx="434340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Start recording from any phone or laptop when the meeting begins.</a:t>
            </a:r>
            <a:endParaRPr lang="en-US" sz="1400" dirty="0"/>
          </a:p>
        </p:txBody>
      </p:sp>
      <p:sp>
        <p:nvSpPr>
          <p:cNvPr id="8" name="AI listens for actions circle"/>
          <p:cNvSpPr/>
          <p:nvPr/>
        </p:nvSpPr>
        <p:spPr>
          <a:xfrm>
            <a:off x="548640" y="3886200"/>
            <a:ext cx="548640" cy="548640"/>
          </a:xfrm>
          <a:prstGeom prst="ellipse">
            <a:avLst/>
          </a:prstGeom>
          <a:solidFill>
            <a:srgbClr val="EEF2FF"/>
          </a:solidFill>
        </p:spPr>
      </p:sp>
      <p:pic>
        <p:nvPicPr>
          <p:cNvPr id="9" name="AI listens for actions icon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73" y="4034333"/>
            <a:ext cx="252374" cy="25237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3886200"/>
            <a:ext cx="43434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AI listens for actions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4233672"/>
            <a:ext cx="434340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Gemini transcribes live and flags commitments, owners and dates.</a:t>
            </a:r>
            <a:endParaRPr lang="en-US" sz="1400" dirty="0"/>
          </a:p>
        </p:txBody>
      </p:sp>
      <p:sp>
        <p:nvSpPr>
          <p:cNvPr id="12" name="Assign in one tap circle"/>
          <p:cNvSpPr/>
          <p:nvPr/>
        </p:nvSpPr>
        <p:spPr>
          <a:xfrm>
            <a:off x="548640" y="5029200"/>
            <a:ext cx="548640" cy="548640"/>
          </a:xfrm>
          <a:prstGeom prst="ellipse">
            <a:avLst/>
          </a:prstGeom>
          <a:solidFill>
            <a:srgbClr val="D1FAE5"/>
          </a:solidFill>
        </p:spPr>
      </p:sp>
      <p:pic>
        <p:nvPicPr>
          <p:cNvPr id="13" name="Assign in one tap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3" y="5177333"/>
            <a:ext cx="252374" cy="25237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5029200"/>
            <a:ext cx="43434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Assign in one tap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5376672"/>
            <a:ext cx="434340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Review the summary, decisions and risks, then notify every owner.</a:t>
            </a:r>
            <a:endParaRPr lang="en-US" sz="1400" dirty="0"/>
          </a:p>
        </p:txBody>
      </p:sp>
      <p:pic>
        <p:nvPicPr>
          <p:cNvPr id="16" name="Live recording screen" descr="Live recording scree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228600"/>
            <a:ext cx="3102429" cy="6080760"/>
          </a:xfrm>
          <a:prstGeom prst="rect">
            <a:avLst/>
          </a:prstGeom>
        </p:spPr>
      </p:pic>
      <p:pic>
        <p:nvPicPr>
          <p:cNvPr id="17" name="Meeting insights screen" descr="Meeting insights scree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0" y="228600"/>
            <a:ext cx="3102429" cy="6080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body" idx="100" hasCustomPrompt="1"/>
          </p:nvPr>
        </p:nvSpPr>
        <p:spPr>
          <a:xfrm>
            <a:off x="548640" y="68580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STEP 2  ·  EXECUTE</a:t>
            </a:r>
            <a:endParaRPr lang="en-US" sz="1200" dirty="0"/>
          </a:p>
        </p:txBody>
      </p:sp>
      <p:sp>
        <p:nvSpPr>
          <p:cNvPr id="3" name="Text 0"/>
          <p:cNvSpPr/>
          <p:nvPr>
            <p:ph type="title" idx="101" hasCustomPrompt="1"/>
          </p:nvPr>
        </p:nvSpPr>
        <p:spPr>
          <a:xfrm>
            <a:off x="548640" y="1051560"/>
            <a:ext cx="512064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Everyone knows what they own, and by when</a:t>
            </a:r>
            <a:endParaRPr lang="en-US" sz="3600" dirty="0"/>
          </a:p>
        </p:txBody>
      </p:sp>
      <p:sp>
        <p:nvSpPr>
          <p:cNvPr id="4" name="A personal action board circle"/>
          <p:cNvSpPr/>
          <p:nvPr/>
        </p:nvSpPr>
        <p:spPr>
          <a:xfrm>
            <a:off x="548640" y="2743200"/>
            <a:ext cx="548640" cy="548640"/>
          </a:xfrm>
          <a:prstGeom prst="ellipse">
            <a:avLst/>
          </a:prstGeom>
          <a:solidFill>
            <a:srgbClr val="E0F2FE"/>
          </a:solidFill>
        </p:spPr>
      </p:sp>
      <p:pic>
        <p:nvPicPr>
          <p:cNvPr id="5" name="A personal action board icon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3" y="2891333"/>
            <a:ext cx="252374" cy="25237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2743200"/>
            <a:ext cx="43434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A personal action board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3090672"/>
            <a:ext cx="434340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Priority, status, due date and source meeting on every task.</a:t>
            </a:r>
            <a:endParaRPr lang="en-US" sz="1400" dirty="0"/>
          </a:p>
        </p:txBody>
      </p:sp>
      <p:sp>
        <p:nvSpPr>
          <p:cNvPr id="8" name="Copilot on every task circle"/>
          <p:cNvSpPr/>
          <p:nvPr/>
        </p:nvSpPr>
        <p:spPr>
          <a:xfrm>
            <a:off x="548640" y="3886200"/>
            <a:ext cx="548640" cy="548640"/>
          </a:xfrm>
          <a:prstGeom prst="ellipse">
            <a:avLst/>
          </a:prstGeom>
          <a:solidFill>
            <a:srgbClr val="EEF2FF"/>
          </a:solidFill>
        </p:spPr>
      </p:sp>
      <p:pic>
        <p:nvPicPr>
          <p:cNvPr id="9" name="Copilot on every task icon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73" y="4034333"/>
            <a:ext cx="252374" cy="25237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3886200"/>
            <a:ext cx="43434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Copilot on every task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4233672"/>
            <a:ext cx="434340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Step-by-step plans, templates, risks and draft emails on demand.</a:t>
            </a:r>
            <a:endParaRPr lang="en-US" sz="1400" dirty="0"/>
          </a:p>
        </p:txBody>
      </p:sp>
      <p:sp>
        <p:nvSpPr>
          <p:cNvPr id="12" name="Submit proof from the task circle"/>
          <p:cNvSpPr/>
          <p:nvPr/>
        </p:nvSpPr>
        <p:spPr>
          <a:xfrm>
            <a:off x="548640" y="5029200"/>
            <a:ext cx="548640" cy="548640"/>
          </a:xfrm>
          <a:prstGeom prst="ellipse">
            <a:avLst/>
          </a:prstGeom>
          <a:solidFill>
            <a:srgbClr val="D1FAE5"/>
          </a:solidFill>
        </p:spPr>
      </p:sp>
      <p:pic>
        <p:nvPicPr>
          <p:cNvPr id="13" name="Submit proof from the task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3" y="5177333"/>
            <a:ext cx="252374" cy="25237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5029200"/>
            <a:ext cx="43434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Submit proof from the task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5376672"/>
            <a:ext cx="434340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Attach files or links when the work is done, with a note.</a:t>
            </a:r>
            <a:endParaRPr lang="en-US" sz="1400" dirty="0"/>
          </a:p>
        </p:txBody>
      </p:sp>
      <p:pic>
        <p:nvPicPr>
          <p:cNvPr id="16" name="Action board screen" descr="Action board scree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228600"/>
            <a:ext cx="3102429" cy="6080760"/>
          </a:xfrm>
          <a:prstGeom prst="rect">
            <a:avLst/>
          </a:prstGeom>
        </p:spPr>
      </p:pic>
      <p:pic>
        <p:nvPicPr>
          <p:cNvPr id="17" name="Copilot screen" descr="Copilot scree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0" y="228600"/>
            <a:ext cx="3102429" cy="6080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body" idx="100" hasCustomPrompt="1"/>
          </p:nvPr>
        </p:nvSpPr>
        <p:spPr>
          <a:xfrm>
            <a:off x="548640" y="68580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STEP 3  ·  VERIFY</a:t>
            </a:r>
            <a:endParaRPr lang="en-US" sz="1200" dirty="0"/>
          </a:p>
        </p:txBody>
      </p:sp>
      <p:sp>
        <p:nvSpPr>
          <p:cNvPr id="3" name="Text 0"/>
          <p:cNvSpPr/>
          <p:nvPr>
            <p:ph type="title" idx="101" hasCustomPrompt="1"/>
          </p:nvPr>
        </p:nvSpPr>
        <p:spPr>
          <a:xfrm>
            <a:off x="548640" y="1051560"/>
            <a:ext cx="512064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Nothing is done until it is verified</a:t>
            </a:r>
            <a:endParaRPr lang="en-US" sz="3600" dirty="0"/>
          </a:p>
        </p:txBody>
      </p:sp>
      <p:sp>
        <p:nvSpPr>
          <p:cNvPr id="4" name="Evidence, not claims circle"/>
          <p:cNvSpPr/>
          <p:nvPr/>
        </p:nvSpPr>
        <p:spPr>
          <a:xfrm>
            <a:off x="548640" y="2743200"/>
            <a:ext cx="548640" cy="548640"/>
          </a:xfrm>
          <a:prstGeom prst="ellipse">
            <a:avLst/>
          </a:prstGeom>
          <a:solidFill>
            <a:srgbClr val="E0F2FE"/>
          </a:solidFill>
        </p:spPr>
      </p:sp>
      <p:pic>
        <p:nvPicPr>
          <p:cNvPr id="5" name="Evidence, not claims icon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3" y="2891333"/>
            <a:ext cx="252374" cy="25237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2743200"/>
            <a:ext cx="43434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Evidence, not claims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3090672"/>
            <a:ext cx="434340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Owners submit files, links and notes against the exact task.</a:t>
            </a:r>
            <a:endParaRPr lang="en-US" sz="1400" dirty="0"/>
          </a:p>
        </p:txBody>
      </p:sp>
      <p:sp>
        <p:nvSpPr>
          <p:cNvPr id="8" name="Approve or send back circle"/>
          <p:cNvSpPr/>
          <p:nvPr/>
        </p:nvSpPr>
        <p:spPr>
          <a:xfrm>
            <a:off x="548640" y="3730752"/>
            <a:ext cx="548640" cy="548640"/>
          </a:xfrm>
          <a:prstGeom prst="ellipse">
            <a:avLst/>
          </a:prstGeom>
          <a:solidFill>
            <a:srgbClr val="D1FAE5"/>
          </a:solidFill>
        </p:spPr>
      </p:sp>
      <p:pic>
        <p:nvPicPr>
          <p:cNvPr id="9" name="Approve or send back icon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73" y="3878885"/>
            <a:ext cx="252374" cy="25237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3730752"/>
            <a:ext cx="43434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Approve or send back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4078224"/>
            <a:ext cx="434340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Managers approve or return the task for revision with feedback.</a:t>
            </a:r>
            <a:endParaRPr lang="en-US" sz="1400" dirty="0"/>
          </a:p>
        </p:txBody>
      </p:sp>
      <p:sp>
        <p:nvSpPr>
          <p:cNvPr id="12" name="A full audit trail circle"/>
          <p:cNvSpPr/>
          <p:nvPr/>
        </p:nvSpPr>
        <p:spPr>
          <a:xfrm>
            <a:off x="548640" y="4718304"/>
            <a:ext cx="548640" cy="548640"/>
          </a:xfrm>
          <a:prstGeom prst="ellipse">
            <a:avLst/>
          </a:prstGeom>
          <a:solidFill>
            <a:srgbClr val="EEF2FF"/>
          </a:solidFill>
        </p:spPr>
      </p:sp>
      <p:pic>
        <p:nvPicPr>
          <p:cNvPr id="13" name="A full audit trail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3" y="4866437"/>
            <a:ext cx="252374" cy="25237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4718304"/>
            <a:ext cx="43434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A full audit trail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5065776"/>
            <a:ext cx="434340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Every assignment, reminder, submission and decision is timestamped.</a:t>
            </a:r>
            <a:endParaRPr lang="en-US" sz="1400" dirty="0"/>
          </a:p>
        </p:txBody>
      </p:sp>
      <p:pic>
        <p:nvPicPr>
          <p:cNvPr id="16" name="Submit proof screen" descr="Submit proof scree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228600"/>
            <a:ext cx="3102429" cy="6080760"/>
          </a:xfrm>
          <a:prstGeom prst="rect">
            <a:avLst/>
          </a:prstGeom>
        </p:spPr>
      </p:pic>
      <p:pic>
        <p:nvPicPr>
          <p:cNvPr id="17" name="Review portal screen" descr="Review portal scree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0" y="228600"/>
            <a:ext cx="3102429" cy="6080760"/>
          </a:xfrm>
          <a:prstGeom prst="rect">
            <a:avLst/>
          </a:prstGeom>
        </p:spPr>
      </p:pic>
      <p:sp>
        <p:nvSpPr>
          <p:cNvPr id="18" name="Pending status"/>
          <p:cNvSpPr/>
          <p:nvPr/>
        </p:nvSpPr>
        <p:spPr>
          <a:xfrm>
            <a:off x="548640" y="5897880"/>
            <a:ext cx="745236" cy="329184"/>
          </a:xfrm>
          <a:prstGeom prst="roundRect">
            <a:avLst>
              <a:gd name="adj" fmla="val 50000"/>
            </a:avLst>
          </a:prstGeom>
          <a:solidFill>
            <a:srgbClr val="F1F5F9"/>
          </a:solidFill>
        </p:spPr>
      </p:sp>
      <p:sp>
        <p:nvSpPr>
          <p:cNvPr id="19" name="Text 12"/>
          <p:cNvSpPr txBox="1"/>
          <p:nvPr/>
        </p:nvSpPr>
        <p:spPr>
          <a:xfrm>
            <a:off x="548640" y="5897880"/>
            <a:ext cx="74523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</a:rPr>
              <a:t>Pending</a:t>
            </a:r>
            <a:endParaRPr lang="en-US" sz="1100" dirty="0"/>
          </a:p>
        </p:txBody>
      </p:sp>
      <p:sp>
        <p:nvSpPr>
          <p:cNvPr id="20" name="In progress status"/>
          <p:cNvSpPr/>
          <p:nvPr/>
        </p:nvSpPr>
        <p:spPr>
          <a:xfrm>
            <a:off x="1403604" y="5897880"/>
            <a:ext cx="1056132" cy="329184"/>
          </a:xfrm>
          <a:prstGeom prst="roundRect">
            <a:avLst>
              <a:gd name="adj" fmla="val 50000"/>
            </a:avLst>
          </a:prstGeom>
          <a:solidFill>
            <a:srgbClr val="EEF2FF"/>
          </a:solidFill>
        </p:spPr>
      </p:sp>
      <p:sp>
        <p:nvSpPr>
          <p:cNvPr id="21" name="Text 14"/>
          <p:cNvSpPr txBox="1"/>
          <p:nvPr/>
        </p:nvSpPr>
        <p:spPr>
          <a:xfrm>
            <a:off x="1403604" y="5897880"/>
            <a:ext cx="105613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46E5"/>
                </a:solidFill>
              </a:rPr>
              <a:t>In progress</a:t>
            </a:r>
            <a:endParaRPr lang="en-US" sz="1100" dirty="0"/>
          </a:p>
        </p:txBody>
      </p:sp>
      <p:sp>
        <p:nvSpPr>
          <p:cNvPr id="22" name="Submitted status"/>
          <p:cNvSpPr/>
          <p:nvPr/>
        </p:nvSpPr>
        <p:spPr>
          <a:xfrm>
            <a:off x="2569464" y="5897880"/>
            <a:ext cx="900684" cy="329184"/>
          </a:xfrm>
          <a:prstGeom prst="roundRect">
            <a:avLst>
              <a:gd name="adj" fmla="val 50000"/>
            </a:avLst>
          </a:prstGeom>
          <a:solidFill>
            <a:srgbClr val="E0F2FE"/>
          </a:solidFill>
        </p:spPr>
      </p:sp>
      <p:sp>
        <p:nvSpPr>
          <p:cNvPr id="23" name="Text 16"/>
          <p:cNvSpPr txBox="1"/>
          <p:nvPr/>
        </p:nvSpPr>
        <p:spPr>
          <a:xfrm>
            <a:off x="2569464" y="5897880"/>
            <a:ext cx="9006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4C7"/>
                </a:solidFill>
              </a:rPr>
              <a:t>Submitted</a:t>
            </a:r>
            <a:endParaRPr lang="en-US" sz="1100" dirty="0"/>
          </a:p>
        </p:txBody>
      </p:sp>
      <p:sp>
        <p:nvSpPr>
          <p:cNvPr id="24" name="Approved status"/>
          <p:cNvSpPr/>
          <p:nvPr/>
        </p:nvSpPr>
        <p:spPr>
          <a:xfrm>
            <a:off x="3579876" y="5897880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D1FAE5"/>
          </a:solidFill>
        </p:spPr>
      </p:sp>
      <p:sp>
        <p:nvSpPr>
          <p:cNvPr id="25" name="Text 18"/>
          <p:cNvSpPr txBox="1"/>
          <p:nvPr/>
        </p:nvSpPr>
        <p:spPr>
          <a:xfrm>
            <a:off x="3579876" y="5897880"/>
            <a:ext cx="8229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9669"/>
                </a:solidFill>
              </a:rPr>
              <a:t>Approved</a:t>
            </a:r>
            <a:endParaRPr lang="en-US" sz="1100" dirty="0"/>
          </a:p>
        </p:txBody>
      </p:sp>
      <p:sp>
        <p:nvSpPr>
          <p:cNvPr id="26" name="Rejected status"/>
          <p:cNvSpPr/>
          <p:nvPr/>
        </p:nvSpPr>
        <p:spPr>
          <a:xfrm>
            <a:off x="4512564" y="5897880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FFE4E6"/>
          </a:solidFill>
        </p:spPr>
      </p:sp>
      <p:sp>
        <p:nvSpPr>
          <p:cNvPr id="27" name="Text 20"/>
          <p:cNvSpPr txBox="1"/>
          <p:nvPr/>
        </p:nvSpPr>
        <p:spPr>
          <a:xfrm>
            <a:off x="4512564" y="5897880"/>
            <a:ext cx="8229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11D48"/>
                </a:solidFill>
              </a:rPr>
              <a:t>Rejected</a:t>
            </a:r>
            <a:endParaRPr lang="en-US" sz="11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body" idx="100" hasCustomPrompt="1"/>
          </p:nvPr>
        </p:nvSpPr>
        <p:spPr>
          <a:xfrm>
            <a:off x="548640" y="685800"/>
            <a:ext cx="6949440" cy="32004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DD3FC"/>
                </a:solidFill>
              </a:rPr>
              <a:t>ALWAYS IN THE LOOP</a:t>
            </a:r>
            <a:endParaRPr lang="en-US" sz="1200" dirty="0"/>
          </a:p>
        </p:txBody>
      </p:sp>
      <p:sp>
        <p:nvSpPr>
          <p:cNvPr id="3" name="Text 0"/>
          <p:cNvSpPr/>
          <p:nvPr>
            <p:ph type="title" idx="101" hasCustomPrompt="1"/>
          </p:nvPr>
        </p:nvSpPr>
        <p:spPr>
          <a:xfrm>
            <a:off x="548640" y="1051560"/>
            <a:ext cx="694944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The right email reaches the right person, automatically</a:t>
            </a:r>
            <a:endParaRPr lang="en-US" sz="3600" dirty="0"/>
          </a:p>
        </p:txBody>
      </p:sp>
      <p:sp>
        <p:nvSpPr>
          <p:cNvPr id="4" name="Meeting invitation card"/>
          <p:cNvSpPr/>
          <p:nvPr/>
        </p:nvSpPr>
        <p:spPr>
          <a:xfrm>
            <a:off x="548640" y="2743200"/>
            <a:ext cx="3383280" cy="1463040"/>
          </a:xfrm>
          <a:prstGeom prst="roundRect">
            <a:avLst>
              <a:gd name="adj" fmla="val 8750"/>
            </a:avLst>
          </a:prstGeom>
          <a:solidFill>
            <a:srgbClr val="1E2552"/>
          </a:solidFill>
          <a:ln w="9525">
            <a:solidFill>
              <a:srgbClr val="2E3770"/>
            </a:solidFill>
            <a:prstDash val="solid"/>
          </a:ln>
        </p:spPr>
      </p:sp>
      <p:pic>
        <p:nvPicPr>
          <p:cNvPr id="5" name="Meeting invitation icon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971800"/>
            <a:ext cx="347472" cy="3474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2971800"/>
            <a:ext cx="24688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Meeting invitation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429000"/>
            <a:ext cx="29718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</a:rPr>
              <a:t>Sent to every attendee when a meeting is created, with date, time and organiser.</a:t>
            </a:r>
            <a:endParaRPr lang="en-US" sz="1400" dirty="0"/>
          </a:p>
        </p:txBody>
      </p:sp>
      <p:sp>
        <p:nvSpPr>
          <p:cNvPr id="8" name="New task assigned card"/>
          <p:cNvSpPr/>
          <p:nvPr/>
        </p:nvSpPr>
        <p:spPr>
          <a:xfrm>
            <a:off x="4160520" y="2743200"/>
            <a:ext cx="3383280" cy="1463040"/>
          </a:xfrm>
          <a:prstGeom prst="roundRect">
            <a:avLst>
              <a:gd name="adj" fmla="val 8750"/>
            </a:avLst>
          </a:prstGeom>
          <a:solidFill>
            <a:srgbClr val="1E2552"/>
          </a:solidFill>
          <a:ln w="9525">
            <a:solidFill>
              <a:srgbClr val="2E3770"/>
            </a:solidFill>
            <a:prstDash val="solid"/>
          </a:ln>
        </p:spPr>
      </p:sp>
      <p:pic>
        <p:nvPicPr>
          <p:cNvPr id="9" name="New task assigned icon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297180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892040" y="2971800"/>
            <a:ext cx="24688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New task assigned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4389120" y="3429000"/>
            <a:ext cx="29718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</a:rPr>
              <a:t>Each owner gets the task, priority, due date and a link to submit proof.</a:t>
            </a:r>
            <a:endParaRPr lang="en-US" sz="1400" dirty="0"/>
          </a:p>
        </p:txBody>
      </p:sp>
      <p:sp>
        <p:nvSpPr>
          <p:cNvPr id="12" name="One-click reminders card"/>
          <p:cNvSpPr/>
          <p:nvPr/>
        </p:nvSpPr>
        <p:spPr>
          <a:xfrm>
            <a:off x="548640" y="4434840"/>
            <a:ext cx="3383280" cy="1463040"/>
          </a:xfrm>
          <a:prstGeom prst="roundRect">
            <a:avLst>
              <a:gd name="adj" fmla="val 8750"/>
            </a:avLst>
          </a:prstGeom>
          <a:solidFill>
            <a:srgbClr val="1E2552"/>
          </a:solidFill>
          <a:ln w="9525">
            <a:solidFill>
              <a:srgbClr val="2E3770"/>
            </a:solidFill>
            <a:prstDash val="solid"/>
          </a:ln>
        </p:spPr>
      </p:sp>
      <p:pic>
        <p:nvPicPr>
          <p:cNvPr id="13" name="One-click reminders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663440"/>
            <a:ext cx="347472" cy="34747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80160" y="4663440"/>
            <a:ext cx="24688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One-click reminders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777240" y="5120640"/>
            <a:ext cx="29718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</a:rPr>
              <a:t>Managers nudge an owner in one click; overdue tasks are flagged in red.</a:t>
            </a:r>
            <a:endParaRPr lang="en-US" sz="1400" dirty="0"/>
          </a:p>
        </p:txBody>
      </p:sp>
      <p:sp>
        <p:nvSpPr>
          <p:cNvPr id="16" name="Staff welcome card"/>
          <p:cNvSpPr/>
          <p:nvPr/>
        </p:nvSpPr>
        <p:spPr>
          <a:xfrm>
            <a:off x="4160520" y="4434840"/>
            <a:ext cx="3383280" cy="1463040"/>
          </a:xfrm>
          <a:prstGeom prst="roundRect">
            <a:avLst>
              <a:gd name="adj" fmla="val 8750"/>
            </a:avLst>
          </a:prstGeom>
          <a:solidFill>
            <a:srgbClr val="1E2552"/>
          </a:solidFill>
          <a:ln w="9525">
            <a:solidFill>
              <a:srgbClr val="2E3770"/>
            </a:solidFill>
            <a:prstDash val="solid"/>
          </a:ln>
        </p:spPr>
      </p:sp>
      <p:pic>
        <p:nvPicPr>
          <p:cNvPr id="17" name="Staff welcome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4663440"/>
            <a:ext cx="347472" cy="34747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4892040" y="4663440"/>
            <a:ext cx="24688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Staff welcome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4389120" y="5120640"/>
            <a:ext cx="29718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</a:rPr>
              <a:t>New team members receive their account details and sign-in steps.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548640" y="6035040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</a:rPr>
              <a:t>Delivered through the organisation’s own SMTP mail server.</a:t>
            </a:r>
            <a:endParaRPr lang="en-US" sz="1200" dirty="0"/>
          </a:p>
        </p:txBody>
      </p:sp>
      <p:pic>
        <p:nvPicPr>
          <p:cNvPr id="21" name="Lock screen notifications" descr="Lock screen notification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760" y="228600"/>
            <a:ext cx="3102429" cy="6080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Everyone sees exactly what they need</a:t>
            </a:r>
            <a:endParaRPr lang="en-US" sz="3600" dirty="0"/>
          </a:p>
        </p:txBody>
      </p:sp>
      <p:sp>
        <p:nvSpPr>
          <p:cNvPr id="3" name="Text 0"/>
          <p:cNvSpPr/>
          <p:nvPr>
            <p:ph type="body" idx="101" hasCustomPrompt="1"/>
          </p:nvPr>
        </p:nvSpPr>
        <p:spPr>
          <a:xfrm>
            <a:off x="548640" y="1115568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</a:rPr>
              <a:t>Role-based access, enforced in the database with row-level security</a:t>
            </a:r>
            <a:endParaRPr lang="en-US" sz="1600" dirty="0"/>
          </a:p>
        </p:txBody>
      </p:sp>
      <p:sp>
        <p:nvSpPr>
          <p:cNvPr id="4" name="Principal (Admin) card"/>
          <p:cNvSpPr/>
          <p:nvPr/>
        </p:nvSpPr>
        <p:spPr>
          <a:xfrm>
            <a:off x="548640" y="1874520"/>
            <a:ext cx="3511296" cy="3520440"/>
          </a:xfrm>
          <a:prstGeom prst="roundRect">
            <a:avLst>
              <a:gd name="adj" fmla="val 3646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220">
                <a:alpha val="8000"/>
              </a:srgbClr>
            </a:outerShdw>
          </a:effectLst>
        </p:spPr>
      </p:sp>
      <p:sp>
        <p:nvSpPr>
          <p:cNvPr id="5" name="Principal (Admin) circle"/>
          <p:cNvSpPr/>
          <p:nvPr/>
        </p:nvSpPr>
        <p:spPr>
          <a:xfrm>
            <a:off x="868680" y="2194560"/>
            <a:ext cx="640080" cy="640080"/>
          </a:xfrm>
          <a:prstGeom prst="ellipse">
            <a:avLst/>
          </a:prstGeom>
          <a:solidFill>
            <a:srgbClr val="EEF2FF"/>
          </a:solidFill>
        </p:spPr>
      </p:sp>
      <p:pic>
        <p:nvPicPr>
          <p:cNvPr id="6" name="Principal (Admin) icon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1502" y="2367382"/>
            <a:ext cx="294437" cy="29443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3017520"/>
            <a:ext cx="2871216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Principal (Admin)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566160"/>
            <a:ext cx="2871216" cy="1691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500" dirty="0">
                <a:solidFill>
                  <a:srgbClr val="334155"/>
                </a:solidFill>
              </a:rPr>
              <a:t>Onboard and manage all users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500" dirty="0">
                <a:solidFill>
                  <a:srgbClr val="334155"/>
                </a:solidFill>
              </a:rPr>
              <a:t>See every meeting and project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500" dirty="0">
                <a:solidFill>
                  <a:srgbClr val="334155"/>
                </a:solidFill>
              </a:rPr>
              <a:t>Approve or reject across teams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500" dirty="0">
                <a:solidFill>
                  <a:srgbClr val="334155"/>
                </a:solidFill>
              </a:rPr>
              <a:t>Organisation-wide dashboard</a:t>
            </a:r>
            <a:endParaRPr lang="en-US" sz="1500" dirty="0"/>
          </a:p>
        </p:txBody>
      </p:sp>
      <p:sp>
        <p:nvSpPr>
          <p:cNvPr id="9" name="Project Manager card"/>
          <p:cNvSpPr/>
          <p:nvPr/>
        </p:nvSpPr>
        <p:spPr>
          <a:xfrm>
            <a:off x="4334256" y="1874520"/>
            <a:ext cx="3511296" cy="3520440"/>
          </a:xfrm>
          <a:prstGeom prst="roundRect">
            <a:avLst>
              <a:gd name="adj" fmla="val 3646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220">
                <a:alpha val="8000"/>
              </a:srgbClr>
            </a:outerShdw>
          </a:effectLst>
        </p:spPr>
      </p:sp>
      <p:sp>
        <p:nvSpPr>
          <p:cNvPr id="10" name="Project Manager circle"/>
          <p:cNvSpPr/>
          <p:nvPr/>
        </p:nvSpPr>
        <p:spPr>
          <a:xfrm>
            <a:off x="4654296" y="2194560"/>
            <a:ext cx="640080" cy="640080"/>
          </a:xfrm>
          <a:prstGeom prst="ellipse">
            <a:avLst/>
          </a:prstGeom>
          <a:solidFill>
            <a:srgbClr val="E0F2FE"/>
          </a:solidFill>
        </p:spPr>
      </p:sp>
      <p:pic>
        <p:nvPicPr>
          <p:cNvPr id="11" name="Project Manager icon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7118" y="2367382"/>
            <a:ext cx="294437" cy="29443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54296" y="3017520"/>
            <a:ext cx="2871216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Project Manager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4654296" y="3566160"/>
            <a:ext cx="2871216" cy="1691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500" dirty="0">
                <a:solidFill>
                  <a:srgbClr val="334155"/>
                </a:solidFill>
              </a:rPr>
              <a:t>Schedule and run meetings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500" dirty="0">
                <a:solidFill>
                  <a:srgbClr val="334155"/>
                </a:solidFill>
              </a:rPr>
              <a:t>Assign action items to staff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500" dirty="0">
                <a:solidFill>
                  <a:srgbClr val="334155"/>
                </a:solidFill>
              </a:rPr>
              <a:t>Send reminders to owners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500" dirty="0">
                <a:solidFill>
                  <a:srgbClr val="334155"/>
                </a:solidFill>
              </a:rPr>
              <a:t>Review and verify proof of work</a:t>
            </a:r>
            <a:endParaRPr lang="en-US" sz="1500" dirty="0"/>
          </a:p>
        </p:txBody>
      </p:sp>
      <p:sp>
        <p:nvSpPr>
          <p:cNvPr id="14" name="Staff Member card"/>
          <p:cNvSpPr/>
          <p:nvPr/>
        </p:nvSpPr>
        <p:spPr>
          <a:xfrm>
            <a:off x="8119872" y="1874520"/>
            <a:ext cx="3511296" cy="3520440"/>
          </a:xfrm>
          <a:prstGeom prst="roundRect">
            <a:avLst>
              <a:gd name="adj" fmla="val 3646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220">
                <a:alpha val="8000"/>
              </a:srgbClr>
            </a:outerShdw>
          </a:effectLst>
        </p:spPr>
      </p:sp>
      <p:sp>
        <p:nvSpPr>
          <p:cNvPr id="15" name="Staff Member circle"/>
          <p:cNvSpPr/>
          <p:nvPr/>
        </p:nvSpPr>
        <p:spPr>
          <a:xfrm>
            <a:off x="8439912" y="2194560"/>
            <a:ext cx="640080" cy="640080"/>
          </a:xfrm>
          <a:prstGeom prst="ellipse">
            <a:avLst/>
          </a:prstGeom>
          <a:solidFill>
            <a:srgbClr val="D1FAE5"/>
          </a:solidFill>
        </p:spPr>
      </p:sp>
      <p:pic>
        <p:nvPicPr>
          <p:cNvPr id="16" name="Staff Member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2734" y="2367382"/>
            <a:ext cx="294437" cy="29443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39912" y="3017520"/>
            <a:ext cx="2871216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Staff Member</a:t>
            </a:r>
            <a:endParaRPr lang="en-US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8439912" y="3566160"/>
            <a:ext cx="2871216" cy="1691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500" dirty="0">
                <a:solidFill>
                  <a:srgbClr val="334155"/>
                </a:solidFill>
              </a:rPr>
              <a:t>See their own action items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500" dirty="0">
                <a:solidFill>
                  <a:srgbClr val="334155"/>
                </a:solidFill>
              </a:rPr>
              <a:t>Use Copilot on any task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500" dirty="0">
                <a:solidFill>
                  <a:srgbClr val="334155"/>
                </a:solidFill>
              </a:rPr>
              <a:t>Update status as work moves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500" dirty="0">
                <a:solidFill>
                  <a:srgbClr val="334155"/>
                </a:solidFill>
              </a:rPr>
              <a:t>Submit proof of completion</a:t>
            </a:r>
            <a:endParaRPr lang="en-US" sz="1500" dirty="0"/>
          </a:p>
        </p:txBody>
      </p:sp>
      <p:sp>
        <p:nvSpPr>
          <p:cNvPr id="19" name="Access callout"/>
          <p:cNvSpPr/>
          <p:nvPr/>
        </p:nvSpPr>
        <p:spPr>
          <a:xfrm>
            <a:off x="548640" y="5669280"/>
            <a:ext cx="11091672" cy="548640"/>
          </a:xfrm>
          <a:prstGeom prst="roundRect">
            <a:avLst>
              <a:gd name="adj" fmla="val 23333"/>
            </a:avLst>
          </a:prstGeom>
          <a:solidFill>
            <a:srgbClr val="EEF2FF"/>
          </a:solidFill>
        </p:spPr>
      </p:sp>
      <p:pic>
        <p:nvPicPr>
          <p:cNvPr id="20" name="Access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788152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80160" y="5669280"/>
            <a:ext cx="101498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30A3"/>
                </a:solidFill>
              </a:rPr>
              <a:t>Staff see only their own work, managers see the meetings they run, and principals see everything.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One workspace for every  project</a:t>
            </a:r>
            <a:endParaRPr lang="en-US" sz="3600" dirty="0"/>
          </a:p>
        </p:txBody>
      </p:sp>
      <p:sp>
        <p:nvSpPr>
          <p:cNvPr id="3" name="Text 0"/>
          <p:cNvSpPr/>
          <p:nvPr>
            <p:ph type="body" idx="101" hasCustomPrompt="1"/>
          </p:nvPr>
        </p:nvSpPr>
        <p:spPr>
          <a:xfrm>
            <a:off x="548640" y="1115568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</a:rPr>
              <a:t>Each team keeps its own view; leadership sees all of them together</a:t>
            </a:r>
            <a:endParaRPr lang="en-US" sz="1600" dirty="0"/>
          </a:p>
        </p:txBody>
      </p:sp>
      <p:sp>
        <p:nvSpPr>
          <p:cNvPr id="4" name="Vaccine Financing card"/>
          <p:cNvSpPr/>
          <p:nvPr/>
        </p:nvSpPr>
        <p:spPr>
          <a:xfrm>
            <a:off x="548640" y="1874520"/>
            <a:ext cx="2048256" cy="301752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220">
                <a:alpha val="8000"/>
              </a:srgbClr>
            </a:outerShdw>
          </a:effectLst>
        </p:spPr>
      </p:sp>
      <p:sp>
        <p:nvSpPr>
          <p:cNvPr id="5" name="Vaccine Financing circle"/>
          <p:cNvSpPr/>
          <p:nvPr/>
        </p:nvSpPr>
        <p:spPr>
          <a:xfrm>
            <a:off x="822960" y="2148840"/>
            <a:ext cx="640080" cy="640080"/>
          </a:xfrm>
          <a:prstGeom prst="ellipse">
            <a:avLst/>
          </a:prstGeom>
          <a:solidFill>
            <a:srgbClr val="E0F2FE"/>
          </a:solidFill>
        </p:spPr>
      </p:sp>
      <p:pic>
        <p:nvPicPr>
          <p:cNvPr id="6" name="Vaccine Financing icon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782" y="2321662"/>
            <a:ext cx="294437" cy="29443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971800"/>
            <a:ext cx="1591056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Vaccine Financing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630168"/>
            <a:ext cx="1591056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Donor engagements, budget allocations and health financing meetings.</a:t>
            </a:r>
            <a:endParaRPr lang="en-US" sz="1400" dirty="0"/>
          </a:p>
        </p:txBody>
      </p:sp>
      <p:sp>
        <p:nvSpPr>
          <p:cNvPr id="9" name="Innovation card"/>
          <p:cNvSpPr/>
          <p:nvPr/>
        </p:nvSpPr>
        <p:spPr>
          <a:xfrm>
            <a:off x="2816352" y="1874520"/>
            <a:ext cx="2048256" cy="301752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220">
                <a:alpha val="8000"/>
              </a:srgbClr>
            </a:outerShdw>
          </a:effectLst>
        </p:spPr>
      </p:sp>
      <p:sp>
        <p:nvSpPr>
          <p:cNvPr id="10" name="Innovation circle"/>
          <p:cNvSpPr/>
          <p:nvPr/>
        </p:nvSpPr>
        <p:spPr>
          <a:xfrm>
            <a:off x="3090672" y="2148840"/>
            <a:ext cx="640080" cy="640080"/>
          </a:xfrm>
          <a:prstGeom prst="ellipse">
            <a:avLst/>
          </a:prstGeom>
          <a:solidFill>
            <a:srgbClr val="FEF3C7"/>
          </a:solidFill>
        </p:spPr>
      </p:sp>
      <p:pic>
        <p:nvPicPr>
          <p:cNvPr id="11" name="Innovation icon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3494" y="2321662"/>
            <a:ext cx="294437" cy="29443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090672" y="2971800"/>
            <a:ext cx="1591056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Innovation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3090672" y="3630168"/>
            <a:ext cx="1591056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Ideation sessions, prototype reviews and stakeholder workshops.</a:t>
            </a:r>
            <a:endParaRPr lang="en-US" sz="1400" dirty="0"/>
          </a:p>
        </p:txBody>
      </p:sp>
      <p:sp>
        <p:nvSpPr>
          <p:cNvPr id="14" name="SPARK card"/>
          <p:cNvSpPr/>
          <p:nvPr/>
        </p:nvSpPr>
        <p:spPr>
          <a:xfrm>
            <a:off x="5084064" y="1874520"/>
            <a:ext cx="2048256" cy="301752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220">
                <a:alpha val="8000"/>
              </a:srgbClr>
            </a:outerShdw>
          </a:effectLst>
        </p:spPr>
      </p:sp>
      <p:sp>
        <p:nvSpPr>
          <p:cNvPr id="15" name="SPARK circle"/>
          <p:cNvSpPr/>
          <p:nvPr/>
        </p:nvSpPr>
        <p:spPr>
          <a:xfrm>
            <a:off x="5358384" y="2148840"/>
            <a:ext cx="640080" cy="640080"/>
          </a:xfrm>
          <a:prstGeom prst="ellipse">
            <a:avLst/>
          </a:prstGeom>
          <a:solidFill>
            <a:srgbClr val="EEF2FF"/>
          </a:solidFill>
        </p:spPr>
      </p:sp>
      <p:pic>
        <p:nvPicPr>
          <p:cNvPr id="16" name="SPARK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1206" y="2321662"/>
            <a:ext cx="294437" cy="29443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358384" y="2971800"/>
            <a:ext cx="1591056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SPARK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5358384" y="3630168"/>
            <a:ext cx="1591056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Strategy sessions, partner coordination and field reviews.</a:t>
            </a:r>
            <a:endParaRPr lang="en-US" sz="1400" dirty="0"/>
          </a:p>
        </p:txBody>
      </p:sp>
      <p:sp>
        <p:nvSpPr>
          <p:cNvPr id="19" name="SAGE card"/>
          <p:cNvSpPr/>
          <p:nvPr/>
        </p:nvSpPr>
        <p:spPr>
          <a:xfrm>
            <a:off x="7351776" y="1874520"/>
            <a:ext cx="2048256" cy="301752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220">
                <a:alpha val="8000"/>
              </a:srgbClr>
            </a:outerShdw>
          </a:effectLst>
        </p:spPr>
      </p:sp>
      <p:sp>
        <p:nvSpPr>
          <p:cNvPr id="20" name="SAGE circle"/>
          <p:cNvSpPr/>
          <p:nvPr/>
        </p:nvSpPr>
        <p:spPr>
          <a:xfrm>
            <a:off x="7626096" y="2148840"/>
            <a:ext cx="640080" cy="640080"/>
          </a:xfrm>
          <a:prstGeom prst="ellipse">
            <a:avLst/>
          </a:prstGeom>
          <a:solidFill>
            <a:srgbClr val="D1FAE5"/>
          </a:solidFill>
        </p:spPr>
      </p:sp>
      <p:pic>
        <p:nvPicPr>
          <p:cNvPr id="21" name="SAGE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8918" y="2321662"/>
            <a:ext cx="294437" cy="29443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626096" y="2971800"/>
            <a:ext cx="1591056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SAGE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7626096" y="3630168"/>
            <a:ext cx="1591056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Research outputs, data reviews and publication actions.</a:t>
            </a:r>
            <a:endParaRPr lang="en-US" sz="1400" dirty="0"/>
          </a:p>
        </p:txBody>
      </p:sp>
      <p:sp>
        <p:nvSpPr>
          <p:cNvPr id="24" name="Talent card"/>
          <p:cNvSpPr/>
          <p:nvPr/>
        </p:nvSpPr>
        <p:spPr>
          <a:xfrm>
            <a:off x="9619488" y="1874520"/>
            <a:ext cx="2048256" cy="301752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220">
                <a:alpha val="8000"/>
              </a:srgbClr>
            </a:outerShdw>
          </a:effectLst>
        </p:spPr>
      </p:sp>
      <p:sp>
        <p:nvSpPr>
          <p:cNvPr id="25" name="Talent circle"/>
          <p:cNvSpPr/>
          <p:nvPr/>
        </p:nvSpPr>
        <p:spPr>
          <a:xfrm>
            <a:off x="9893808" y="2148840"/>
            <a:ext cx="640080" cy="640080"/>
          </a:xfrm>
          <a:prstGeom prst="ellipse">
            <a:avLst/>
          </a:prstGeom>
          <a:solidFill>
            <a:srgbClr val="FFE4E6"/>
          </a:solidFill>
        </p:spPr>
      </p:sp>
      <p:pic>
        <p:nvPicPr>
          <p:cNvPr id="26" name="Talent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66630" y="2321662"/>
            <a:ext cx="294437" cy="294437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893808" y="2971800"/>
            <a:ext cx="1591056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Talent</a:t>
            </a:r>
            <a:endParaRPr lang="en-US" sz="1800" dirty="0"/>
          </a:p>
        </p:txBody>
      </p:sp>
      <p:sp>
        <p:nvSpPr>
          <p:cNvPr id="28" name="Text 21"/>
          <p:cNvSpPr txBox="1"/>
          <p:nvPr/>
        </p:nvSpPr>
        <p:spPr>
          <a:xfrm>
            <a:off x="9893808" y="3630168"/>
            <a:ext cx="1591056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Recruitment, training milestones and capacity building.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548640" y="5166360"/>
            <a:ext cx="265176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5</a:t>
            </a:r>
            <a:endParaRPr lang="en-US" sz="4400" dirty="0"/>
          </a:p>
        </p:txBody>
      </p:sp>
      <p:sp>
        <p:nvSpPr>
          <p:cNvPr id="30" name="Text 23"/>
          <p:cNvSpPr txBox="1"/>
          <p:nvPr/>
        </p:nvSpPr>
        <p:spPr>
          <a:xfrm>
            <a:off x="548640" y="5852160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project teams</a:t>
            </a:r>
            <a:endParaRPr lang="en-US" sz="1400" dirty="0"/>
          </a:p>
        </p:txBody>
      </p:sp>
      <p:sp>
        <p:nvSpPr>
          <p:cNvPr id="31" name="Text 24"/>
          <p:cNvSpPr txBox="1"/>
          <p:nvPr/>
        </p:nvSpPr>
        <p:spPr>
          <a:xfrm>
            <a:off x="3383280" y="5166360"/>
            <a:ext cx="265176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1</a:t>
            </a:r>
            <a:endParaRPr lang="en-US" sz="4400" dirty="0"/>
          </a:p>
        </p:txBody>
      </p:sp>
      <p:sp>
        <p:nvSpPr>
          <p:cNvPr id="32" name="Text 25"/>
          <p:cNvSpPr txBox="1"/>
          <p:nvPr/>
        </p:nvSpPr>
        <p:spPr>
          <a:xfrm>
            <a:off x="3383280" y="5852160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shared workspace</a:t>
            </a:r>
            <a:endParaRPr lang="en-US" sz="1400" dirty="0"/>
          </a:p>
        </p:txBody>
      </p:sp>
      <p:sp>
        <p:nvSpPr>
          <p:cNvPr id="33" name="Text 26"/>
          <p:cNvSpPr txBox="1"/>
          <p:nvPr/>
        </p:nvSpPr>
        <p:spPr>
          <a:xfrm>
            <a:off x="6217920" y="5166360"/>
            <a:ext cx="265176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3</a:t>
            </a:r>
            <a:endParaRPr lang="en-US" sz="4400" dirty="0"/>
          </a:p>
        </p:txBody>
      </p:sp>
      <p:sp>
        <p:nvSpPr>
          <p:cNvPr id="34" name="Text 27"/>
          <p:cNvSpPr txBox="1"/>
          <p:nvPr/>
        </p:nvSpPr>
        <p:spPr>
          <a:xfrm>
            <a:off x="6217920" y="5852160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access levels</a:t>
            </a:r>
            <a:endParaRPr lang="en-US" sz="1400" dirty="0"/>
          </a:p>
        </p:txBody>
      </p:sp>
      <p:sp>
        <p:nvSpPr>
          <p:cNvPr id="35" name="Text 28"/>
          <p:cNvSpPr txBox="1"/>
          <p:nvPr/>
        </p:nvSpPr>
        <p:spPr>
          <a:xfrm>
            <a:off x="9052560" y="5166360"/>
            <a:ext cx="265176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100%</a:t>
            </a:r>
            <a:endParaRPr lang="en-US" sz="4400" dirty="0"/>
          </a:p>
        </p:txBody>
      </p:sp>
      <p:sp>
        <p:nvSpPr>
          <p:cNvPr id="36" name="Text 29"/>
          <p:cNvSpPr txBox="1"/>
          <p:nvPr/>
        </p:nvSpPr>
        <p:spPr>
          <a:xfrm>
            <a:off x="9052560" y="5852160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tasks with a named owner</a:t>
            </a:r>
            <a:endParaRPr lang="en-US" sz="14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Built on proven, low-cost technology</a:t>
            </a:r>
            <a:endParaRPr lang="en-US" sz="3600" dirty="0"/>
          </a:p>
        </p:txBody>
      </p:sp>
      <p:sp>
        <p:nvSpPr>
          <p:cNvPr id="3" name="Text 0"/>
          <p:cNvSpPr/>
          <p:nvPr>
            <p:ph type="body" idx="101" hasCustomPrompt="1"/>
          </p:nvPr>
        </p:nvSpPr>
        <p:spPr>
          <a:xfrm>
            <a:off x="548640" y="1115568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</a:rPr>
              <a:t>Modern managed services that start free and scale with use</a:t>
            </a:r>
            <a:endParaRPr lang="en-US" sz="1600" dirty="0"/>
          </a:p>
        </p:txBody>
      </p:sp>
      <p:sp>
        <p:nvSpPr>
          <p:cNvPr id="4" name="Next.js 15 card"/>
          <p:cNvSpPr/>
          <p:nvPr/>
        </p:nvSpPr>
        <p:spPr>
          <a:xfrm>
            <a:off x="548640" y="1874520"/>
            <a:ext cx="3511296" cy="1965960"/>
          </a:xfrm>
          <a:prstGeom prst="roundRect">
            <a:avLst>
              <a:gd name="adj" fmla="val 6512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220">
                <a:alpha val="8000"/>
              </a:srgbClr>
            </a:outerShdw>
          </a:effectLst>
        </p:spPr>
      </p:sp>
      <p:sp>
        <p:nvSpPr>
          <p:cNvPr id="5" name="Next.js 15 circle"/>
          <p:cNvSpPr/>
          <p:nvPr/>
        </p:nvSpPr>
        <p:spPr>
          <a:xfrm>
            <a:off x="822960" y="2148840"/>
            <a:ext cx="640080" cy="640080"/>
          </a:xfrm>
          <a:prstGeom prst="ellipse">
            <a:avLst/>
          </a:prstGeom>
          <a:solidFill>
            <a:srgbClr val="E0F2FE"/>
          </a:solidFill>
        </p:spPr>
      </p:sp>
      <p:pic>
        <p:nvPicPr>
          <p:cNvPr id="6" name="Next.js 15 icon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782" y="2321662"/>
            <a:ext cx="294437" cy="29443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214884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Next.js 15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251460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284C7"/>
                </a:solidFill>
              </a:rPr>
              <a:t>Web app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971800"/>
            <a:ext cx="2962656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Fast React web app that works on phones and laptops.</a:t>
            </a:r>
            <a:endParaRPr lang="en-US" sz="1400" dirty="0"/>
          </a:p>
        </p:txBody>
      </p:sp>
      <p:sp>
        <p:nvSpPr>
          <p:cNvPr id="10" name="Supabase card"/>
          <p:cNvSpPr/>
          <p:nvPr/>
        </p:nvSpPr>
        <p:spPr>
          <a:xfrm>
            <a:off x="4334256" y="1874520"/>
            <a:ext cx="3511296" cy="1965960"/>
          </a:xfrm>
          <a:prstGeom prst="roundRect">
            <a:avLst>
              <a:gd name="adj" fmla="val 6512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220">
                <a:alpha val="8000"/>
              </a:srgbClr>
            </a:outerShdw>
          </a:effectLst>
        </p:spPr>
      </p:sp>
      <p:sp>
        <p:nvSpPr>
          <p:cNvPr id="11" name="Supabase circle"/>
          <p:cNvSpPr/>
          <p:nvPr/>
        </p:nvSpPr>
        <p:spPr>
          <a:xfrm>
            <a:off x="4608576" y="2148840"/>
            <a:ext cx="640080" cy="640080"/>
          </a:xfrm>
          <a:prstGeom prst="ellipse">
            <a:avLst/>
          </a:prstGeom>
          <a:solidFill>
            <a:srgbClr val="D1FAE5"/>
          </a:solidFill>
        </p:spPr>
      </p:sp>
      <p:pic>
        <p:nvPicPr>
          <p:cNvPr id="12" name="Supabase icon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1398" y="2321662"/>
            <a:ext cx="294437" cy="29443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431536" y="214884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Supabase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5431536" y="251460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</a:rPr>
              <a:t>Database &amp; sign-in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4608576" y="2971800"/>
            <a:ext cx="2962656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PostgreSQL with row-level security on every table.</a:t>
            </a:r>
            <a:endParaRPr lang="en-US" sz="1400" dirty="0"/>
          </a:p>
        </p:txBody>
      </p:sp>
      <p:sp>
        <p:nvSpPr>
          <p:cNvPr id="16" name="Google Gemini card"/>
          <p:cNvSpPr/>
          <p:nvPr/>
        </p:nvSpPr>
        <p:spPr>
          <a:xfrm>
            <a:off x="8119872" y="1874520"/>
            <a:ext cx="3511296" cy="1965960"/>
          </a:xfrm>
          <a:prstGeom prst="roundRect">
            <a:avLst>
              <a:gd name="adj" fmla="val 6512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220">
                <a:alpha val="8000"/>
              </a:srgbClr>
            </a:outerShdw>
          </a:effectLst>
        </p:spPr>
      </p:sp>
      <p:sp>
        <p:nvSpPr>
          <p:cNvPr id="17" name="Google Gemini circle"/>
          <p:cNvSpPr/>
          <p:nvPr/>
        </p:nvSpPr>
        <p:spPr>
          <a:xfrm>
            <a:off x="8394192" y="2148840"/>
            <a:ext cx="640080" cy="640080"/>
          </a:xfrm>
          <a:prstGeom prst="ellipse">
            <a:avLst/>
          </a:prstGeom>
          <a:solidFill>
            <a:srgbClr val="EEF2FF"/>
          </a:solidFill>
        </p:spPr>
      </p:sp>
      <p:pic>
        <p:nvPicPr>
          <p:cNvPr id="18" name="Google Gemini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7014" y="2321662"/>
            <a:ext cx="294437" cy="29443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217152" y="214884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Google Gemini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9217152" y="251460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4F46E5"/>
                </a:solidFill>
              </a:rPr>
              <a:t>AI engine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8394192" y="2971800"/>
            <a:ext cx="2962656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Transcription, action extraction and Copilot guidance.</a:t>
            </a:r>
            <a:endParaRPr lang="en-US" sz="1400" dirty="0"/>
          </a:p>
        </p:txBody>
      </p:sp>
      <p:sp>
        <p:nvSpPr>
          <p:cNvPr id="22" name="SMTP email card"/>
          <p:cNvSpPr/>
          <p:nvPr/>
        </p:nvSpPr>
        <p:spPr>
          <a:xfrm>
            <a:off x="548640" y="4114800"/>
            <a:ext cx="3511296" cy="1965960"/>
          </a:xfrm>
          <a:prstGeom prst="roundRect">
            <a:avLst>
              <a:gd name="adj" fmla="val 6512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220">
                <a:alpha val="8000"/>
              </a:srgbClr>
            </a:outerShdw>
          </a:effectLst>
        </p:spPr>
      </p:sp>
      <p:sp>
        <p:nvSpPr>
          <p:cNvPr id="23" name="SMTP email circle"/>
          <p:cNvSpPr/>
          <p:nvPr/>
        </p:nvSpPr>
        <p:spPr>
          <a:xfrm>
            <a:off x="822960" y="4389120"/>
            <a:ext cx="640080" cy="640080"/>
          </a:xfrm>
          <a:prstGeom prst="ellipse">
            <a:avLst/>
          </a:prstGeom>
          <a:solidFill>
            <a:srgbClr val="FEF3C7"/>
          </a:solidFill>
        </p:spPr>
      </p:sp>
      <p:pic>
        <p:nvPicPr>
          <p:cNvPr id="24" name="SMTP email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782" y="4561942"/>
            <a:ext cx="294437" cy="29443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645920" y="438912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SMTP email</a:t>
            </a:r>
            <a:endParaRPr lang="en-US" sz="2000" dirty="0"/>
          </a:p>
        </p:txBody>
      </p:sp>
      <p:sp>
        <p:nvSpPr>
          <p:cNvPr id="26" name="Text 20"/>
          <p:cNvSpPr txBox="1"/>
          <p:nvPr/>
        </p:nvSpPr>
        <p:spPr>
          <a:xfrm>
            <a:off x="1645920" y="475488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</a:rPr>
              <a:t>Notifications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822960" y="5212080"/>
            <a:ext cx="2962656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Invites, assignments and reminders via Nodemailer.</a:t>
            </a:r>
            <a:endParaRPr lang="en-US" sz="1400" dirty="0"/>
          </a:p>
        </p:txBody>
      </p:sp>
      <p:sp>
        <p:nvSpPr>
          <p:cNvPr id="28" name="Vercel card"/>
          <p:cNvSpPr/>
          <p:nvPr/>
        </p:nvSpPr>
        <p:spPr>
          <a:xfrm>
            <a:off x="4334256" y="4114800"/>
            <a:ext cx="3511296" cy="1965960"/>
          </a:xfrm>
          <a:prstGeom prst="roundRect">
            <a:avLst>
              <a:gd name="adj" fmla="val 6512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220">
                <a:alpha val="8000"/>
              </a:srgbClr>
            </a:outerShdw>
          </a:effectLst>
        </p:spPr>
      </p:sp>
      <p:sp>
        <p:nvSpPr>
          <p:cNvPr id="29" name="Vercel circle"/>
          <p:cNvSpPr/>
          <p:nvPr/>
        </p:nvSpPr>
        <p:spPr>
          <a:xfrm>
            <a:off x="4608576" y="4389120"/>
            <a:ext cx="640080" cy="640080"/>
          </a:xfrm>
          <a:prstGeom prst="ellipse">
            <a:avLst/>
          </a:prstGeom>
          <a:solidFill>
            <a:srgbClr val="F1F5F9"/>
          </a:solidFill>
        </p:spPr>
      </p:sp>
      <p:pic>
        <p:nvPicPr>
          <p:cNvPr id="30" name="Vercel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1398" y="4561942"/>
            <a:ext cx="294437" cy="294437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5431536" y="438912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Vercel</a:t>
            </a:r>
            <a:endParaRPr lang="en-US" sz="2000" dirty="0"/>
          </a:p>
        </p:txBody>
      </p:sp>
      <p:sp>
        <p:nvSpPr>
          <p:cNvPr id="32" name="Text 25"/>
          <p:cNvSpPr txBox="1"/>
          <p:nvPr/>
        </p:nvSpPr>
        <p:spPr>
          <a:xfrm>
            <a:off x="5431536" y="475488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</a:rPr>
              <a:t>Hosting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4608576" y="5212080"/>
            <a:ext cx="2962656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Zero-maintenance deployment with automatic HTTPS.</a:t>
            </a:r>
            <a:endParaRPr lang="en-US" sz="1400" dirty="0"/>
          </a:p>
        </p:txBody>
      </p:sp>
      <p:sp>
        <p:nvSpPr>
          <p:cNvPr id="34" name="Security card"/>
          <p:cNvSpPr/>
          <p:nvPr/>
        </p:nvSpPr>
        <p:spPr>
          <a:xfrm>
            <a:off x="8119872" y="4114800"/>
            <a:ext cx="3511296" cy="1965960"/>
          </a:xfrm>
          <a:prstGeom prst="roundRect">
            <a:avLst>
              <a:gd name="adj" fmla="val 6512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220">
                <a:alpha val="8000"/>
              </a:srgbClr>
            </a:outerShdw>
          </a:effectLst>
        </p:spPr>
      </p:sp>
      <p:sp>
        <p:nvSpPr>
          <p:cNvPr id="35" name="Security circle"/>
          <p:cNvSpPr/>
          <p:nvPr/>
        </p:nvSpPr>
        <p:spPr>
          <a:xfrm>
            <a:off x="8394192" y="4389120"/>
            <a:ext cx="640080" cy="640080"/>
          </a:xfrm>
          <a:prstGeom prst="ellipse">
            <a:avLst/>
          </a:prstGeom>
          <a:solidFill>
            <a:srgbClr val="FFE4E6"/>
          </a:solidFill>
        </p:spPr>
      </p:sp>
      <p:pic>
        <p:nvPicPr>
          <p:cNvPr id="36" name="Security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7014" y="4561942"/>
            <a:ext cx="294437" cy="294437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9217152" y="438912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Security</a:t>
            </a:r>
            <a:endParaRPr lang="en-US" sz="2000" dirty="0"/>
          </a:p>
        </p:txBody>
      </p:sp>
      <p:sp>
        <p:nvSpPr>
          <p:cNvPr id="38" name="Text 30"/>
          <p:cNvSpPr txBox="1"/>
          <p:nvPr/>
        </p:nvSpPr>
        <p:spPr>
          <a:xfrm>
            <a:off x="9217152" y="475488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11D48"/>
                </a:solidFill>
              </a:rPr>
              <a:t>Access control</a:t>
            </a:r>
            <a:endParaRPr lang="en-US" sz="1200" dirty="0"/>
          </a:p>
        </p:txBody>
      </p:sp>
      <p:sp>
        <p:nvSpPr>
          <p:cNvPr id="39" name="Text 31"/>
          <p:cNvSpPr txBox="1"/>
          <p:nvPr/>
        </p:nvSpPr>
        <p:spPr>
          <a:xfrm>
            <a:off x="8394192" y="5212080"/>
            <a:ext cx="2962656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Signed sessions, rate limiting and per-role data access.</a:t>
            </a:r>
            <a:endParaRPr lang="en-US" sz="14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What the organization gains</a:t>
            </a:r>
            <a:endParaRPr lang="en-US" sz="3600" dirty="0"/>
          </a:p>
        </p:txBody>
      </p:sp>
      <p:sp>
        <p:nvSpPr>
          <p:cNvPr id="3" name="Text 0"/>
          <p:cNvSpPr/>
          <p:nvPr>
            <p:ph type="body" idx="101" hasCustomPrompt="1"/>
          </p:nvPr>
        </p:nvSpPr>
        <p:spPr>
          <a:xfrm>
            <a:off x="548640" y="1115568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</a:rPr>
              <a:t>Less chasing, clearer ownership and evidence ready for donors</a:t>
            </a:r>
            <a:endParaRPr lang="en-US" sz="1600" dirty="0"/>
          </a:p>
        </p:txBody>
      </p:sp>
      <p:sp>
        <p:nvSpPr>
          <p:cNvPr id="4" name="Headline panel"/>
          <p:cNvSpPr/>
          <p:nvPr/>
        </p:nvSpPr>
        <p:spPr>
          <a:xfrm>
            <a:off x="548640" y="1874520"/>
            <a:ext cx="3749040" cy="4251960"/>
          </a:xfrm>
          <a:prstGeom prst="roundRect">
            <a:avLst>
              <a:gd name="adj" fmla="val 3415"/>
            </a:avLst>
          </a:prstGeom>
          <a:solidFill>
            <a:schemeClr val="tx2"/>
          </a:solidFill>
        </p:spPr>
      </p:sp>
      <p:sp>
        <p:nvSpPr>
          <p:cNvPr id="5" name="Text 3"/>
          <p:cNvSpPr txBox="1"/>
          <p:nvPr/>
        </p:nvSpPr>
        <p:spPr>
          <a:xfrm>
            <a:off x="868680" y="228600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</a:rPr>
              <a:t>Every decision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880360"/>
            <a:ext cx="310896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CBD5E1"/>
                </a:solidFill>
              </a:rPr>
              <a:t>has an owner, a deadline and verified evidence that it was done.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4846320"/>
            <a:ext cx="310896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7DD3FC"/>
                </a:solidFill>
              </a:rPr>
              <a:t>Delivery records double as evidence for donor reporting and grant accountability.</a:t>
            </a:r>
            <a:endParaRPr lang="en-US" sz="1400" dirty="0"/>
          </a:p>
        </p:txBody>
      </p:sp>
      <p:sp>
        <p:nvSpPr>
          <p:cNvPr id="8" name="Time saved circle"/>
          <p:cNvSpPr/>
          <p:nvPr/>
        </p:nvSpPr>
        <p:spPr>
          <a:xfrm>
            <a:off x="4663440" y="1920240"/>
            <a:ext cx="548640" cy="548640"/>
          </a:xfrm>
          <a:prstGeom prst="ellipse">
            <a:avLst/>
          </a:prstGeom>
          <a:solidFill>
            <a:srgbClr val="E0F2FE"/>
          </a:solidFill>
        </p:spPr>
      </p:sp>
      <p:pic>
        <p:nvPicPr>
          <p:cNvPr id="9" name="Time saved icon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11573" y="2068373"/>
            <a:ext cx="252374" cy="25237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394960" y="1874520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Time saved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5394960" y="2240280"/>
            <a:ext cx="260604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No more manual follow-up emails and status check-ins.</a:t>
            </a:r>
            <a:endParaRPr lang="en-US" sz="1400" dirty="0"/>
          </a:p>
        </p:txBody>
      </p:sp>
      <p:sp>
        <p:nvSpPr>
          <p:cNvPr id="12" name="Clarity circle"/>
          <p:cNvSpPr/>
          <p:nvPr/>
        </p:nvSpPr>
        <p:spPr>
          <a:xfrm>
            <a:off x="8229600" y="1920240"/>
            <a:ext cx="548640" cy="548640"/>
          </a:xfrm>
          <a:prstGeom prst="ellipse">
            <a:avLst/>
          </a:prstGeom>
          <a:solidFill>
            <a:srgbClr val="EEF2FF"/>
          </a:solidFill>
        </p:spPr>
      </p:sp>
      <p:pic>
        <p:nvPicPr>
          <p:cNvPr id="13" name="Clarity icon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733" y="2068373"/>
            <a:ext cx="252374" cy="25237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8961120" y="1874520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Clarity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8961120" y="2240280"/>
            <a:ext cx="260604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Each person knows what is expected, by when and how urgent.</a:t>
            </a:r>
            <a:endParaRPr lang="en-US" sz="1400" dirty="0"/>
          </a:p>
        </p:txBody>
      </p:sp>
      <p:sp>
        <p:nvSpPr>
          <p:cNvPr id="16" name="Transparency circle"/>
          <p:cNvSpPr/>
          <p:nvPr/>
        </p:nvSpPr>
        <p:spPr>
          <a:xfrm>
            <a:off x="4663440" y="3383280"/>
            <a:ext cx="548640" cy="548640"/>
          </a:xfrm>
          <a:prstGeom prst="ellipse">
            <a:avLst/>
          </a:prstGeom>
          <a:solidFill>
            <a:srgbClr val="D1FAE5"/>
          </a:solidFill>
        </p:spPr>
      </p:sp>
      <p:pic>
        <p:nvPicPr>
          <p:cNvPr id="17" name="Transparency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1573" y="3531413"/>
            <a:ext cx="252374" cy="25237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394960" y="3337560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Transparency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5394960" y="3703320"/>
            <a:ext cx="260604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Leaders see every project without attending every meeting.</a:t>
            </a:r>
            <a:endParaRPr lang="en-US" sz="1400" dirty="0"/>
          </a:p>
        </p:txBody>
      </p:sp>
      <p:sp>
        <p:nvSpPr>
          <p:cNvPr id="20" name="Faster delivery circle"/>
          <p:cNvSpPr/>
          <p:nvPr/>
        </p:nvSpPr>
        <p:spPr>
          <a:xfrm>
            <a:off x="8229600" y="3383280"/>
            <a:ext cx="548640" cy="548640"/>
          </a:xfrm>
          <a:prstGeom prst="ellipse">
            <a:avLst/>
          </a:prstGeom>
          <a:solidFill>
            <a:srgbClr val="FEF3C7"/>
          </a:solidFill>
        </p:spPr>
      </p:sp>
      <p:pic>
        <p:nvPicPr>
          <p:cNvPr id="21" name="Faster delivery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7733" y="3531413"/>
            <a:ext cx="252374" cy="25237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961120" y="3337560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Faster delivery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8961120" y="3703320"/>
            <a:ext cx="260604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Copilot guidance gets work started sooner.</a:t>
            </a:r>
            <a:endParaRPr lang="en-US" sz="1400" dirty="0"/>
          </a:p>
        </p:txBody>
      </p:sp>
      <p:sp>
        <p:nvSpPr>
          <p:cNvPr id="24" name="Donor reporting circle"/>
          <p:cNvSpPr/>
          <p:nvPr/>
        </p:nvSpPr>
        <p:spPr>
          <a:xfrm>
            <a:off x="4663440" y="4846320"/>
            <a:ext cx="548640" cy="548640"/>
          </a:xfrm>
          <a:prstGeom prst="ellipse">
            <a:avLst/>
          </a:prstGeom>
          <a:solidFill>
            <a:srgbClr val="E0F2FE"/>
          </a:solidFill>
        </p:spPr>
      </p:sp>
      <p:pic>
        <p:nvPicPr>
          <p:cNvPr id="25" name="Donor reporting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1573" y="4994453"/>
            <a:ext cx="252374" cy="25237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394960" y="4800600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Donor reporting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5394960" y="5166360"/>
            <a:ext cx="260604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Verified records are ready to share with funders.</a:t>
            </a:r>
            <a:endParaRPr lang="en-US" sz="1400" dirty="0"/>
          </a:p>
        </p:txBody>
      </p:sp>
      <p:sp>
        <p:nvSpPr>
          <p:cNvPr id="28" name="Accountability circle"/>
          <p:cNvSpPr/>
          <p:nvPr/>
        </p:nvSpPr>
        <p:spPr>
          <a:xfrm>
            <a:off x="8229600" y="4846320"/>
            <a:ext cx="548640" cy="548640"/>
          </a:xfrm>
          <a:prstGeom prst="ellipse">
            <a:avLst/>
          </a:prstGeom>
          <a:solidFill>
            <a:srgbClr val="FFE4E6"/>
          </a:solidFill>
        </p:spPr>
      </p:sp>
      <p:pic>
        <p:nvPicPr>
          <p:cNvPr id="29" name="Accountability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7733" y="4994453"/>
            <a:ext cx="252374" cy="252374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8961120" y="4800600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Accountability</a:t>
            </a:r>
            <a:endParaRPr lang="en-US" sz="1800" dirty="0"/>
          </a:p>
        </p:txBody>
      </p:sp>
      <p:sp>
        <p:nvSpPr>
          <p:cNvPr id="31" name="Text 23"/>
          <p:cNvSpPr txBox="1"/>
          <p:nvPr/>
        </p:nvSpPr>
        <p:spPr>
          <a:xfrm>
            <a:off x="8961120" y="5166360"/>
            <a:ext cx="260604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An audit trail supports reviews and resolves disputes.</a:t>
            </a:r>
            <a:endParaRPr lang="en-US" sz="14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body" idx="100" hasCustomPrompt="1"/>
          </p:nvPr>
        </p:nvSpPr>
        <p:spPr>
          <a:xfrm>
            <a:off x="548640" y="685800"/>
            <a:ext cx="6949440" cy="32004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DD3FC"/>
                </a:solidFill>
              </a:rPr>
              <a:t>THANK YOU</a:t>
            </a:r>
            <a:endParaRPr lang="en-US" sz="1200" dirty="0"/>
          </a:p>
        </p:txBody>
      </p:sp>
      <p:sp>
        <p:nvSpPr>
          <p:cNvPr id="3" name="Text 0"/>
          <p:cNvSpPr/>
          <p:nvPr>
            <p:ph type="title" idx="101" hasCustomPrompt="1"/>
          </p:nvPr>
        </p:nvSpPr>
        <p:spPr>
          <a:xfrm>
            <a:off x="548640" y="1051560"/>
            <a:ext cx="694944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From meeting to done, across every project</a:t>
            </a:r>
            <a:endParaRPr lang="en-US" sz="3600" dirty="0"/>
          </a:p>
        </p:txBody>
      </p:sp>
      <p:sp>
        <p:nvSpPr>
          <p:cNvPr id="4" name="Questions card"/>
          <p:cNvSpPr/>
          <p:nvPr/>
        </p:nvSpPr>
        <p:spPr>
          <a:xfrm>
            <a:off x="548640" y="2926080"/>
            <a:ext cx="3511296" cy="2377440"/>
          </a:xfrm>
          <a:prstGeom prst="roundRect">
            <a:avLst>
              <a:gd name="adj" fmla="val 5385"/>
            </a:avLst>
          </a:prstGeom>
          <a:solidFill>
            <a:srgbClr val="1E2552"/>
          </a:solidFill>
          <a:ln w="9525">
            <a:solidFill>
              <a:srgbClr val="2E3770"/>
            </a:solidFill>
            <a:prstDash val="solid"/>
          </a:ln>
        </p:spPr>
      </p:sp>
      <p:sp>
        <p:nvSpPr>
          <p:cNvPr id="5" name="Questions circle"/>
          <p:cNvSpPr/>
          <p:nvPr/>
        </p:nvSpPr>
        <p:spPr>
          <a:xfrm>
            <a:off x="868680" y="3246120"/>
            <a:ext cx="640080" cy="640080"/>
          </a:xfrm>
          <a:prstGeom prst="ellipse">
            <a:avLst/>
          </a:prstGeom>
          <a:solidFill>
            <a:schemeClr val="accent2"/>
          </a:solidFill>
        </p:spPr>
      </p:sp>
      <p:pic>
        <p:nvPicPr>
          <p:cNvPr id="6" name="Questions icon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34015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4069080"/>
            <a:ext cx="2871216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Questions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4480560"/>
            <a:ext cx="2871216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</a:rPr>
              <a:t>Open discussion and a live walkthrough of SyncLog.</a:t>
            </a:r>
            <a:endParaRPr lang="en-US" sz="1500" dirty="0"/>
          </a:p>
        </p:txBody>
      </p:sp>
      <p:sp>
        <p:nvSpPr>
          <p:cNvPr id="9" name="Next steps card"/>
          <p:cNvSpPr/>
          <p:nvPr/>
        </p:nvSpPr>
        <p:spPr>
          <a:xfrm>
            <a:off x="4334256" y="2926080"/>
            <a:ext cx="3511296" cy="2377440"/>
          </a:xfrm>
          <a:prstGeom prst="roundRect">
            <a:avLst>
              <a:gd name="adj" fmla="val 5385"/>
            </a:avLst>
          </a:prstGeom>
          <a:solidFill>
            <a:srgbClr val="1E2552"/>
          </a:solidFill>
          <a:ln w="9525">
            <a:solidFill>
              <a:srgbClr val="2E3770"/>
            </a:solidFill>
            <a:prstDash val="solid"/>
          </a:ln>
        </p:spPr>
      </p:sp>
      <p:sp>
        <p:nvSpPr>
          <p:cNvPr id="10" name="Next steps circle"/>
          <p:cNvSpPr/>
          <p:nvPr/>
        </p:nvSpPr>
        <p:spPr>
          <a:xfrm>
            <a:off x="4654296" y="3246120"/>
            <a:ext cx="640080" cy="640080"/>
          </a:xfrm>
          <a:prstGeom prst="ellipse">
            <a:avLst/>
          </a:prstGeom>
          <a:solidFill>
            <a:schemeClr val="accent2"/>
          </a:solidFill>
        </p:spPr>
      </p:sp>
      <p:pic>
        <p:nvPicPr>
          <p:cNvPr id="11" name="Next steps icon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744" y="340156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54296" y="4069080"/>
            <a:ext cx="2871216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Next steps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654296" y="4480560"/>
            <a:ext cx="2871216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</a:rPr>
              <a:t>Pilot with one project team, onboard all five, then go live.</a:t>
            </a:r>
            <a:endParaRPr lang="en-US" sz="1500" dirty="0"/>
          </a:p>
        </p:txBody>
      </p:sp>
      <p:sp>
        <p:nvSpPr>
          <p:cNvPr id="14" name="Get in touch card"/>
          <p:cNvSpPr/>
          <p:nvPr/>
        </p:nvSpPr>
        <p:spPr>
          <a:xfrm>
            <a:off x="8119872" y="2926080"/>
            <a:ext cx="3511296" cy="2377440"/>
          </a:xfrm>
          <a:prstGeom prst="roundRect">
            <a:avLst>
              <a:gd name="adj" fmla="val 5385"/>
            </a:avLst>
          </a:prstGeom>
          <a:solidFill>
            <a:srgbClr val="1E2552"/>
          </a:solidFill>
          <a:ln w="9525">
            <a:solidFill>
              <a:srgbClr val="2E3770"/>
            </a:solidFill>
            <a:prstDash val="solid"/>
          </a:ln>
        </p:spPr>
      </p:sp>
      <p:sp>
        <p:nvSpPr>
          <p:cNvPr id="15" name="Get in touch circle"/>
          <p:cNvSpPr/>
          <p:nvPr/>
        </p:nvSpPr>
        <p:spPr>
          <a:xfrm>
            <a:off x="8439912" y="3246120"/>
            <a:ext cx="640080" cy="640080"/>
          </a:xfrm>
          <a:prstGeom prst="ellipse">
            <a:avLst/>
          </a:prstGeom>
          <a:solidFill>
            <a:schemeClr val="accent2"/>
          </a:solidFill>
        </p:spPr>
      </p:sp>
      <p:pic>
        <p:nvPicPr>
          <p:cNvPr id="16" name="Get in touch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340156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39912" y="4069080"/>
            <a:ext cx="2871216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Get in touch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8439912" y="4480560"/>
            <a:ext cx="2871216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</a:rPr>
              <a:t>oluwatayo damilola, SCIDaR Innovation Team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yncLog">
  <a:themeElements>
    <a:clrScheme name="SyncLog">
      <a:dk1>
        <a:srgbClr val="0B1220"/>
      </a:dk1>
      <a:lt1>
        <a:srgbClr val="FFFFFF"/>
      </a:lt1>
      <a:dk2>
        <a:srgbClr val="111637"/>
      </a:dk2>
      <a:lt2>
        <a:srgbClr val="F6F8FB"/>
      </a:lt2>
      <a:accent1>
        <a:srgbClr val="0284C7"/>
      </a:accent1>
      <a:accent2>
        <a:srgbClr val="4F46E5"/>
      </a:accent2>
      <a:accent3>
        <a:srgbClr val="059669"/>
      </a:accent3>
      <a:accent4>
        <a:srgbClr val="E11D48"/>
      </a:accent4>
      <a:accent5>
        <a:srgbClr val="D97706"/>
      </a:accent5>
      <a:accent6>
        <a:srgbClr val="64748B"/>
      </a:accent6>
      <a:hlink>
        <a:srgbClr val="0284C7"/>
      </a:hlink>
      <a:folHlink>
        <a:srgbClr val="4F46E5"/>
      </a:folHlink>
    </a:clrScheme>
    <a:fontScheme name="SyncLog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yncLog">
  <a:themeElements>
    <a:clrScheme name="SyncLog">
      <a:dk1>
        <a:srgbClr val="0B1220"/>
      </a:dk1>
      <a:lt1>
        <a:srgbClr val="FFFFFF"/>
      </a:lt1>
      <a:dk2>
        <a:srgbClr val="111637"/>
      </a:dk2>
      <a:lt2>
        <a:srgbClr val="F6F8FB"/>
      </a:lt2>
      <a:accent1>
        <a:srgbClr val="0284C7"/>
      </a:accent1>
      <a:accent2>
        <a:srgbClr val="4F46E5"/>
      </a:accent2>
      <a:accent3>
        <a:srgbClr val="059669"/>
      </a:accent3>
      <a:accent4>
        <a:srgbClr val="E11D48"/>
      </a:accent4>
      <a:accent5>
        <a:srgbClr val="D97706"/>
      </a:accent5>
      <a:accent6>
        <a:srgbClr val="64748B"/>
      </a:accent6>
      <a:hlink>
        <a:srgbClr val="0284C7"/>
      </a:hlink>
      <a:folHlink>
        <a:srgbClr val="4F46E5"/>
      </a:folHlink>
    </a:clrScheme>
    <a:fontScheme name="SyncLog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5627</Words>
  <Application>WPS Presentation</Application>
  <PresentationFormat>On-screen Show (16:9)</PresentationFormat>
  <Paragraphs>355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0" baseType="lpstr">
      <vt:lpstr>Arial</vt:lpstr>
      <vt:lpstr>SimSun</vt:lpstr>
      <vt:lpstr>Wingdings</vt:lpstr>
      <vt:lpstr>Calibri</vt:lpstr>
      <vt:lpstr>Microsoft YaHei</vt:lpstr>
      <vt:lpstr>Arial Unicode MS</vt:lpstr>
      <vt:lpstr>SyncLog</vt:lpstr>
      <vt:lpstr>SyncLog</vt:lpstr>
      <vt:lpstr>Meetings end, and the follow-through gets lost</vt:lpstr>
      <vt:lpstr>Meet SyncLog</vt:lpstr>
      <vt:lpstr>How it works</vt:lpstr>
      <vt:lpstr>Every decision is captured as it is spoken</vt:lpstr>
      <vt:lpstr>Everyone knows what they own, and by when</vt:lpstr>
      <vt:lpstr>Nothing is done until it is verified</vt:lpstr>
      <vt:lpstr>The right email reaches the right person, automatically</vt:lpstr>
      <vt:lpstr>Everyone sees exactly what they need</vt:lpstr>
      <vt:lpstr>One workspace for every SCIDaR project</vt:lpstr>
      <vt:lpstr>Built on proven, low-cost technology</vt:lpstr>
      <vt:lpstr>What SCIDaR gains</vt:lpstr>
      <vt:lpstr>From meeting to done, across every project</vt:lpstr>
    </vt:vector>
  </TitlesOfParts>
  <Company>SCIDaR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SyncLog — From meeting to done</dc:title>
  <dc:creator>oluwatayo damilola</dc:creator>
  <dc:subject>PptxGenJS Presentation</dc:subject>
  <cp:lastModifiedBy>oluwa</cp:lastModifiedBy>
  <cp:revision>2</cp:revision>
  <dcterms:created xsi:type="dcterms:W3CDTF">2026-10-13T10:00:00Z</dcterms:created>
  <dcterms:modified xsi:type="dcterms:W3CDTF">2026-10-13T10:11:13Z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4C826D71EF744187B36E92B79ED5F4BC_12</vt:lpwstr>
  </property>
  <property fmtid="{D5CDD505-2E9C-101B-9397-08002B2CF9AE}" pid="3" name="KSOProductBuildVer">
    <vt:lpwstr>1033-12.1.0.28485</vt:lpwstr>
  </property>
</Properties>
</file>